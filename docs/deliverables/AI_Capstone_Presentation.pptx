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Tests</c:v>
                </c:pt>
              </c:strCache>
            </c:strRef>
          </c:tx>
          <c:spPr>
            <a:solidFill>
              <a:srgbClr val="1B6B52"/>
            </a:solidFill>
            <a:effectLst/>
          </c:spPr>
          <c:invertIfNegative val="0"/>
          <c:dLbls>
            <c:numFmt formatCode="#,##0" sourceLinked="0"/>
            <c:txPr>
              <a:bodyPr/>
              <a:lstStyle/>
              <a:p>
                <a:pPr>
                  <a:defRPr b="0" i="0" strike="noStrike" sz="1100" u="none">
                    <a:solidFill>
                      <a:srgbClr val="36404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Parser golden files</c:v>
                  </c:pt>
                  <c:pt idx="1">
                    <c:v>Domain services</c:v>
                  </c:pt>
                  <c:pt idx="2">
                    <c:v>Dataset integrity</c:v>
                  </c:pt>
                  <c:pt idx="3">
                    <c:v>Deploy &amp; migrations</c:v>
                  </c:pt>
                  <c:pt idx="4">
                    <c:v>Hardening</c:v>
                  </c:pt>
                  <c:pt idx="5">
                    <c:v>Auth</c:v>
                  </c:pt>
                </c:lvl>
              </c:multiLvlStrCache>
            </c:multiLvlStrRef>
          </c:cat>
          <c:val>
            <c:numRef>
              <c:f>Sheet1!$B$2:$B$7</c:f>
              <c:numCache>
                <c:formatCode>General</c:formatCode>
                <c:ptCount val="6"/>
                <c:pt idx="0">
                  <c:v>123</c:v>
                </c:pt>
                <c:pt idx="1">
                  <c:v>32</c:v>
                </c:pt>
                <c:pt idx="2">
                  <c:v>23</c:v>
                </c:pt>
                <c:pt idx="3">
                  <c:v>13</c:v>
                </c:pt>
                <c:pt idx="4">
                  <c:v>8</c:v>
                </c:pt>
                <c:pt idx="5">
                  <c:v>6</c:v>
                </c:pt>
              </c:numCache>
            </c:numRef>
          </c:val>
        </c:ser>
        <c:dLbls>
          <c:numFmt formatCode="#,##0" sourceLinked="0"/>
          <c:txPr>
            <a:bodyPr/>
            <a:lstStyle/>
            <a:p>
              <a:pPr>
                <a:defRPr b="0" i="0" strike="noStrike" sz="1100" u="none">
                  <a:solidFill>
                    <a:srgbClr val="36404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6404F"/>
                </a:solidFill>
                <a:latin typeface="Calibri"/>
              </a:defRPr>
            </a:pPr>
            <a:endParaRPr lang="en-US"/>
          </a:p>
        </c:txPr>
        <c:crossAx val="2094734552"/>
        <c:crosses val="autoZero"/>
        <c:auto val="1"/>
        <c:lblAlgn val="ctr"/>
        <c:noMultiLvlLbl val="1"/>
      </c:catAx>
      <c:valAx>
        <c:axId val="2094734552"/>
        <c:scaling>
          <c:orientation val="minMax"/>
          <c:max val="1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37F9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6404F"/>
                </a:solidFill>
                <a:latin typeface="Calibri"/>
              </a:defRPr>
            </a:pPr>
            <a:r>
              <a:rPr sz="1200" b="0" i="0" u="none" strike="noStrike">
                <a:solidFill>
                  <a:srgbClr val="36404F"/>
                </a:solidFill>
                <a:latin typeface="Calibri"/>
              </a:rPr>
              <a:t>Cold start, seconds</a:t>
            </a:r>
          </a:p>
        </c:rich>
      </c:tx>
      <c:layout/>
      <c:overlay val="0"/>
    </c:title>
    <c:autoTitleDeleted val="0"/>
    <c:plotArea>
      <c:layout/>
      <c:barChart>
        <c:barDir val="col"/>
        <c:grouping val="clustered"/>
        <c:varyColors val="0"/>
        <c:ser>
          <c:idx val="0"/>
          <c:order val="0"/>
          <c:tx>
            <c:strRef>
              <c:f>Sheet1!$B$1</c:f>
              <c:strCache>
                <c:ptCount val="1"/>
                <c:pt idx="0">
                  <c:v>Cold start</c:v>
                </c:pt>
              </c:strCache>
            </c:strRef>
          </c:tx>
          <c:spPr>
            <a:solidFill>
              <a:srgbClr val="737F91"/>
            </a:solidFill>
            <a:effectLst/>
          </c:spPr>
          <c:invertIfNegative val="0"/>
          <c:dLbls>
            <c:numFmt formatCode="0.00" sourceLinked="0"/>
            <c:txPr>
              <a:bodyPr/>
              <a:lstStyle/>
              <a:p>
                <a:pPr>
                  <a:defRPr b="0" i="0" strike="noStrike" sz="1300" u="none">
                    <a:solidFill>
                      <a:srgbClr val="141A24"/>
                    </a:solidFill>
                    <a:latin typeface="Calibri"/>
                  </a:defRPr>
                </a:pPr>
              </a:p>
            </c:txPr>
            <c:showLegendKey val="0"/>
            <c:showVal val="1"/>
            <c:showCatName val="0"/>
            <c:showSerName val="0"/>
            <c:showPercent val="0"/>
            <c:showBubbleSize val="0"/>
            <c:showLeaderLines val="0"/>
          </c:dLbls>
          <c:dPt>
            <c:idx val="0"/>
            <c:invertIfNegative val="0"/>
            <c:bubble3D val="0"/>
            <c:spPr>
              <a:solidFill>
                <a:srgbClr val="737F91"/>
              </a:solidFill>
              <a:effectLst/>
            </c:spPr>
          </c:dPt>
          <c:dPt>
            <c:idx val="1"/>
            <c:invertIfNegative val="0"/>
            <c:bubble3D val="0"/>
            <c:spPr>
              <a:solidFill>
                <a:srgbClr val="1B6B52"/>
              </a:solidFill>
              <a:effectLst/>
            </c:spPr>
          </c:dPt>
          <c:cat>
            <c:multiLvlStrRef>
              <c:f>Sheet1!$A$2:$A$3</c:f>
              <c:multiLvlStrCache>
                <c:ptCount val="2"/>
                <c:lvl>
                  <c:pt idx="0">
                    <c:v>Migrate and seed
on every start</c:v>
                  </c:pt>
                  <c:pt idx="1">
                    <c:v>Database baked
into the image</c:v>
                  </c:pt>
                </c:lvl>
              </c:multiLvlStrCache>
            </c:multiLvlStrRef>
          </c:cat>
          <c:val>
            <c:numRef>
              <c:f>Sheet1!$B$2:$B$3</c:f>
              <c:numCache>
                <c:formatCode>General</c:formatCode>
                <c:ptCount val="2"/>
                <c:pt idx="0">
                  <c:v>4.44</c:v>
                </c:pt>
                <c:pt idx="1">
                  <c:v>0.76</c:v>
                </c:pt>
              </c:numCache>
            </c:numRef>
          </c:val>
        </c:ser>
        <c:dLbls>
          <c:numFmt formatCode="0.00" sourceLinked="0"/>
          <c:txPr>
            <a:bodyPr/>
            <a:lstStyle/>
            <a:p>
              <a:pPr>
                <a:defRPr b="0" i="0" strike="noStrike" sz="1300" u="none">
                  <a:solidFill>
                    <a:srgbClr val="141A24"/>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6404F"/>
                </a:solidFill>
                <a:latin typeface="Calibri"/>
              </a:defRPr>
            </a:pPr>
            <a:endParaRPr lang="en-US"/>
          </a:p>
        </c:txPr>
        <c:crossAx val="2094734552"/>
        <c:crosses val="autoZero"/>
        <c:auto val="1"/>
        <c:lblAlgn val="ctr"/>
        <c:noMultiLvlLbl val="1"/>
      </c:catAx>
      <c:valAx>
        <c:axId val="2094734552"/>
        <c:scaling>
          <c:orientation val="minMax"/>
          <c:max val="5.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capstone covers two complete applications, each taken through all six phases of the AI/Tech project lifecycle.
GridPilot AI is a knowledge assistant for electric utility engineers. Meridian Financial is a personal finance ledger that reconciles statements against live account feeds.
Both are deployed and publicly reachable right now, and both URLs are on this slide. Everything I show today can be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applications solve a problem where the information already exists but is too scattered or too tedious to check by hand.
GridPilot is a front-end prototype with simulated retrieval, and it says so plainly. Meridian is a full-stack application with a real backend, database and parsers.
The 'zero invented answers' figure is a design property, not a marketing claim: when no source scores high enough, GridPilot returns a decline card instead of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deck. Six phases across the top, one row per application.
The second run was faster not because the work was smaller, but because decisions that were made late the first time were made first the second time. The clearest example is deployment: GridPilot was built and then deployed; Meridian was designed around its deployment target from the first migration.
Each column becomes a slide or two in the sections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utility engineering knowledge is missing. It is published, often mandated, and sitting in PDFs.
The problem is retrieval under time pressure, and the cost of a wrong answer is regulatory as well as physical. That shaped four requirements that most chat assistants do not meet: cite the passage, decline when unsure, scope by role, and work on a tablet in the field.
Those four requirements drove every design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here was made for a prototype that had to be reviewable by someone who is not going to install anything.
The important line is the last panel. Simulating retrieval was a legitimate scope decision for Workshop 1, but calling it AI-powered without qualification would not have been. The README opens with the limitation and lists what a real deployment would add, by name.
That habit — write the limitation where the reader will hit it first — carried into the second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all in the browser. The one worth pausing on is the fourth.
Banding decides whether the app answers at all. If the top-scoring passage is not far enough ahead of the rest, the app returns a decline card rather than a low-confidence guess. That is the difference between a demo that always says something and a tool an engineer could trust.
The admin dashboard records every declined and low-confidence query, so the gaps in the document set become a work list for a content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answered one question: is a cited-answer interface actually better than searching a PDF? Once that was clear, the single file became the constraint.
Splitting the project into 27 files was what made the rest of the work possible. Retrieval moved into its own module, so confidence banding could be reasoned about without touching the UI. Design tokens moved into theme.js, so light and dark are one palette definition rather than scattered overrides.
This is the screenshot of the migrated app running locally at the end of Workshop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screens, one product. The library gives browsing rather than only search, because engineers often want the whole procedure, not the paragraph that matched.
Field mode is the design decision I am most pleased with. It is not a responsive breakpoint; it is a different layout chosen by role, because a crew on a tablet has different needs from an analyst at a desk.
The admin dashboard closes the loop: every query the assistant could not answer is recorded, so the document set improves based 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done by driving the real app in a real browser, not by reasoning about the code. Playwright at three viewports, with screenshots at each step for manual review.
The single failure was a test-script error rather than an application bug: it asserted an old section title that had been deliberately renamed. Worth reporting honestly, because a green suite that never fails is usually a suite that never checks anything.
On the right is the responsible-AI position. Every item is a behaviour you can observe in the running app, not a paragraph in a policy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appearance of the lesson that ends up defining the whole capstone: the code was correct in the environment I was looking at, and broken in one I was not.
The fix was two breakpoints and a drawer, but the interesting part is how it was found. Responsive behaviour was a written checklist item, so it got opened at 390 pixels deliberately rather than by accident.
The reduced-motion gap came out of the same pass. The animations were disabled under prefers-reduced-motion, except the one added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for a static React app is a solved problem, and the point of this slide is that connecting GitHub to hosting turns deployment from an event into a property of the repository.
The preview-URL behaviour is worth calling out: every pull request gets its own temporary URL, so a change can be reviewed running rather than as a diff.
The cache headers matter more than they look. Hashed assets are immutable for a year, index.html is never cached — and the second application later broke in exactly the way that rule prevents.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challenges, and the honest ranking is that the first was the largest at the time and the third mattered most in the end.
Choosing hosting that matched the artifact removed work. I had assumed deployment meant a server, and a static bundle does not need one.
The caching rule is the one to remember. GridPilot got it right by configuration. Meridian got it wrong months later and rendered a blank white page, and the fix was the same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of feedback from the Workshop 4 showcase, and what each one changed.
The first is the one I did not expect. I had been running the app with a dev server for weeks and had stopped seeing that command lines are a barrier. The launchers exist because of that comment.
The second and third are the same underlying question — can I trust this — asked two ways. The answer in both cases was to make the app's honesty visible rather than documented: show the source, show the confidence, and show the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application was chosen to be harder in a specific way: it needed a real backend, real parsing, and a correctness problem where being almost right is worse than being obviously wrong.
The privacy boundary is the defining constraint. The AI layer talks only to a local model, and that is enforced by a start-up check rather than a promise in the README.
The thirteen planted events are how the project avoided grading itself on vibes. The dataset has known answers, so the reconciliation engine can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with one rule between them: routers do no business logic, services do no SQL, repositories do no HTTP.
Two of these are enforced rather than encouraged. A structural test reads the repository signatures and fails if any method can be called without a user id, which is how profile isolation stays true as the code grows. And money is integer cents everywhere.
The panel on the right is the phrase the whole AI design comes down to. The model is allowed to have opinions about categories and phrasing. It is never allowed to be the reason a number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PDF layouts, deliberately different, because a parser that only handles one bank has not been tested.
The last two are the interesting ones. Ally prints withdrawals and deposits as separate unsigned columns, so nothing on the row says which direction the money went — the parser derives it from the running balance. Capital One prints no year on the row at all.
The numbers on the right are the deduplication result, and they are the single best evidence in the project. 153 documents imported into profiles that had already synced, and exactly one row was genuinely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eight screens. The dashboard leads with spending power rather than a balance, because a balance that includes money already committed to a credit card bill is misleading.
Reconciliation is the screen the whole application exists for. Every period, its status, and where the arithmetic does not close.
Budgets are set per category per month and measured against categorised spending, with a simulator for testing a change before committing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backend tests, and the shape of the chart is the point. Well over half are golden-file parser tests, because parsing other people's PDF layouts is where silent corruption enters a ledger.
The four tests on the top right did not exist when the code was written. Each one exists because something broke in a way the suite could not see — a Windows MIME map, a cached HTML file, a path that lost its leading slash, and unlimited password guesses against demo accounts published in the README.
That is what a regression test is for: not proving the fix works today, but making the environment that broke it part of the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deploys this: gcloud run deploy from the repository root. Cloud Build reads the Dockerfile, Artifact Registry stores the image, Cloud Run serves it and scales to zero between visits, which is why it costs nothing.
The chart is a real measurement. Migrating and seeding thousands of transactions ran on every cold start until the database was baked into the image at build time.
The two limits on the right are deliberate. The AI one especially: the app refuses to send financial data to a model it does not host, and a cloud container has no local model, so those features report themselves unavailable rather than quietly using someone's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feedback I received across both applications, and it came from someone downloading the app rather than watching me demo it.
The features worked. The demo data did not exercise them. Seeding now runs the entire pipeline — import, categorise, reconcile, budget — and the finished result is baked into both the container image and the download, so it costs nothing at start-up.
The last panel is the judgment call. I deliberately left 309 transactions uncategorised, because those are the ones the review queue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that changed how much the assistance was worth.
Writing the brief first was the single biggest improvement between the two applications. The first was built by conversation; the second started from a plan we argued about before any code existed.
The middle one is the design principle for anything that has to be correct. When a smaller model was overconfident about cryptic merchant descriptors, the fix was a deterministic confidence cap in code. Writing a sterner prompt made the model worse, not better.
The decision log mattered more than expected, because it let a fresh session pick up months of context without re-deriving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changes, and one lesson underneath them.
The three worst bugs in the second application all lived where the tests do not run. A blank white page on Windows because that machine maps .js to text/plain. A blank page after a rebuild because a cached HTML file pointed at bundles that no longer existed. A database path that silently lost its leading slash inside a container.
None is a logic error. No amount of unit testing would have found them, because they live in the gap between environments. What I would do differently is treat download, install and deploy as testable environments from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this slide is labelled illustrative because it is. I have assumptions, not measurements, and presenting an estimate as a finding is exactly the habit this course taught me to avoid.
What I would defend is the shape. The saving scales with headcount and question volume, and the hosting cost does not move.
The four benefits below are harder to price and probably matter more. The compliance one especially: in a regulated environment, an answer that cites its source is auditable and an answer from memory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tiles are measured, not estimated. Thirteen anomalies were planted in the generated dataset and the application detects every one, surfacing three as actionable with no false positives.
Zero false positives is the number I would lead with commercially. A reconciliation tool that cries wolf gets switched off in a week.
On the right, the privacy angle is the real commercial argument. Every competing tool asks you to upload a year of transaction history. This one refuses to send it anywhere, and that refusal is enforced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applications are live right now, and both URLs are on this slide. Please open them.
The roadmaps are honest about what each one is missing. GridPilot needs real retrieval to be more than a convincing prototype. Meridian needs a hosted database before anyone could keep their own data in it.
What I take from running this lifecycle twice is that the second time was faster for one reason: the decisions that hurt the first time were made first the second time. Deployment shape, testing surface, and where the model is allowed to be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658368" y="457200"/>
            <a:ext cx="10874959" cy="731520"/>
          </a:xfrm>
          <a:prstGeom prst="rect">
            <a:avLst/>
          </a:prstGeom>
          <a:noFill/>
          <a:ln/>
        </p:spPr>
        <p:txBody>
          <a:bodyPr wrap="square" lIns="0" tIns="0" rIns="0" bIns="0" rtlCol="0" anchor="t"/>
          <a:lstStyle/>
          <a:p>
            <a:pPr indent="0" marL="0">
              <a:buNone/>
            </a:pPr>
            <a:endParaRPr lang="en-US" sz="3200" dirty="0"/>
          </a:p>
        </p:txBody>
      </p:sp>
      <p:sp>
        <p:nvSpPr>
          <p:cNvPr id="3" name="Shape 1"/>
          <p:cNvSpPr/>
          <p:nvPr/>
        </p:nvSpPr>
        <p:spPr>
          <a:xfrm>
            <a:off x="0" y="0"/>
            <a:ext cx="12191695" cy="6858000"/>
          </a:xfrm>
          <a:prstGeom prst="rect">
            <a:avLst/>
          </a:prstGeom>
          <a:solidFill>
            <a:srgbClr val="141A24"/>
          </a:solidFill>
          <a:ln/>
        </p:spPr>
      </p:sp>
      <p:sp>
        <p:nvSpPr>
          <p:cNvPr id="4" name="Text 2"/>
          <p:cNvSpPr/>
          <p:nvPr/>
        </p:nvSpPr>
        <p:spPr>
          <a:xfrm>
            <a:off x="658368" y="1234440"/>
            <a:ext cx="10515600" cy="685800"/>
          </a:xfrm>
          <a:prstGeom prst="rect">
            <a:avLst/>
          </a:prstGeom>
          <a:noFill/>
          <a:ln/>
        </p:spPr>
        <p:txBody>
          <a:bodyPr wrap="square" lIns="0" tIns="0" rIns="0" bIns="0" rtlCol="0" anchor="ctr"/>
          <a:lstStyle/>
          <a:p>
            <a:pPr indent="0" marL="0">
              <a:buNone/>
            </a:pPr>
            <a:r>
              <a:rPr lang="en-US" sz="4000" dirty="0">
                <a:solidFill>
                  <a:srgbClr val="9AA6B8"/>
                </a:solidFill>
                <a:latin typeface="Cambria" pitchFamily="34" charset="0"/>
                <a:ea typeface="Cambria" pitchFamily="34" charset="-122"/>
                <a:cs typeface="Cambria" pitchFamily="34" charset="-120"/>
              </a:rPr>
              <a:t>Two problems, two applications,</a:t>
            </a:r>
            <a:endParaRPr lang="en-US" sz="4000" dirty="0"/>
          </a:p>
        </p:txBody>
      </p:sp>
      <p:sp>
        <p:nvSpPr>
          <p:cNvPr id="5" name="Text 3"/>
          <p:cNvSpPr/>
          <p:nvPr/>
        </p:nvSpPr>
        <p:spPr>
          <a:xfrm>
            <a:off x="658368" y="1874520"/>
            <a:ext cx="1051560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one lifecycle run twice.</a:t>
            </a:r>
            <a:endParaRPr lang="en-US" sz="4400" dirty="0"/>
          </a:p>
        </p:txBody>
      </p:sp>
      <p:sp>
        <p:nvSpPr>
          <p:cNvPr id="6" name="Text 4"/>
          <p:cNvSpPr/>
          <p:nvPr/>
        </p:nvSpPr>
        <p:spPr>
          <a:xfrm>
            <a:off x="658368" y="2788920"/>
            <a:ext cx="7315200" cy="320040"/>
          </a:xfrm>
          <a:prstGeom prst="rect">
            <a:avLst/>
          </a:prstGeom>
          <a:noFill/>
          <a:ln/>
        </p:spPr>
        <p:txBody>
          <a:bodyPr wrap="square" lIns="0" tIns="0" rIns="0" bIns="0" rtlCol="0" anchor="ctr"/>
          <a:lstStyle/>
          <a:p>
            <a:pPr indent="0" marL="0">
              <a:buNone/>
            </a:pPr>
            <a:r>
              <a:rPr lang="en-US" sz="1400" dirty="0">
                <a:solidFill>
                  <a:srgbClr val="9AA6B8"/>
                </a:solidFill>
                <a:latin typeface="Calibri" pitchFamily="34" charset="0"/>
                <a:ea typeface="Calibri" pitchFamily="34" charset="-122"/>
                <a:cs typeface="Calibri" pitchFamily="34" charset="-120"/>
              </a:rPr>
              <a:t>AIML-515 Capstone  ·  Workshops 1–6</a:t>
            </a:r>
            <a:endParaRPr lang="en-US" sz="1400" dirty="0"/>
          </a:p>
        </p:txBody>
      </p:sp>
      <p:sp>
        <p:nvSpPr>
          <p:cNvPr id="7" name="Shape 5"/>
          <p:cNvSpPr/>
          <p:nvPr/>
        </p:nvSpPr>
        <p:spPr>
          <a:xfrm>
            <a:off x="658368" y="3657600"/>
            <a:ext cx="5120640" cy="1691640"/>
          </a:xfrm>
          <a:prstGeom prst="roundRect">
            <a:avLst>
              <a:gd name="adj" fmla="val 5405"/>
            </a:avLst>
          </a:prstGeom>
          <a:solidFill>
            <a:srgbClr val="1F2836"/>
          </a:solidFill>
          <a:ln w="15875">
            <a:solidFill>
              <a:srgbClr val="C8791B"/>
            </a:solidFill>
            <a:prstDash val="solid"/>
          </a:ln>
        </p:spPr>
      </p:sp>
      <p:sp>
        <p:nvSpPr>
          <p:cNvPr id="8" name="Shape 6"/>
          <p:cNvSpPr/>
          <p:nvPr/>
        </p:nvSpPr>
        <p:spPr>
          <a:xfrm>
            <a:off x="1042416" y="4041648"/>
            <a:ext cx="182880" cy="182880"/>
          </a:xfrm>
          <a:prstGeom prst="ellipse">
            <a:avLst/>
          </a:prstGeom>
          <a:solidFill>
            <a:srgbClr val="C8791B"/>
          </a:solidFill>
          <a:ln/>
        </p:spPr>
      </p:sp>
      <p:sp>
        <p:nvSpPr>
          <p:cNvPr id="9" name="Text 7"/>
          <p:cNvSpPr/>
          <p:nvPr/>
        </p:nvSpPr>
        <p:spPr>
          <a:xfrm>
            <a:off x="1344168" y="3931920"/>
            <a:ext cx="41148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GridPilot AI</a:t>
            </a:r>
            <a:endParaRPr lang="en-US" sz="2000" dirty="0"/>
          </a:p>
        </p:txBody>
      </p:sp>
      <p:sp>
        <p:nvSpPr>
          <p:cNvPr id="10" name="Text 8"/>
          <p:cNvSpPr/>
          <p:nvPr/>
        </p:nvSpPr>
        <p:spPr>
          <a:xfrm>
            <a:off x="1042416" y="4370832"/>
            <a:ext cx="4352544" cy="457200"/>
          </a:xfrm>
          <a:prstGeom prst="rect">
            <a:avLst/>
          </a:prstGeom>
          <a:noFill/>
          <a:ln/>
        </p:spPr>
        <p:txBody>
          <a:bodyPr wrap="square" lIns="0" tIns="0" rIns="0" bIns="0" rtlCol="0" anchor="ctr"/>
          <a:lstStyle/>
          <a:p>
            <a:pPr indent="0" marL="0">
              <a:lnSpc>
                <a:spcPts val="1600"/>
              </a:lnSpc>
              <a:buNone/>
            </a:pPr>
            <a:r>
              <a:rPr lang="en-US" sz="1200" dirty="0">
                <a:solidFill>
                  <a:srgbClr val="9AA6B8"/>
                </a:solidFill>
                <a:latin typeface="Calibri" pitchFamily="34" charset="0"/>
                <a:ea typeface="Calibri" pitchFamily="34" charset="-122"/>
                <a:cs typeface="Calibri" pitchFamily="34" charset="-120"/>
              </a:rPr>
              <a:t>Source-cited answers for utility engineers</a:t>
            </a:r>
            <a:endParaRPr lang="en-US" sz="1200" dirty="0"/>
          </a:p>
        </p:txBody>
      </p:sp>
      <p:sp>
        <p:nvSpPr>
          <p:cNvPr id="11" name="Text 9"/>
          <p:cNvSpPr/>
          <p:nvPr/>
        </p:nvSpPr>
        <p:spPr>
          <a:xfrm>
            <a:off x="1042416" y="4873752"/>
            <a:ext cx="4352544" cy="292608"/>
          </a:xfrm>
          <a:prstGeom prst="rect">
            <a:avLst/>
          </a:prstGeom>
          <a:noFill/>
          <a:ln/>
        </p:spPr>
        <p:txBody>
          <a:bodyPr wrap="square" lIns="0" tIns="0" rIns="0" bIns="0" rtlCol="0" anchor="ctr"/>
          <a:lstStyle/>
          <a:p>
            <a:pPr indent="0" marL="0">
              <a:buNone/>
            </a:pPr>
            <a:r>
              <a:rPr lang="en-US" sz="1150" b="1" dirty="0">
                <a:solidFill>
                  <a:srgbClr val="C8791B"/>
                </a:solidFill>
                <a:latin typeface="Calibri" pitchFamily="34" charset="0"/>
                <a:ea typeface="Calibri" pitchFamily="34" charset="-122"/>
                <a:cs typeface="Calibri" pitchFamily="34" charset="-120"/>
              </a:rPr>
              <a:t>gridpilot-ai-fb150.web.app</a:t>
            </a:r>
            <a:endParaRPr lang="en-US" sz="1150" dirty="0"/>
          </a:p>
        </p:txBody>
      </p:sp>
      <p:sp>
        <p:nvSpPr>
          <p:cNvPr id="12" name="Shape 10"/>
          <p:cNvSpPr/>
          <p:nvPr/>
        </p:nvSpPr>
        <p:spPr>
          <a:xfrm>
            <a:off x="6236208" y="3657600"/>
            <a:ext cx="5120640" cy="1691640"/>
          </a:xfrm>
          <a:prstGeom prst="roundRect">
            <a:avLst>
              <a:gd name="adj" fmla="val 5405"/>
            </a:avLst>
          </a:prstGeom>
          <a:solidFill>
            <a:srgbClr val="1F2836"/>
          </a:solidFill>
          <a:ln w="15875">
            <a:solidFill>
              <a:srgbClr val="1B6B52"/>
            </a:solidFill>
            <a:prstDash val="solid"/>
          </a:ln>
        </p:spPr>
      </p:sp>
      <p:sp>
        <p:nvSpPr>
          <p:cNvPr id="13" name="Shape 11"/>
          <p:cNvSpPr/>
          <p:nvPr/>
        </p:nvSpPr>
        <p:spPr>
          <a:xfrm>
            <a:off x="6620256" y="4041648"/>
            <a:ext cx="182880" cy="182880"/>
          </a:xfrm>
          <a:prstGeom prst="ellipse">
            <a:avLst/>
          </a:prstGeom>
          <a:solidFill>
            <a:srgbClr val="1B6B52"/>
          </a:solidFill>
          <a:ln/>
        </p:spPr>
      </p:sp>
      <p:sp>
        <p:nvSpPr>
          <p:cNvPr id="14" name="Text 12"/>
          <p:cNvSpPr/>
          <p:nvPr/>
        </p:nvSpPr>
        <p:spPr>
          <a:xfrm>
            <a:off x="6922008" y="3931920"/>
            <a:ext cx="41148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Meridian Financial</a:t>
            </a:r>
            <a:endParaRPr lang="en-US" sz="2000" dirty="0"/>
          </a:p>
        </p:txBody>
      </p:sp>
      <p:sp>
        <p:nvSpPr>
          <p:cNvPr id="15" name="Text 13"/>
          <p:cNvSpPr/>
          <p:nvPr/>
        </p:nvSpPr>
        <p:spPr>
          <a:xfrm>
            <a:off x="6620256" y="4370832"/>
            <a:ext cx="4352544" cy="457200"/>
          </a:xfrm>
          <a:prstGeom prst="rect">
            <a:avLst/>
          </a:prstGeom>
          <a:noFill/>
          <a:ln/>
        </p:spPr>
        <p:txBody>
          <a:bodyPr wrap="square" lIns="0" tIns="0" rIns="0" bIns="0" rtlCol="0" anchor="ctr"/>
          <a:lstStyle/>
          <a:p>
            <a:pPr indent="0" marL="0">
              <a:lnSpc>
                <a:spcPts val="1600"/>
              </a:lnSpc>
              <a:buNone/>
            </a:pPr>
            <a:r>
              <a:rPr lang="en-US" sz="1200" dirty="0">
                <a:solidFill>
                  <a:srgbClr val="9AA6B8"/>
                </a:solidFill>
                <a:latin typeface="Calibri" pitchFamily="34" charset="0"/>
                <a:ea typeface="Calibri" pitchFamily="34" charset="-122"/>
                <a:cs typeface="Calibri" pitchFamily="34" charset="-120"/>
              </a:rPr>
              <a:t>Reconciles bank statements against live account feeds</a:t>
            </a:r>
            <a:endParaRPr lang="en-US" sz="1200" dirty="0"/>
          </a:p>
        </p:txBody>
      </p:sp>
      <p:sp>
        <p:nvSpPr>
          <p:cNvPr id="16" name="Text 14"/>
          <p:cNvSpPr/>
          <p:nvPr/>
        </p:nvSpPr>
        <p:spPr>
          <a:xfrm>
            <a:off x="6620256" y="4873752"/>
            <a:ext cx="4352544" cy="292608"/>
          </a:xfrm>
          <a:prstGeom prst="rect">
            <a:avLst/>
          </a:prstGeom>
          <a:noFill/>
          <a:ln/>
        </p:spPr>
        <p:txBody>
          <a:bodyPr wrap="square" lIns="0" tIns="0" rIns="0" bIns="0" rtlCol="0" anchor="ctr"/>
          <a:lstStyle/>
          <a:p>
            <a:pPr indent="0" marL="0">
              <a:buNone/>
            </a:pPr>
            <a:r>
              <a:rPr lang="en-US" sz="1150" b="1" dirty="0">
                <a:solidFill>
                  <a:srgbClr val="1B6B52"/>
                </a:solidFill>
                <a:latin typeface="Calibri" pitchFamily="34" charset="0"/>
                <a:ea typeface="Calibri" pitchFamily="34" charset="-122"/>
                <a:cs typeface="Calibri" pitchFamily="34" charset="-120"/>
              </a:rPr>
              <a:t>meridian-792468836580.us-central1.run.app</a:t>
            </a:r>
            <a:endParaRPr lang="en-US" sz="1150" dirty="0"/>
          </a:p>
        </p:txBody>
      </p:sp>
      <p:sp>
        <p:nvSpPr>
          <p:cNvPr id="17" name="Text 15"/>
          <p:cNvSpPr/>
          <p:nvPr/>
        </p:nvSpPr>
        <p:spPr>
          <a:xfrm>
            <a:off x="658368" y="5806440"/>
            <a:ext cx="7315200" cy="274320"/>
          </a:xfrm>
          <a:prstGeom prst="rect">
            <a:avLst/>
          </a:prstGeom>
          <a:noFill/>
          <a:ln/>
        </p:spPr>
        <p:txBody>
          <a:bodyPr wrap="square" lIns="0" tIns="0" rIns="0" bIns="0" rtlCol="0" anchor="ctr"/>
          <a:lstStyle/>
          <a:p>
            <a:pPr indent="0" marL="0">
              <a:buNone/>
            </a:pPr>
            <a:r>
              <a:rPr lang="en-US" sz="1200" dirty="0">
                <a:solidFill>
                  <a:srgbClr val="6E7A8C"/>
                </a:solidFill>
                <a:latin typeface="Calibri" pitchFamily="34" charset="0"/>
                <a:ea typeface="Calibri" pitchFamily="34" charset="-122"/>
                <a:cs typeface="Calibri" pitchFamily="34" charset="-120"/>
              </a:rPr>
              <a:t>Presented by  [ your name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What was built, and what it does</a:t>
            </a:r>
            <a:endParaRPr lang="en-US" sz="3200" dirty="0"/>
          </a:p>
        </p:txBody>
      </p:sp>
      <p:sp>
        <p:nvSpPr>
          <p:cNvPr id="4" name="Shape 2"/>
          <p:cNvSpPr/>
          <p:nvPr/>
        </p:nvSpPr>
        <p:spPr>
          <a:xfrm>
            <a:off x="658368" y="1417320"/>
            <a:ext cx="5349240" cy="4160520"/>
          </a:xfrm>
          <a:prstGeom prst="roundRect">
            <a:avLst>
              <a:gd name="adj" fmla="val 1978"/>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5" name="Shape 3"/>
          <p:cNvSpPr/>
          <p:nvPr/>
        </p:nvSpPr>
        <p:spPr>
          <a:xfrm>
            <a:off x="978408" y="1709928"/>
            <a:ext cx="1920240" cy="301752"/>
          </a:xfrm>
          <a:prstGeom prst="roundRect">
            <a:avLst>
              <a:gd name="adj" fmla="val 48485"/>
            </a:avLst>
          </a:prstGeom>
          <a:solidFill>
            <a:srgbClr val="FBF1E2"/>
          </a:solidFill>
          <a:ln w="9525">
            <a:solidFill>
              <a:srgbClr val="C8791B"/>
            </a:solidFill>
            <a:prstDash val="solid"/>
          </a:ln>
        </p:spPr>
      </p:sp>
      <p:sp>
        <p:nvSpPr>
          <p:cNvPr id="6" name="Text 4"/>
          <p:cNvSpPr/>
          <p:nvPr/>
        </p:nvSpPr>
        <p:spPr>
          <a:xfrm>
            <a:off x="978408" y="1709928"/>
            <a:ext cx="1920240" cy="301752"/>
          </a:xfrm>
          <a:prstGeom prst="rect">
            <a:avLst/>
          </a:prstGeom>
          <a:noFill/>
          <a:ln/>
        </p:spPr>
        <p:txBody>
          <a:bodyPr wrap="square" lIns="0" tIns="0" rIns="0" bIns="0" rtlCol="0" anchor="ctr"/>
          <a:lstStyle/>
          <a:p>
            <a:pPr algn="ctr" indent="0" marL="0">
              <a:buNone/>
            </a:pPr>
            <a:r>
              <a:rPr lang="en-US" sz="1000" b="1" spc="80" kern="0" dirty="0">
                <a:solidFill>
                  <a:srgbClr val="C8791B"/>
                </a:solidFill>
                <a:latin typeface="Calibri" pitchFamily="34" charset="0"/>
                <a:ea typeface="Calibri" pitchFamily="34" charset="-122"/>
                <a:cs typeface="Calibri" pitchFamily="34" charset="-120"/>
              </a:rPr>
              <a:t>APP 1</a:t>
            </a:r>
            <a:endParaRPr lang="en-US" sz="1000" dirty="0"/>
          </a:p>
        </p:txBody>
      </p:sp>
      <p:sp>
        <p:nvSpPr>
          <p:cNvPr id="7" name="Text 5"/>
          <p:cNvSpPr/>
          <p:nvPr/>
        </p:nvSpPr>
        <p:spPr>
          <a:xfrm>
            <a:off x="978408" y="2130552"/>
            <a:ext cx="4709160" cy="411480"/>
          </a:xfrm>
          <a:prstGeom prst="rect">
            <a:avLst/>
          </a:prstGeom>
          <a:noFill/>
          <a:ln/>
        </p:spPr>
        <p:txBody>
          <a:bodyPr wrap="square" lIns="0" tIns="0" rIns="0" bIns="0" rtlCol="0" anchor="ctr"/>
          <a:lstStyle/>
          <a:p>
            <a:pPr indent="0" marL="0">
              <a:buNone/>
            </a:pPr>
            <a:r>
              <a:rPr lang="en-US" sz="2200" b="1" dirty="0">
                <a:solidFill>
                  <a:srgbClr val="141A24"/>
                </a:solidFill>
                <a:latin typeface="Cambria" pitchFamily="34" charset="0"/>
                <a:ea typeface="Cambria" pitchFamily="34" charset="-122"/>
                <a:cs typeface="Cambria" pitchFamily="34" charset="-120"/>
              </a:rPr>
              <a:t>GridPilot AI</a:t>
            </a:r>
            <a:endParaRPr lang="en-US" sz="2200" dirty="0"/>
          </a:p>
        </p:txBody>
      </p:sp>
      <p:sp>
        <p:nvSpPr>
          <p:cNvPr id="8" name="Text 6"/>
          <p:cNvSpPr/>
          <p:nvPr/>
        </p:nvSpPr>
        <p:spPr>
          <a:xfrm>
            <a:off x="978408" y="2624328"/>
            <a:ext cx="470916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The problem</a:t>
            </a:r>
            <a:endParaRPr lang="en-US" sz="1450" dirty="0"/>
          </a:p>
        </p:txBody>
      </p:sp>
      <p:sp>
        <p:nvSpPr>
          <p:cNvPr id="9" name="Text 7"/>
          <p:cNvSpPr/>
          <p:nvPr/>
        </p:nvSpPr>
        <p:spPr>
          <a:xfrm>
            <a:off x="978408" y="2898648"/>
            <a:ext cx="4709160" cy="77724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Utility engineers answer technical questions by searching scattered PDF manuals, standards and procedure binders.</a:t>
            </a:r>
            <a:endParaRPr lang="en-US" sz="1250" dirty="0"/>
          </a:p>
        </p:txBody>
      </p:sp>
      <p:sp>
        <p:nvSpPr>
          <p:cNvPr id="10" name="Text 8"/>
          <p:cNvSpPr/>
          <p:nvPr/>
        </p:nvSpPr>
        <p:spPr>
          <a:xfrm>
            <a:off x="978408" y="3703320"/>
            <a:ext cx="470916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The solution</a:t>
            </a:r>
            <a:endParaRPr lang="en-US" sz="1450" dirty="0"/>
          </a:p>
        </p:txBody>
      </p:sp>
      <p:sp>
        <p:nvSpPr>
          <p:cNvPr id="11" name="Text 9"/>
          <p:cNvSpPr/>
          <p:nvPr/>
        </p:nvSpPr>
        <p:spPr>
          <a:xfrm>
            <a:off x="978408" y="3977640"/>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A role-aware assistant that answers in plain language, cites the exact source passage, and declines when no source is confident enough.</a:t>
            </a:r>
            <a:endParaRPr lang="en-US" sz="1250" dirty="0"/>
          </a:p>
        </p:txBody>
      </p:sp>
      <p:sp>
        <p:nvSpPr>
          <p:cNvPr id="12" name="Text 10"/>
          <p:cNvSpPr/>
          <p:nvPr/>
        </p:nvSpPr>
        <p:spPr>
          <a:xfrm>
            <a:off x="978408" y="4818888"/>
            <a:ext cx="1569720" cy="411480"/>
          </a:xfrm>
          <a:prstGeom prst="rect">
            <a:avLst/>
          </a:prstGeom>
          <a:noFill/>
          <a:ln/>
        </p:spPr>
        <p:txBody>
          <a:bodyPr wrap="square" lIns="0" tIns="0" rIns="0" bIns="0" rtlCol="0" anchor="ctr"/>
          <a:lstStyle/>
          <a:p>
            <a:pPr indent="0" marL="0">
              <a:buNone/>
            </a:pPr>
            <a:r>
              <a:rPr lang="en-US" sz="2400" b="1" dirty="0">
                <a:solidFill>
                  <a:srgbClr val="C8791B"/>
                </a:solidFill>
                <a:latin typeface="Cambria" pitchFamily="34" charset="0"/>
                <a:ea typeface="Cambria" pitchFamily="34" charset="-122"/>
                <a:cs typeface="Cambria" pitchFamily="34" charset="-120"/>
              </a:rPr>
              <a:t>27</a:t>
            </a:r>
            <a:endParaRPr lang="en-US" sz="2400" dirty="0"/>
          </a:p>
        </p:txBody>
      </p:sp>
      <p:sp>
        <p:nvSpPr>
          <p:cNvPr id="13" name="Text 11"/>
          <p:cNvSpPr/>
          <p:nvPr/>
        </p:nvSpPr>
        <p:spPr>
          <a:xfrm>
            <a:off x="978408" y="5202936"/>
            <a:ext cx="1569720" cy="27432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source files</a:t>
            </a:r>
            <a:endParaRPr lang="en-US" sz="1050" dirty="0"/>
          </a:p>
        </p:txBody>
      </p:sp>
      <p:sp>
        <p:nvSpPr>
          <p:cNvPr id="14" name="Text 12"/>
          <p:cNvSpPr/>
          <p:nvPr/>
        </p:nvSpPr>
        <p:spPr>
          <a:xfrm>
            <a:off x="2548128" y="4818888"/>
            <a:ext cx="1569720" cy="411480"/>
          </a:xfrm>
          <a:prstGeom prst="rect">
            <a:avLst/>
          </a:prstGeom>
          <a:noFill/>
          <a:ln/>
        </p:spPr>
        <p:txBody>
          <a:bodyPr wrap="square" lIns="0" tIns="0" rIns="0" bIns="0" rtlCol="0" anchor="ctr"/>
          <a:lstStyle/>
          <a:p>
            <a:pPr indent="0" marL="0">
              <a:buNone/>
            </a:pPr>
            <a:r>
              <a:rPr lang="en-US" sz="2400" b="1" dirty="0">
                <a:solidFill>
                  <a:srgbClr val="C8791B"/>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2548128" y="5202936"/>
            <a:ext cx="1569720" cy="27432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user roles</a:t>
            </a:r>
            <a:endParaRPr lang="en-US" sz="1050" dirty="0"/>
          </a:p>
        </p:txBody>
      </p:sp>
      <p:sp>
        <p:nvSpPr>
          <p:cNvPr id="16" name="Text 14"/>
          <p:cNvSpPr/>
          <p:nvPr/>
        </p:nvSpPr>
        <p:spPr>
          <a:xfrm>
            <a:off x="4117848" y="4818888"/>
            <a:ext cx="1569720" cy="411480"/>
          </a:xfrm>
          <a:prstGeom prst="rect">
            <a:avLst/>
          </a:prstGeom>
          <a:noFill/>
          <a:ln/>
        </p:spPr>
        <p:txBody>
          <a:bodyPr wrap="square" lIns="0" tIns="0" rIns="0" bIns="0" rtlCol="0" anchor="ctr"/>
          <a:lstStyle/>
          <a:p>
            <a:pPr indent="0" marL="0">
              <a:buNone/>
            </a:pPr>
            <a:r>
              <a:rPr lang="en-US" sz="2400" b="1" dirty="0">
                <a:solidFill>
                  <a:srgbClr val="C8791B"/>
                </a:solidFill>
                <a:latin typeface="Cambria" pitchFamily="34" charset="0"/>
                <a:ea typeface="Cambria" pitchFamily="34" charset="-122"/>
                <a:cs typeface="Cambria" pitchFamily="34" charset="-120"/>
              </a:rPr>
              <a:t>0</a:t>
            </a:r>
            <a:endParaRPr lang="en-US" sz="2400" dirty="0"/>
          </a:p>
        </p:txBody>
      </p:sp>
      <p:sp>
        <p:nvSpPr>
          <p:cNvPr id="17" name="Text 15"/>
          <p:cNvSpPr/>
          <p:nvPr/>
        </p:nvSpPr>
        <p:spPr>
          <a:xfrm>
            <a:off x="4117848" y="5202936"/>
            <a:ext cx="1569720" cy="27432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invented answers</a:t>
            </a:r>
            <a:endParaRPr lang="en-US" sz="1050" dirty="0"/>
          </a:p>
        </p:txBody>
      </p:sp>
      <p:sp>
        <p:nvSpPr>
          <p:cNvPr id="18" name="Shape 16"/>
          <p:cNvSpPr/>
          <p:nvPr/>
        </p:nvSpPr>
        <p:spPr>
          <a:xfrm>
            <a:off x="6510528" y="1417320"/>
            <a:ext cx="5349240" cy="4160520"/>
          </a:xfrm>
          <a:prstGeom prst="roundRect">
            <a:avLst>
              <a:gd name="adj" fmla="val 1978"/>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Shape 17"/>
          <p:cNvSpPr/>
          <p:nvPr/>
        </p:nvSpPr>
        <p:spPr>
          <a:xfrm>
            <a:off x="6830568" y="1709928"/>
            <a:ext cx="1920240" cy="301752"/>
          </a:xfrm>
          <a:prstGeom prst="roundRect">
            <a:avLst>
              <a:gd name="adj" fmla="val 48485"/>
            </a:avLst>
          </a:prstGeom>
          <a:solidFill>
            <a:srgbClr val="E3F0EA"/>
          </a:solidFill>
          <a:ln w="9525">
            <a:solidFill>
              <a:srgbClr val="1B6B52"/>
            </a:solidFill>
            <a:prstDash val="solid"/>
          </a:ln>
        </p:spPr>
      </p:sp>
      <p:sp>
        <p:nvSpPr>
          <p:cNvPr id="20" name="Text 18"/>
          <p:cNvSpPr/>
          <p:nvPr/>
        </p:nvSpPr>
        <p:spPr>
          <a:xfrm>
            <a:off x="6830568" y="1709928"/>
            <a:ext cx="1920240" cy="301752"/>
          </a:xfrm>
          <a:prstGeom prst="rect">
            <a:avLst/>
          </a:prstGeom>
          <a:noFill/>
          <a:ln/>
        </p:spPr>
        <p:txBody>
          <a:bodyPr wrap="square" lIns="0" tIns="0" rIns="0" bIns="0" rtlCol="0" anchor="ctr"/>
          <a:lstStyle/>
          <a:p>
            <a:pPr algn="ctr" indent="0" marL="0">
              <a:buNone/>
            </a:pPr>
            <a:r>
              <a:rPr lang="en-US" sz="1000" b="1" spc="80" kern="0" dirty="0">
                <a:solidFill>
                  <a:srgbClr val="1B6B52"/>
                </a:solidFill>
                <a:latin typeface="Calibri" pitchFamily="34" charset="0"/>
                <a:ea typeface="Calibri" pitchFamily="34" charset="-122"/>
                <a:cs typeface="Calibri" pitchFamily="34" charset="-120"/>
              </a:rPr>
              <a:t>APP 2</a:t>
            </a:r>
            <a:endParaRPr lang="en-US" sz="1000" dirty="0"/>
          </a:p>
        </p:txBody>
      </p:sp>
      <p:sp>
        <p:nvSpPr>
          <p:cNvPr id="21" name="Text 19"/>
          <p:cNvSpPr/>
          <p:nvPr/>
        </p:nvSpPr>
        <p:spPr>
          <a:xfrm>
            <a:off x="6830568" y="2130552"/>
            <a:ext cx="4709160" cy="411480"/>
          </a:xfrm>
          <a:prstGeom prst="rect">
            <a:avLst/>
          </a:prstGeom>
          <a:noFill/>
          <a:ln/>
        </p:spPr>
        <p:txBody>
          <a:bodyPr wrap="square" lIns="0" tIns="0" rIns="0" bIns="0" rtlCol="0" anchor="ctr"/>
          <a:lstStyle/>
          <a:p>
            <a:pPr indent="0" marL="0">
              <a:buNone/>
            </a:pPr>
            <a:r>
              <a:rPr lang="en-US" sz="2200" b="1" dirty="0">
                <a:solidFill>
                  <a:srgbClr val="141A24"/>
                </a:solidFill>
                <a:latin typeface="Cambria" pitchFamily="34" charset="0"/>
                <a:ea typeface="Cambria" pitchFamily="34" charset="-122"/>
                <a:cs typeface="Cambria" pitchFamily="34" charset="-120"/>
              </a:rPr>
              <a:t>Meridian Financial</a:t>
            </a:r>
            <a:endParaRPr lang="en-US" sz="2200" dirty="0"/>
          </a:p>
        </p:txBody>
      </p:sp>
      <p:sp>
        <p:nvSpPr>
          <p:cNvPr id="22" name="Text 20"/>
          <p:cNvSpPr/>
          <p:nvPr/>
        </p:nvSpPr>
        <p:spPr>
          <a:xfrm>
            <a:off x="6830568" y="2624328"/>
            <a:ext cx="470916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The problem</a:t>
            </a:r>
            <a:endParaRPr lang="en-US" sz="1450" dirty="0"/>
          </a:p>
        </p:txBody>
      </p:sp>
      <p:sp>
        <p:nvSpPr>
          <p:cNvPr id="23" name="Text 21"/>
          <p:cNvSpPr/>
          <p:nvPr/>
        </p:nvSpPr>
        <p:spPr>
          <a:xfrm>
            <a:off x="6830568" y="2898648"/>
            <a:ext cx="4709160" cy="77724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Money sits across many institutions, and each institution's statement disagrees with its own live feed more often than people think.</a:t>
            </a:r>
            <a:endParaRPr lang="en-US" sz="1250" dirty="0"/>
          </a:p>
        </p:txBody>
      </p:sp>
      <p:sp>
        <p:nvSpPr>
          <p:cNvPr id="24" name="Text 22"/>
          <p:cNvSpPr/>
          <p:nvPr/>
        </p:nvSpPr>
        <p:spPr>
          <a:xfrm>
            <a:off x="6830568" y="3703320"/>
            <a:ext cx="470916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The solution</a:t>
            </a:r>
            <a:endParaRPr lang="en-US" sz="1450" dirty="0"/>
          </a:p>
        </p:txBody>
      </p:sp>
      <p:sp>
        <p:nvSpPr>
          <p:cNvPr id="25" name="Text 23"/>
          <p:cNvSpPr/>
          <p:nvPr/>
        </p:nvSpPr>
        <p:spPr>
          <a:xfrm>
            <a:off x="6830568" y="3977640"/>
            <a:ext cx="4709160" cy="82296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Imports statements in five formats, merges them with the account feed without duplicating, and reports what does not reconcile.</a:t>
            </a:r>
            <a:endParaRPr lang="en-US" sz="1250" dirty="0"/>
          </a:p>
        </p:txBody>
      </p:sp>
      <p:sp>
        <p:nvSpPr>
          <p:cNvPr id="26" name="Text 24"/>
          <p:cNvSpPr/>
          <p:nvPr/>
        </p:nvSpPr>
        <p:spPr>
          <a:xfrm>
            <a:off x="6830568" y="4818888"/>
            <a:ext cx="1569720" cy="411480"/>
          </a:xfrm>
          <a:prstGeom prst="rect">
            <a:avLst/>
          </a:prstGeom>
          <a:noFill/>
          <a:ln/>
        </p:spPr>
        <p:txBody>
          <a:bodyPr wrap="square" lIns="0" tIns="0" rIns="0" bIns="0" rtlCol="0" anchor="ctr"/>
          <a:lstStyle/>
          <a:p>
            <a:pPr indent="0" marL="0">
              <a:buNone/>
            </a:pPr>
            <a:r>
              <a:rPr lang="en-US" sz="2400" b="1" dirty="0">
                <a:solidFill>
                  <a:srgbClr val="1B6B52"/>
                </a:solidFill>
                <a:latin typeface="Cambria" pitchFamily="34" charset="0"/>
                <a:ea typeface="Cambria" pitchFamily="34" charset="-122"/>
                <a:cs typeface="Cambria" pitchFamily="34" charset="-120"/>
              </a:rPr>
              <a:t>3,350</a:t>
            </a:r>
            <a:endParaRPr lang="en-US" sz="2400" dirty="0"/>
          </a:p>
        </p:txBody>
      </p:sp>
      <p:sp>
        <p:nvSpPr>
          <p:cNvPr id="27" name="Text 25"/>
          <p:cNvSpPr/>
          <p:nvPr/>
        </p:nvSpPr>
        <p:spPr>
          <a:xfrm>
            <a:off x="6830568" y="5202936"/>
            <a:ext cx="1569720" cy="27432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transactions</a:t>
            </a:r>
            <a:endParaRPr lang="en-US" sz="1050" dirty="0"/>
          </a:p>
        </p:txBody>
      </p:sp>
      <p:sp>
        <p:nvSpPr>
          <p:cNvPr id="28" name="Text 26"/>
          <p:cNvSpPr/>
          <p:nvPr/>
        </p:nvSpPr>
        <p:spPr>
          <a:xfrm>
            <a:off x="8400288" y="4818888"/>
            <a:ext cx="1569720" cy="411480"/>
          </a:xfrm>
          <a:prstGeom prst="rect">
            <a:avLst/>
          </a:prstGeom>
          <a:noFill/>
          <a:ln/>
        </p:spPr>
        <p:txBody>
          <a:bodyPr wrap="square" lIns="0" tIns="0" rIns="0" bIns="0" rtlCol="0" anchor="ctr"/>
          <a:lstStyle/>
          <a:p>
            <a:pPr indent="0" marL="0">
              <a:buNone/>
            </a:pPr>
            <a:r>
              <a:rPr lang="en-US" sz="2400" b="1" dirty="0">
                <a:solidFill>
                  <a:srgbClr val="1B6B52"/>
                </a:solidFill>
                <a:latin typeface="Cambria" pitchFamily="34" charset="0"/>
                <a:ea typeface="Cambria" pitchFamily="34" charset="-122"/>
                <a:cs typeface="Cambria" pitchFamily="34" charset="-120"/>
              </a:rPr>
              <a:t>153</a:t>
            </a:r>
            <a:endParaRPr lang="en-US" sz="2400" dirty="0"/>
          </a:p>
        </p:txBody>
      </p:sp>
      <p:sp>
        <p:nvSpPr>
          <p:cNvPr id="29" name="Text 27"/>
          <p:cNvSpPr/>
          <p:nvPr/>
        </p:nvSpPr>
        <p:spPr>
          <a:xfrm>
            <a:off x="8400288" y="5202936"/>
            <a:ext cx="1569720" cy="27432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documents</a:t>
            </a:r>
            <a:endParaRPr lang="en-US" sz="1050" dirty="0"/>
          </a:p>
        </p:txBody>
      </p:sp>
      <p:sp>
        <p:nvSpPr>
          <p:cNvPr id="30" name="Text 28"/>
          <p:cNvSpPr/>
          <p:nvPr/>
        </p:nvSpPr>
        <p:spPr>
          <a:xfrm>
            <a:off x="9970008" y="4818888"/>
            <a:ext cx="1569720" cy="411480"/>
          </a:xfrm>
          <a:prstGeom prst="rect">
            <a:avLst/>
          </a:prstGeom>
          <a:noFill/>
          <a:ln/>
        </p:spPr>
        <p:txBody>
          <a:bodyPr wrap="square" lIns="0" tIns="0" rIns="0" bIns="0" rtlCol="0" anchor="ctr"/>
          <a:lstStyle/>
          <a:p>
            <a:pPr indent="0" marL="0">
              <a:buNone/>
            </a:pPr>
            <a:r>
              <a:rPr lang="en-US" sz="2400" b="1" dirty="0">
                <a:solidFill>
                  <a:srgbClr val="1B6B52"/>
                </a:solidFill>
                <a:latin typeface="Cambria" pitchFamily="34" charset="0"/>
                <a:ea typeface="Cambria" pitchFamily="34" charset="-122"/>
                <a:cs typeface="Cambria" pitchFamily="34" charset="-120"/>
              </a:rPr>
              <a:t>205</a:t>
            </a:r>
            <a:endParaRPr lang="en-US" sz="2400" dirty="0"/>
          </a:p>
        </p:txBody>
      </p:sp>
      <p:sp>
        <p:nvSpPr>
          <p:cNvPr id="31" name="Text 29"/>
          <p:cNvSpPr/>
          <p:nvPr/>
        </p:nvSpPr>
        <p:spPr>
          <a:xfrm>
            <a:off x="9970008" y="5202936"/>
            <a:ext cx="1569720" cy="27432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backend tests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9AA6B8"/>
                </a:solidFill>
                <a:latin typeface="Calibri" pitchFamily="34" charset="0"/>
                <a:ea typeface="Calibri" pitchFamily="34" charset="-122"/>
                <a:cs typeface="Calibri" pitchFamily="34" charset="-120"/>
              </a:rPr>
              <a:t>WORKSHOPS 1–6</a:t>
            </a:r>
            <a:endParaRPr lang="en-US" sz="1100" dirty="0"/>
          </a:p>
        </p:txBody>
      </p:sp>
      <p:sp>
        <p:nvSpPr>
          <p:cNvPr id="3" name="Text 1"/>
          <p:cNvSpPr/>
          <p:nvPr/>
        </p:nvSpPr>
        <p:spPr>
          <a:xfrm>
            <a:off x="658368" y="621792"/>
            <a:ext cx="10874959"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same six phases, run twice</a:t>
            </a:r>
            <a:endParaRPr lang="en-US" sz="3200" dirty="0"/>
          </a:p>
        </p:txBody>
      </p:sp>
      <p:sp>
        <p:nvSpPr>
          <p:cNvPr id="4" name="Shape 2"/>
          <p:cNvSpPr/>
          <p:nvPr/>
        </p:nvSpPr>
        <p:spPr>
          <a:xfrm>
            <a:off x="1390879" y="1417320"/>
            <a:ext cx="347472" cy="347472"/>
          </a:xfrm>
          <a:prstGeom prst="ellipse">
            <a:avLst/>
          </a:prstGeom>
          <a:solidFill>
            <a:srgbClr val="3C4A5E"/>
          </a:solidFill>
          <a:ln w="12700">
            <a:solidFill>
              <a:srgbClr val="3C4A5E"/>
            </a:solidFill>
            <a:prstDash val="solid"/>
          </a:ln>
        </p:spPr>
      </p:sp>
      <p:sp>
        <p:nvSpPr>
          <p:cNvPr id="5" name="Text 3"/>
          <p:cNvSpPr/>
          <p:nvPr/>
        </p:nvSpPr>
        <p:spPr>
          <a:xfrm>
            <a:off x="1390879" y="1417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04088" y="1874520"/>
            <a:ext cx="1721053" cy="54864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Problem framing</a:t>
            </a:r>
            <a:endParaRPr lang="en-US" sz="1150" dirty="0"/>
          </a:p>
        </p:txBody>
      </p:sp>
      <p:sp>
        <p:nvSpPr>
          <p:cNvPr id="7" name="Shape 5"/>
          <p:cNvSpPr/>
          <p:nvPr/>
        </p:nvSpPr>
        <p:spPr>
          <a:xfrm>
            <a:off x="1784071" y="1591056"/>
            <a:ext cx="1373581" cy="0"/>
          </a:xfrm>
          <a:prstGeom prst="line">
            <a:avLst/>
          </a:prstGeom>
          <a:noFill/>
          <a:ln w="19050">
            <a:solidFill>
              <a:srgbClr val="3C4A5E"/>
            </a:solidFill>
            <a:prstDash val="solid"/>
          </a:ln>
        </p:spPr>
      </p:sp>
      <p:sp>
        <p:nvSpPr>
          <p:cNvPr id="8" name="Shape 6"/>
          <p:cNvSpPr/>
          <p:nvPr/>
        </p:nvSpPr>
        <p:spPr>
          <a:xfrm>
            <a:off x="3203372" y="1417320"/>
            <a:ext cx="347472" cy="347472"/>
          </a:xfrm>
          <a:prstGeom prst="ellipse">
            <a:avLst/>
          </a:prstGeom>
          <a:solidFill>
            <a:srgbClr val="3C4A5E"/>
          </a:solidFill>
          <a:ln w="12700">
            <a:solidFill>
              <a:srgbClr val="3C4A5E"/>
            </a:solidFill>
            <a:prstDash val="solid"/>
          </a:ln>
        </p:spPr>
      </p:sp>
      <p:sp>
        <p:nvSpPr>
          <p:cNvPr id="9" name="Text 7"/>
          <p:cNvSpPr/>
          <p:nvPr/>
        </p:nvSpPr>
        <p:spPr>
          <a:xfrm>
            <a:off x="3203372" y="1417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2516581" y="1874520"/>
            <a:ext cx="1721053" cy="54864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Technical solution</a:t>
            </a:r>
            <a:endParaRPr lang="en-US" sz="1150" dirty="0"/>
          </a:p>
        </p:txBody>
      </p:sp>
      <p:sp>
        <p:nvSpPr>
          <p:cNvPr id="11" name="Shape 9"/>
          <p:cNvSpPr/>
          <p:nvPr/>
        </p:nvSpPr>
        <p:spPr>
          <a:xfrm>
            <a:off x="3596564" y="1591056"/>
            <a:ext cx="1373581" cy="0"/>
          </a:xfrm>
          <a:prstGeom prst="line">
            <a:avLst/>
          </a:prstGeom>
          <a:noFill/>
          <a:ln w="19050">
            <a:solidFill>
              <a:srgbClr val="3C4A5E"/>
            </a:solidFill>
            <a:prstDash val="solid"/>
          </a:ln>
        </p:spPr>
      </p:sp>
      <p:sp>
        <p:nvSpPr>
          <p:cNvPr id="12" name="Shape 10"/>
          <p:cNvSpPr/>
          <p:nvPr/>
        </p:nvSpPr>
        <p:spPr>
          <a:xfrm>
            <a:off x="5015865" y="1417320"/>
            <a:ext cx="347472" cy="347472"/>
          </a:xfrm>
          <a:prstGeom prst="ellipse">
            <a:avLst/>
          </a:prstGeom>
          <a:solidFill>
            <a:srgbClr val="3C4A5E"/>
          </a:solidFill>
          <a:ln w="12700">
            <a:solidFill>
              <a:srgbClr val="3C4A5E"/>
            </a:solidFill>
            <a:prstDash val="solid"/>
          </a:ln>
        </p:spPr>
      </p:sp>
      <p:sp>
        <p:nvSpPr>
          <p:cNvPr id="13" name="Text 11"/>
          <p:cNvSpPr/>
          <p:nvPr/>
        </p:nvSpPr>
        <p:spPr>
          <a:xfrm>
            <a:off x="5015865" y="1417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4329074" y="1874520"/>
            <a:ext cx="1721053" cy="54864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Design &amp; prototype</a:t>
            </a:r>
            <a:endParaRPr lang="en-US" sz="1150" dirty="0"/>
          </a:p>
        </p:txBody>
      </p:sp>
      <p:sp>
        <p:nvSpPr>
          <p:cNvPr id="15" name="Shape 13"/>
          <p:cNvSpPr/>
          <p:nvPr/>
        </p:nvSpPr>
        <p:spPr>
          <a:xfrm>
            <a:off x="5409057" y="1591056"/>
            <a:ext cx="1373581" cy="0"/>
          </a:xfrm>
          <a:prstGeom prst="line">
            <a:avLst/>
          </a:prstGeom>
          <a:noFill/>
          <a:ln w="19050">
            <a:solidFill>
              <a:srgbClr val="3C4A5E"/>
            </a:solidFill>
            <a:prstDash val="solid"/>
          </a:ln>
        </p:spPr>
      </p:sp>
      <p:sp>
        <p:nvSpPr>
          <p:cNvPr id="16" name="Shape 14"/>
          <p:cNvSpPr/>
          <p:nvPr/>
        </p:nvSpPr>
        <p:spPr>
          <a:xfrm>
            <a:off x="6828358" y="1417320"/>
            <a:ext cx="347472" cy="347472"/>
          </a:xfrm>
          <a:prstGeom prst="ellipse">
            <a:avLst/>
          </a:prstGeom>
          <a:solidFill>
            <a:srgbClr val="56657C"/>
          </a:solidFill>
          <a:ln w="12700">
            <a:solidFill>
              <a:srgbClr val="56657C"/>
            </a:solidFill>
            <a:prstDash val="solid"/>
          </a:ln>
        </p:spPr>
      </p:sp>
      <p:sp>
        <p:nvSpPr>
          <p:cNvPr id="17" name="Text 15"/>
          <p:cNvSpPr/>
          <p:nvPr/>
        </p:nvSpPr>
        <p:spPr>
          <a:xfrm>
            <a:off x="6828358" y="1417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6141568" y="1874520"/>
            <a:ext cx="1721053" cy="54864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Testing &amp; evaluation</a:t>
            </a:r>
            <a:endParaRPr lang="en-US" sz="1150" dirty="0"/>
          </a:p>
        </p:txBody>
      </p:sp>
      <p:sp>
        <p:nvSpPr>
          <p:cNvPr id="19" name="Shape 17"/>
          <p:cNvSpPr/>
          <p:nvPr/>
        </p:nvSpPr>
        <p:spPr>
          <a:xfrm>
            <a:off x="7221550" y="1591056"/>
            <a:ext cx="1373581" cy="0"/>
          </a:xfrm>
          <a:prstGeom prst="line">
            <a:avLst/>
          </a:prstGeom>
          <a:noFill/>
          <a:ln w="19050">
            <a:solidFill>
              <a:srgbClr val="3C4A5E"/>
            </a:solidFill>
            <a:prstDash val="solid"/>
          </a:ln>
        </p:spPr>
      </p:sp>
      <p:sp>
        <p:nvSpPr>
          <p:cNvPr id="20" name="Shape 18"/>
          <p:cNvSpPr/>
          <p:nvPr/>
        </p:nvSpPr>
        <p:spPr>
          <a:xfrm>
            <a:off x="8640851" y="1417320"/>
            <a:ext cx="347472" cy="347472"/>
          </a:xfrm>
          <a:prstGeom prst="ellipse">
            <a:avLst/>
          </a:prstGeom>
          <a:solidFill>
            <a:srgbClr val="56657C"/>
          </a:solidFill>
          <a:ln w="12700">
            <a:solidFill>
              <a:srgbClr val="56657C"/>
            </a:solidFill>
            <a:prstDash val="solid"/>
          </a:ln>
        </p:spPr>
      </p:sp>
      <p:sp>
        <p:nvSpPr>
          <p:cNvPr id="21" name="Text 19"/>
          <p:cNvSpPr/>
          <p:nvPr/>
        </p:nvSpPr>
        <p:spPr>
          <a:xfrm>
            <a:off x="8640851" y="1417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7954061" y="1874520"/>
            <a:ext cx="1721053" cy="54864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Deployment</a:t>
            </a:r>
            <a:endParaRPr lang="en-US" sz="1150" dirty="0"/>
          </a:p>
        </p:txBody>
      </p:sp>
      <p:sp>
        <p:nvSpPr>
          <p:cNvPr id="23" name="Shape 21"/>
          <p:cNvSpPr/>
          <p:nvPr/>
        </p:nvSpPr>
        <p:spPr>
          <a:xfrm>
            <a:off x="9034043" y="1591056"/>
            <a:ext cx="1373581" cy="0"/>
          </a:xfrm>
          <a:prstGeom prst="line">
            <a:avLst/>
          </a:prstGeom>
          <a:noFill/>
          <a:ln w="19050">
            <a:solidFill>
              <a:srgbClr val="3C4A5E"/>
            </a:solidFill>
            <a:prstDash val="solid"/>
          </a:ln>
        </p:spPr>
      </p:sp>
      <p:sp>
        <p:nvSpPr>
          <p:cNvPr id="24" name="Shape 22"/>
          <p:cNvSpPr/>
          <p:nvPr/>
        </p:nvSpPr>
        <p:spPr>
          <a:xfrm>
            <a:off x="10453345" y="1417320"/>
            <a:ext cx="347472" cy="347472"/>
          </a:xfrm>
          <a:prstGeom prst="ellipse">
            <a:avLst/>
          </a:prstGeom>
          <a:solidFill>
            <a:srgbClr val="56657C"/>
          </a:solidFill>
          <a:ln w="12700">
            <a:solidFill>
              <a:srgbClr val="56657C"/>
            </a:solidFill>
            <a:prstDash val="solid"/>
          </a:ln>
        </p:spPr>
      </p:sp>
      <p:sp>
        <p:nvSpPr>
          <p:cNvPr id="25" name="Text 23"/>
          <p:cNvSpPr/>
          <p:nvPr/>
        </p:nvSpPr>
        <p:spPr>
          <a:xfrm>
            <a:off x="10453345" y="14173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9766554" y="1874520"/>
            <a:ext cx="1721053" cy="548640"/>
          </a:xfrm>
          <a:prstGeom prst="rect">
            <a:avLst/>
          </a:prstGeom>
          <a:noFill/>
          <a:ln/>
        </p:spPr>
        <p:txBody>
          <a:bodyPr wrap="square" lIns="0" tIns="0" rIns="0" bIns="0" rtlCol="0" anchor="ctr"/>
          <a:lstStyle/>
          <a:p>
            <a:pPr algn="ctr" indent="0" marL="0">
              <a:lnSpc>
                <a:spcPts val="1400"/>
              </a:lnSpc>
              <a:buNone/>
            </a:pPr>
            <a:r>
              <a:rPr lang="en-US" sz="1150" b="1" dirty="0">
                <a:solidFill>
                  <a:srgbClr val="FFFFFF"/>
                </a:solidFill>
                <a:latin typeface="Calibri" pitchFamily="34" charset="0"/>
                <a:ea typeface="Calibri" pitchFamily="34" charset="-122"/>
                <a:cs typeface="Calibri" pitchFamily="34" charset="-120"/>
              </a:rPr>
              <a:t>Feedback &amp; iteration</a:t>
            </a:r>
            <a:endParaRPr lang="en-US" sz="1150" dirty="0"/>
          </a:p>
        </p:txBody>
      </p:sp>
      <p:sp>
        <p:nvSpPr>
          <p:cNvPr id="27" name="Text 25"/>
          <p:cNvSpPr/>
          <p:nvPr/>
        </p:nvSpPr>
        <p:spPr>
          <a:xfrm>
            <a:off x="658368" y="2377440"/>
            <a:ext cx="3657600" cy="274320"/>
          </a:xfrm>
          <a:prstGeom prst="rect">
            <a:avLst/>
          </a:prstGeom>
          <a:noFill/>
          <a:ln/>
        </p:spPr>
        <p:txBody>
          <a:bodyPr wrap="square" lIns="0" tIns="0" rIns="0" bIns="0" rtlCol="0" anchor="ctr"/>
          <a:lstStyle/>
          <a:p>
            <a:pPr indent="0" marL="0">
              <a:buNone/>
            </a:pPr>
            <a:r>
              <a:rPr lang="en-US" sz="1300" b="1" dirty="0">
                <a:solidFill>
                  <a:srgbClr val="C8791B"/>
                </a:solidFill>
                <a:latin typeface="Calibri" pitchFamily="34" charset="0"/>
                <a:ea typeface="Calibri" pitchFamily="34" charset="-122"/>
                <a:cs typeface="Calibri" pitchFamily="34" charset="-120"/>
              </a:rPr>
              <a:t>GridPilot AI</a:t>
            </a:r>
            <a:endParaRPr lang="en-US" sz="1300" dirty="0"/>
          </a:p>
        </p:txBody>
      </p:sp>
      <p:sp>
        <p:nvSpPr>
          <p:cNvPr id="28" name="Shape 26"/>
          <p:cNvSpPr/>
          <p:nvPr/>
        </p:nvSpPr>
        <p:spPr>
          <a:xfrm>
            <a:off x="704088" y="2697480"/>
            <a:ext cx="1684477" cy="1280160"/>
          </a:xfrm>
          <a:prstGeom prst="roundRect">
            <a:avLst>
              <a:gd name="adj" fmla="val 5714"/>
            </a:avLst>
          </a:prstGeom>
          <a:solidFill>
            <a:srgbClr val="1F2836"/>
          </a:solidFill>
          <a:ln w="9525">
            <a:solidFill>
              <a:srgbClr val="2E3A4B"/>
            </a:solidFill>
            <a:prstDash val="solid"/>
          </a:ln>
        </p:spPr>
      </p:sp>
      <p:sp>
        <p:nvSpPr>
          <p:cNvPr id="29" name="Text 27"/>
          <p:cNvSpPr/>
          <p:nvPr/>
        </p:nvSpPr>
        <p:spPr>
          <a:xfrm>
            <a:off x="822960" y="280720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Field crews and analysts hunt through binders</a:t>
            </a:r>
            <a:endParaRPr lang="en-US" sz="1050" dirty="0"/>
          </a:p>
        </p:txBody>
      </p:sp>
      <p:sp>
        <p:nvSpPr>
          <p:cNvPr id="30" name="Shape 28"/>
          <p:cNvSpPr/>
          <p:nvPr/>
        </p:nvSpPr>
        <p:spPr>
          <a:xfrm>
            <a:off x="2516581" y="2697480"/>
            <a:ext cx="1684477" cy="1280160"/>
          </a:xfrm>
          <a:prstGeom prst="roundRect">
            <a:avLst>
              <a:gd name="adj" fmla="val 5714"/>
            </a:avLst>
          </a:prstGeom>
          <a:solidFill>
            <a:srgbClr val="1F2836"/>
          </a:solidFill>
          <a:ln w="9525">
            <a:solidFill>
              <a:srgbClr val="2E3A4B"/>
            </a:solidFill>
            <a:prstDash val="solid"/>
          </a:ln>
        </p:spPr>
      </p:sp>
      <p:sp>
        <p:nvSpPr>
          <p:cNvPr id="31" name="Text 29"/>
          <p:cNvSpPr/>
          <p:nvPr/>
        </p:nvSpPr>
        <p:spPr>
          <a:xfrm>
            <a:off x="2635453" y="280720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Retrieval + citations, no invented answers</a:t>
            </a:r>
            <a:endParaRPr lang="en-US" sz="1050" dirty="0"/>
          </a:p>
        </p:txBody>
      </p:sp>
      <p:sp>
        <p:nvSpPr>
          <p:cNvPr id="32" name="Shape 30"/>
          <p:cNvSpPr/>
          <p:nvPr/>
        </p:nvSpPr>
        <p:spPr>
          <a:xfrm>
            <a:off x="4329074" y="2697480"/>
            <a:ext cx="1684477" cy="1280160"/>
          </a:xfrm>
          <a:prstGeom prst="roundRect">
            <a:avLst>
              <a:gd name="adj" fmla="val 5714"/>
            </a:avLst>
          </a:prstGeom>
          <a:solidFill>
            <a:srgbClr val="1F2836"/>
          </a:solidFill>
          <a:ln w="9525">
            <a:solidFill>
              <a:srgbClr val="2E3A4B"/>
            </a:solidFill>
            <a:prstDash val="solid"/>
          </a:ln>
        </p:spPr>
      </p:sp>
      <p:sp>
        <p:nvSpPr>
          <p:cNvPr id="33" name="Text 31"/>
          <p:cNvSpPr/>
          <p:nvPr/>
        </p:nvSpPr>
        <p:spPr>
          <a:xfrm>
            <a:off x="4447946" y="280720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Claude Artifacts, then Vite + React in an IDE</a:t>
            </a:r>
            <a:endParaRPr lang="en-US" sz="1050" dirty="0"/>
          </a:p>
        </p:txBody>
      </p:sp>
      <p:sp>
        <p:nvSpPr>
          <p:cNvPr id="34" name="Shape 32"/>
          <p:cNvSpPr/>
          <p:nvPr/>
        </p:nvSpPr>
        <p:spPr>
          <a:xfrm>
            <a:off x="6141568" y="2697480"/>
            <a:ext cx="1684477" cy="1280160"/>
          </a:xfrm>
          <a:prstGeom prst="roundRect">
            <a:avLst>
              <a:gd name="adj" fmla="val 5714"/>
            </a:avLst>
          </a:prstGeom>
          <a:solidFill>
            <a:srgbClr val="1F2836"/>
          </a:solidFill>
          <a:ln w="9525">
            <a:solidFill>
              <a:srgbClr val="2E3A4B"/>
            </a:solidFill>
            <a:prstDash val="solid"/>
          </a:ln>
        </p:spPr>
      </p:sp>
      <p:sp>
        <p:nvSpPr>
          <p:cNvPr id="35" name="Text 33"/>
          <p:cNvSpPr/>
          <p:nvPr/>
        </p:nvSpPr>
        <p:spPr>
          <a:xfrm>
            <a:off x="6260440" y="280720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Playwright at 3 viewports, security pass</a:t>
            </a:r>
            <a:endParaRPr lang="en-US" sz="1050" dirty="0"/>
          </a:p>
        </p:txBody>
      </p:sp>
      <p:sp>
        <p:nvSpPr>
          <p:cNvPr id="36" name="Shape 34"/>
          <p:cNvSpPr/>
          <p:nvPr/>
        </p:nvSpPr>
        <p:spPr>
          <a:xfrm>
            <a:off x="7954061" y="2697480"/>
            <a:ext cx="1684477" cy="1280160"/>
          </a:xfrm>
          <a:prstGeom prst="roundRect">
            <a:avLst>
              <a:gd name="adj" fmla="val 5714"/>
            </a:avLst>
          </a:prstGeom>
          <a:solidFill>
            <a:srgbClr val="1F2836"/>
          </a:solidFill>
          <a:ln w="9525">
            <a:solidFill>
              <a:srgbClr val="2E3A4B"/>
            </a:solidFill>
            <a:prstDash val="solid"/>
          </a:ln>
        </p:spPr>
      </p:sp>
      <p:sp>
        <p:nvSpPr>
          <p:cNvPr id="37" name="Text 35"/>
          <p:cNvSpPr/>
          <p:nvPr/>
        </p:nvSpPr>
        <p:spPr>
          <a:xfrm>
            <a:off x="8072933" y="280720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Firebase Hosting, CI/CD from GitHub</a:t>
            </a:r>
            <a:endParaRPr lang="en-US" sz="1050" dirty="0"/>
          </a:p>
        </p:txBody>
      </p:sp>
      <p:sp>
        <p:nvSpPr>
          <p:cNvPr id="38" name="Shape 36"/>
          <p:cNvSpPr/>
          <p:nvPr/>
        </p:nvSpPr>
        <p:spPr>
          <a:xfrm>
            <a:off x="9766554" y="2697480"/>
            <a:ext cx="1684477" cy="1280160"/>
          </a:xfrm>
          <a:prstGeom prst="roundRect">
            <a:avLst>
              <a:gd name="adj" fmla="val 5714"/>
            </a:avLst>
          </a:prstGeom>
          <a:solidFill>
            <a:srgbClr val="1F2836"/>
          </a:solidFill>
          <a:ln w="9525">
            <a:solidFill>
              <a:srgbClr val="2E3A4B"/>
            </a:solidFill>
            <a:prstDash val="solid"/>
          </a:ln>
        </p:spPr>
      </p:sp>
      <p:sp>
        <p:nvSpPr>
          <p:cNvPr id="39" name="Text 37"/>
          <p:cNvSpPr/>
          <p:nvPr/>
        </p:nvSpPr>
        <p:spPr>
          <a:xfrm>
            <a:off x="9885426" y="280720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Mobile layout rebuilt after testing</a:t>
            </a:r>
            <a:endParaRPr lang="en-US" sz="1050" dirty="0"/>
          </a:p>
        </p:txBody>
      </p:sp>
      <p:sp>
        <p:nvSpPr>
          <p:cNvPr id="40" name="Text 38"/>
          <p:cNvSpPr/>
          <p:nvPr/>
        </p:nvSpPr>
        <p:spPr>
          <a:xfrm>
            <a:off x="658368" y="4160520"/>
            <a:ext cx="3657600" cy="274320"/>
          </a:xfrm>
          <a:prstGeom prst="rect">
            <a:avLst/>
          </a:prstGeom>
          <a:noFill/>
          <a:ln/>
        </p:spPr>
        <p:txBody>
          <a:bodyPr wrap="square" lIns="0" tIns="0" rIns="0" bIns="0" rtlCol="0" anchor="ctr"/>
          <a:lstStyle/>
          <a:p>
            <a:pPr indent="0" marL="0">
              <a:buNone/>
            </a:pPr>
            <a:r>
              <a:rPr lang="en-US" sz="1300" b="1" dirty="0">
                <a:solidFill>
                  <a:srgbClr val="1B6B52"/>
                </a:solidFill>
                <a:latin typeface="Calibri" pitchFamily="34" charset="0"/>
                <a:ea typeface="Calibri" pitchFamily="34" charset="-122"/>
                <a:cs typeface="Calibri" pitchFamily="34" charset="-120"/>
              </a:rPr>
              <a:t>Meridian Financial</a:t>
            </a:r>
            <a:endParaRPr lang="en-US" sz="1300" dirty="0"/>
          </a:p>
        </p:txBody>
      </p:sp>
      <p:sp>
        <p:nvSpPr>
          <p:cNvPr id="41" name="Shape 39"/>
          <p:cNvSpPr/>
          <p:nvPr/>
        </p:nvSpPr>
        <p:spPr>
          <a:xfrm>
            <a:off x="704088" y="4480560"/>
            <a:ext cx="1684477" cy="1280160"/>
          </a:xfrm>
          <a:prstGeom prst="roundRect">
            <a:avLst>
              <a:gd name="adj" fmla="val 5714"/>
            </a:avLst>
          </a:prstGeom>
          <a:solidFill>
            <a:srgbClr val="1F2836"/>
          </a:solidFill>
          <a:ln w="9525">
            <a:solidFill>
              <a:srgbClr val="2E3A4B"/>
            </a:solidFill>
            <a:prstDash val="solid"/>
          </a:ln>
        </p:spPr>
      </p:sp>
      <p:sp>
        <p:nvSpPr>
          <p:cNvPr id="42" name="Text 40"/>
          <p:cNvSpPr/>
          <p:nvPr/>
        </p:nvSpPr>
        <p:spPr>
          <a:xfrm>
            <a:off x="822960" y="459028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Statements and account feeds silently disagree</a:t>
            </a:r>
            <a:endParaRPr lang="en-US" sz="1050" dirty="0"/>
          </a:p>
        </p:txBody>
      </p:sp>
      <p:sp>
        <p:nvSpPr>
          <p:cNvPr id="43" name="Shape 41"/>
          <p:cNvSpPr/>
          <p:nvPr/>
        </p:nvSpPr>
        <p:spPr>
          <a:xfrm>
            <a:off x="2516581" y="4480560"/>
            <a:ext cx="1684477" cy="1280160"/>
          </a:xfrm>
          <a:prstGeom prst="roundRect">
            <a:avLst>
              <a:gd name="adj" fmla="val 5714"/>
            </a:avLst>
          </a:prstGeom>
          <a:solidFill>
            <a:srgbClr val="1F2836"/>
          </a:solidFill>
          <a:ln w="9525">
            <a:solidFill>
              <a:srgbClr val="2E3A4B"/>
            </a:solidFill>
            <a:prstDash val="solid"/>
          </a:ln>
        </p:spPr>
      </p:sp>
      <p:sp>
        <p:nvSpPr>
          <p:cNvPr id="44" name="Text 42"/>
          <p:cNvSpPr/>
          <p:nvPr/>
        </p:nvSpPr>
        <p:spPr>
          <a:xfrm>
            <a:off x="2635453" y="459028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Local model only, deterministic matching</a:t>
            </a:r>
            <a:endParaRPr lang="en-US" sz="1050" dirty="0"/>
          </a:p>
        </p:txBody>
      </p:sp>
      <p:sp>
        <p:nvSpPr>
          <p:cNvPr id="45" name="Shape 43"/>
          <p:cNvSpPr/>
          <p:nvPr/>
        </p:nvSpPr>
        <p:spPr>
          <a:xfrm>
            <a:off x="4329074" y="4480560"/>
            <a:ext cx="1684477" cy="1280160"/>
          </a:xfrm>
          <a:prstGeom prst="roundRect">
            <a:avLst>
              <a:gd name="adj" fmla="val 5714"/>
            </a:avLst>
          </a:prstGeom>
          <a:solidFill>
            <a:srgbClr val="1F2836"/>
          </a:solidFill>
          <a:ln w="9525">
            <a:solidFill>
              <a:srgbClr val="2E3A4B"/>
            </a:solidFill>
            <a:prstDash val="solid"/>
          </a:ln>
        </p:spPr>
      </p:sp>
      <p:sp>
        <p:nvSpPr>
          <p:cNvPr id="46" name="Text 44"/>
          <p:cNvSpPr/>
          <p:nvPr/>
        </p:nvSpPr>
        <p:spPr>
          <a:xfrm>
            <a:off x="4447946" y="459028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Written brief first, then 15 milestones</a:t>
            </a:r>
            <a:endParaRPr lang="en-US" sz="1050" dirty="0"/>
          </a:p>
        </p:txBody>
      </p:sp>
      <p:sp>
        <p:nvSpPr>
          <p:cNvPr id="47" name="Shape 45"/>
          <p:cNvSpPr/>
          <p:nvPr/>
        </p:nvSpPr>
        <p:spPr>
          <a:xfrm>
            <a:off x="6141568" y="4480560"/>
            <a:ext cx="1684477" cy="1280160"/>
          </a:xfrm>
          <a:prstGeom prst="roundRect">
            <a:avLst>
              <a:gd name="adj" fmla="val 5714"/>
            </a:avLst>
          </a:prstGeom>
          <a:solidFill>
            <a:srgbClr val="1F2836"/>
          </a:solidFill>
          <a:ln w="9525">
            <a:solidFill>
              <a:srgbClr val="2E3A4B"/>
            </a:solidFill>
            <a:prstDash val="solid"/>
          </a:ln>
        </p:spPr>
      </p:sp>
      <p:sp>
        <p:nvSpPr>
          <p:cNvPr id="48" name="Text 46"/>
          <p:cNvSpPr/>
          <p:nvPr/>
        </p:nvSpPr>
        <p:spPr>
          <a:xfrm>
            <a:off x="6260440" y="459028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205 backend tests, real-model runs</a:t>
            </a:r>
            <a:endParaRPr lang="en-US" sz="1050" dirty="0"/>
          </a:p>
        </p:txBody>
      </p:sp>
      <p:sp>
        <p:nvSpPr>
          <p:cNvPr id="49" name="Shape 47"/>
          <p:cNvSpPr/>
          <p:nvPr/>
        </p:nvSpPr>
        <p:spPr>
          <a:xfrm>
            <a:off x="7954061" y="4480560"/>
            <a:ext cx="1684477" cy="1280160"/>
          </a:xfrm>
          <a:prstGeom prst="roundRect">
            <a:avLst>
              <a:gd name="adj" fmla="val 5714"/>
            </a:avLst>
          </a:prstGeom>
          <a:solidFill>
            <a:srgbClr val="1F2836"/>
          </a:solidFill>
          <a:ln w="9525">
            <a:solidFill>
              <a:srgbClr val="2E3A4B"/>
            </a:solidFill>
            <a:prstDash val="solid"/>
          </a:ln>
        </p:spPr>
      </p:sp>
      <p:sp>
        <p:nvSpPr>
          <p:cNvPr id="50" name="Text 48"/>
          <p:cNvSpPr/>
          <p:nvPr/>
        </p:nvSpPr>
        <p:spPr>
          <a:xfrm>
            <a:off x="8072933" y="459028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Cloud Run container, scale to zero</a:t>
            </a:r>
            <a:endParaRPr lang="en-US" sz="1050" dirty="0"/>
          </a:p>
        </p:txBody>
      </p:sp>
      <p:sp>
        <p:nvSpPr>
          <p:cNvPr id="51" name="Shape 49"/>
          <p:cNvSpPr/>
          <p:nvPr/>
        </p:nvSpPr>
        <p:spPr>
          <a:xfrm>
            <a:off x="9766554" y="4480560"/>
            <a:ext cx="1684477" cy="1280160"/>
          </a:xfrm>
          <a:prstGeom prst="roundRect">
            <a:avLst>
              <a:gd name="adj" fmla="val 5714"/>
            </a:avLst>
          </a:prstGeom>
          <a:solidFill>
            <a:srgbClr val="1F2836"/>
          </a:solidFill>
          <a:ln w="9525">
            <a:solidFill>
              <a:srgbClr val="2E3A4B"/>
            </a:solidFill>
            <a:prstDash val="solid"/>
          </a:ln>
        </p:spPr>
      </p:sp>
      <p:sp>
        <p:nvSpPr>
          <p:cNvPr id="52" name="Text 50"/>
          <p:cNvSpPr/>
          <p:nvPr/>
        </p:nvSpPr>
        <p:spPr>
          <a:xfrm>
            <a:off x="9885426" y="4590288"/>
            <a:ext cx="1446733" cy="1060704"/>
          </a:xfrm>
          <a:prstGeom prst="rect">
            <a:avLst/>
          </a:prstGeom>
          <a:noFill/>
          <a:ln/>
        </p:spPr>
        <p:txBody>
          <a:bodyPr wrap="square" lIns="0" tIns="0" rIns="0" bIns="0" rtlCol="0" anchor="t"/>
          <a:lstStyle/>
          <a:p>
            <a:pPr indent="0" marL="0">
              <a:lnSpc>
                <a:spcPts val="1350"/>
              </a:lnSpc>
              <a:buNone/>
            </a:pPr>
            <a:r>
              <a:rPr lang="en-US" sz="1050" dirty="0">
                <a:solidFill>
                  <a:srgbClr val="C6CFDC"/>
                </a:solidFill>
                <a:latin typeface="Calibri" pitchFamily="34" charset="0"/>
                <a:ea typeface="Calibri" pitchFamily="34" charset="-122"/>
                <a:cs typeface="Calibri" pitchFamily="34" charset="-120"/>
              </a:rPr>
              <a:t>Demo profiles seeded end to end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1 · PROBLEM FRAMING</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Answers exist. Finding them is the job.</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463040"/>
            <a:ext cx="5577840" cy="2148840"/>
          </a:xfrm>
          <a:prstGeom prst="roundRect">
            <a:avLst>
              <a:gd name="adj" fmla="val 383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978408" y="1691640"/>
            <a:ext cx="4937760" cy="777240"/>
          </a:xfrm>
          <a:prstGeom prst="rect">
            <a:avLst/>
          </a:prstGeom>
          <a:noFill/>
          <a:ln/>
        </p:spPr>
        <p:txBody>
          <a:bodyPr wrap="square" lIns="0" tIns="0" rIns="0" bIns="0" rtlCol="0" anchor="ctr"/>
          <a:lstStyle/>
          <a:p>
            <a:pPr indent="0" marL="0">
              <a:lnSpc>
                <a:spcPts val="2100"/>
              </a:lnSpc>
              <a:buNone/>
            </a:pPr>
            <a:r>
              <a:rPr lang="en-US" sz="1600" i="1" dirty="0">
                <a:solidFill>
                  <a:srgbClr val="141A24"/>
                </a:solidFill>
                <a:latin typeface="Cambria" pitchFamily="34" charset="0"/>
                <a:ea typeface="Cambria" pitchFamily="34" charset="-122"/>
                <a:cs typeface="Cambria" pitchFamily="34" charset="-120"/>
              </a:rPr>
              <a:t>“What is the maintenance interval for an unmonitored microprocessor relay?”</a:t>
            </a:r>
            <a:endParaRPr lang="en-US" sz="1600" dirty="0"/>
          </a:p>
        </p:txBody>
      </p:sp>
      <p:sp>
        <p:nvSpPr>
          <p:cNvPr id="8" name="Text 6"/>
          <p:cNvSpPr/>
          <p:nvPr/>
        </p:nvSpPr>
        <p:spPr>
          <a:xfrm>
            <a:off x="978408" y="2560320"/>
            <a:ext cx="4937760" cy="86868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The answer is one line in PRC-005-6, Table 1-1. Finding it means knowing the standard exists, having the current revision, and reading to the right table.</a:t>
            </a:r>
            <a:endParaRPr lang="en-US" sz="1250" dirty="0"/>
          </a:p>
        </p:txBody>
      </p:sp>
      <p:sp>
        <p:nvSpPr>
          <p:cNvPr id="9" name="Text 7"/>
          <p:cNvSpPr/>
          <p:nvPr/>
        </p:nvSpPr>
        <p:spPr>
          <a:xfrm>
            <a:off x="658368" y="3886200"/>
            <a:ext cx="557784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Who this hurts</a:t>
            </a:r>
            <a:endParaRPr lang="en-US" sz="1450" dirty="0"/>
          </a:p>
        </p:txBody>
      </p:sp>
      <p:sp>
        <p:nvSpPr>
          <p:cNvPr id="10" name="Shape 8"/>
          <p:cNvSpPr/>
          <p:nvPr/>
        </p:nvSpPr>
        <p:spPr>
          <a:xfrm>
            <a:off x="676656" y="4306824"/>
            <a:ext cx="146304" cy="146304"/>
          </a:xfrm>
          <a:prstGeom prst="ellipse">
            <a:avLst/>
          </a:prstGeom>
          <a:solidFill>
            <a:srgbClr val="C8791B"/>
          </a:solidFill>
          <a:ln/>
        </p:spPr>
      </p:sp>
      <p:sp>
        <p:nvSpPr>
          <p:cNvPr id="11" name="Text 9"/>
          <p:cNvSpPr/>
          <p:nvPr/>
        </p:nvSpPr>
        <p:spPr>
          <a:xfrm>
            <a:off x="932688" y="4224528"/>
            <a:ext cx="1691640" cy="256032"/>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Protection engineers</a:t>
            </a:r>
            <a:endParaRPr lang="en-US" sz="1250" dirty="0"/>
          </a:p>
        </p:txBody>
      </p:sp>
      <p:sp>
        <p:nvSpPr>
          <p:cNvPr id="12" name="Text 10"/>
          <p:cNvSpPr/>
          <p:nvPr/>
        </p:nvSpPr>
        <p:spPr>
          <a:xfrm>
            <a:off x="2670048" y="4224528"/>
            <a:ext cx="356616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Relay settings, maintenance standards, vendor manuals</a:t>
            </a:r>
            <a:endParaRPr lang="en-US" sz="1150" dirty="0"/>
          </a:p>
        </p:txBody>
      </p:sp>
      <p:sp>
        <p:nvSpPr>
          <p:cNvPr id="13" name="Shape 11"/>
          <p:cNvSpPr/>
          <p:nvPr/>
        </p:nvSpPr>
        <p:spPr>
          <a:xfrm>
            <a:off x="676656" y="4873752"/>
            <a:ext cx="146304" cy="146304"/>
          </a:xfrm>
          <a:prstGeom prst="ellipse">
            <a:avLst/>
          </a:prstGeom>
          <a:solidFill>
            <a:srgbClr val="C8791B"/>
          </a:solidFill>
          <a:ln/>
        </p:spPr>
      </p:sp>
      <p:sp>
        <p:nvSpPr>
          <p:cNvPr id="14" name="Text 12"/>
          <p:cNvSpPr/>
          <p:nvPr/>
        </p:nvSpPr>
        <p:spPr>
          <a:xfrm>
            <a:off x="932688" y="4791456"/>
            <a:ext cx="1691640" cy="256032"/>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Compliance analysts</a:t>
            </a:r>
            <a:endParaRPr lang="en-US" sz="1250" dirty="0"/>
          </a:p>
        </p:txBody>
      </p:sp>
      <p:sp>
        <p:nvSpPr>
          <p:cNvPr id="15" name="Text 13"/>
          <p:cNvSpPr/>
          <p:nvPr/>
        </p:nvSpPr>
        <p:spPr>
          <a:xfrm>
            <a:off x="2670048" y="4791456"/>
            <a:ext cx="356616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NERC CIP, TOP and BAL obligations across revisions</a:t>
            </a:r>
            <a:endParaRPr lang="en-US" sz="1150" dirty="0"/>
          </a:p>
        </p:txBody>
      </p:sp>
      <p:sp>
        <p:nvSpPr>
          <p:cNvPr id="16" name="Shape 14"/>
          <p:cNvSpPr/>
          <p:nvPr/>
        </p:nvSpPr>
        <p:spPr>
          <a:xfrm>
            <a:off x="676656" y="5440680"/>
            <a:ext cx="146304" cy="146304"/>
          </a:xfrm>
          <a:prstGeom prst="ellipse">
            <a:avLst/>
          </a:prstGeom>
          <a:solidFill>
            <a:srgbClr val="C8791B"/>
          </a:solidFill>
          <a:ln/>
        </p:spPr>
      </p:sp>
      <p:sp>
        <p:nvSpPr>
          <p:cNvPr id="17" name="Text 15"/>
          <p:cNvSpPr/>
          <p:nvPr/>
        </p:nvSpPr>
        <p:spPr>
          <a:xfrm>
            <a:off x="932688" y="5358384"/>
            <a:ext cx="1691640" cy="256032"/>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Field crews</a:t>
            </a:r>
            <a:endParaRPr lang="en-US" sz="1250" dirty="0"/>
          </a:p>
        </p:txBody>
      </p:sp>
      <p:sp>
        <p:nvSpPr>
          <p:cNvPr id="18" name="Text 16"/>
          <p:cNvSpPr/>
          <p:nvPr/>
        </p:nvSpPr>
        <p:spPr>
          <a:xfrm>
            <a:off x="2670048" y="5358384"/>
            <a:ext cx="356616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Switching procedures, grounding order, on a tablet, in gloves</a:t>
            </a:r>
            <a:endParaRPr lang="en-US" sz="1150" dirty="0"/>
          </a:p>
        </p:txBody>
      </p:sp>
      <p:sp>
        <p:nvSpPr>
          <p:cNvPr id="19" name="Shape 17"/>
          <p:cNvSpPr/>
          <p:nvPr/>
        </p:nvSpPr>
        <p:spPr>
          <a:xfrm>
            <a:off x="6583680" y="1463040"/>
            <a:ext cx="4949647" cy="4343400"/>
          </a:xfrm>
          <a:prstGeom prst="roundRect">
            <a:avLst>
              <a:gd name="adj" fmla="val 1895"/>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0" name="Text 18"/>
          <p:cNvSpPr/>
          <p:nvPr/>
        </p:nvSpPr>
        <p:spPr>
          <a:xfrm>
            <a:off x="6903720" y="1737360"/>
            <a:ext cx="448056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What the assistant has to do differently</a:t>
            </a:r>
            <a:endParaRPr lang="en-US" sz="1450" dirty="0"/>
          </a:p>
        </p:txBody>
      </p:sp>
      <p:sp>
        <p:nvSpPr>
          <p:cNvPr id="21" name="Shape 19"/>
          <p:cNvSpPr/>
          <p:nvPr/>
        </p:nvSpPr>
        <p:spPr>
          <a:xfrm>
            <a:off x="6903720" y="2194560"/>
            <a:ext cx="292608" cy="292608"/>
          </a:xfrm>
          <a:prstGeom prst="ellipse">
            <a:avLst/>
          </a:prstGeom>
          <a:solidFill>
            <a:srgbClr val="C8791B"/>
          </a:solidFill>
          <a:ln w="12700">
            <a:solidFill>
              <a:srgbClr val="C8791B"/>
            </a:solidFill>
            <a:prstDash val="solid"/>
          </a:ln>
        </p:spPr>
      </p:sp>
      <p:sp>
        <p:nvSpPr>
          <p:cNvPr id="22" name="Text 20"/>
          <p:cNvSpPr/>
          <p:nvPr/>
        </p:nvSpPr>
        <p:spPr>
          <a:xfrm>
            <a:off x="6903720" y="21945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p:nvPr/>
        </p:nvSpPr>
        <p:spPr>
          <a:xfrm>
            <a:off x="7360920" y="2176272"/>
            <a:ext cx="402336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Cite the passage</a:t>
            </a:r>
            <a:endParaRPr lang="en-US" sz="1300" dirty="0"/>
          </a:p>
        </p:txBody>
      </p:sp>
      <p:sp>
        <p:nvSpPr>
          <p:cNvPr id="24" name="Text 22"/>
          <p:cNvSpPr/>
          <p:nvPr/>
        </p:nvSpPr>
        <p:spPr>
          <a:xfrm>
            <a:off x="7360920" y="2450592"/>
            <a:ext cx="4023360" cy="54864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Not a document name. The exact paragraph, shown beside the answer.</a:t>
            </a:r>
            <a:endParaRPr lang="en-US" sz="1150" dirty="0"/>
          </a:p>
        </p:txBody>
      </p:sp>
      <p:sp>
        <p:nvSpPr>
          <p:cNvPr id="25" name="Shape 23"/>
          <p:cNvSpPr/>
          <p:nvPr/>
        </p:nvSpPr>
        <p:spPr>
          <a:xfrm>
            <a:off x="6903720" y="3108960"/>
            <a:ext cx="292608" cy="292608"/>
          </a:xfrm>
          <a:prstGeom prst="ellipse">
            <a:avLst/>
          </a:prstGeom>
          <a:solidFill>
            <a:srgbClr val="C8791B"/>
          </a:solidFill>
          <a:ln w="12700">
            <a:solidFill>
              <a:srgbClr val="C8791B"/>
            </a:solidFill>
            <a:prstDash val="solid"/>
          </a:ln>
        </p:spPr>
      </p:sp>
      <p:sp>
        <p:nvSpPr>
          <p:cNvPr id="26" name="Text 24"/>
          <p:cNvSpPr/>
          <p:nvPr/>
        </p:nvSpPr>
        <p:spPr>
          <a:xfrm>
            <a:off x="6903720" y="31089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7" name="Text 25"/>
          <p:cNvSpPr/>
          <p:nvPr/>
        </p:nvSpPr>
        <p:spPr>
          <a:xfrm>
            <a:off x="7360920" y="3090672"/>
            <a:ext cx="402336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Decline when unsure</a:t>
            </a:r>
            <a:endParaRPr lang="en-US" sz="1300" dirty="0"/>
          </a:p>
        </p:txBody>
      </p:sp>
      <p:sp>
        <p:nvSpPr>
          <p:cNvPr id="28" name="Text 26"/>
          <p:cNvSpPr/>
          <p:nvPr/>
        </p:nvSpPr>
        <p:spPr>
          <a:xfrm>
            <a:off x="7360920" y="3364992"/>
            <a:ext cx="4023360" cy="54864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A confident wrong answer about a relay interval is worse than no answer.</a:t>
            </a:r>
            <a:endParaRPr lang="en-US" sz="1150" dirty="0"/>
          </a:p>
        </p:txBody>
      </p:sp>
      <p:sp>
        <p:nvSpPr>
          <p:cNvPr id="29" name="Shape 27"/>
          <p:cNvSpPr/>
          <p:nvPr/>
        </p:nvSpPr>
        <p:spPr>
          <a:xfrm>
            <a:off x="6903720" y="4023360"/>
            <a:ext cx="292608" cy="292608"/>
          </a:xfrm>
          <a:prstGeom prst="ellipse">
            <a:avLst/>
          </a:prstGeom>
          <a:solidFill>
            <a:srgbClr val="C8791B"/>
          </a:solidFill>
          <a:ln w="12700">
            <a:solidFill>
              <a:srgbClr val="C8791B"/>
            </a:solidFill>
            <a:prstDash val="solid"/>
          </a:ln>
        </p:spPr>
      </p:sp>
      <p:sp>
        <p:nvSpPr>
          <p:cNvPr id="30" name="Text 28"/>
          <p:cNvSpPr/>
          <p:nvPr/>
        </p:nvSpPr>
        <p:spPr>
          <a:xfrm>
            <a:off x="6903720" y="40233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p:nvPr/>
        </p:nvSpPr>
        <p:spPr>
          <a:xfrm>
            <a:off x="7360920" y="4005072"/>
            <a:ext cx="402336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Respect the role</a:t>
            </a:r>
            <a:endParaRPr lang="en-US" sz="1300" dirty="0"/>
          </a:p>
        </p:txBody>
      </p:sp>
      <p:sp>
        <p:nvSpPr>
          <p:cNvPr id="32" name="Text 30"/>
          <p:cNvSpPr/>
          <p:nvPr/>
        </p:nvSpPr>
        <p:spPr>
          <a:xfrm>
            <a:off x="7360920" y="4279392"/>
            <a:ext cx="4023360" cy="54864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A field crew running a switching order should not be handed a maintenance standard.</a:t>
            </a:r>
            <a:endParaRPr lang="en-US" sz="1150" dirty="0"/>
          </a:p>
        </p:txBody>
      </p:sp>
      <p:sp>
        <p:nvSpPr>
          <p:cNvPr id="33" name="Shape 31"/>
          <p:cNvSpPr/>
          <p:nvPr/>
        </p:nvSpPr>
        <p:spPr>
          <a:xfrm>
            <a:off x="6903720" y="4937760"/>
            <a:ext cx="292608" cy="292608"/>
          </a:xfrm>
          <a:prstGeom prst="ellipse">
            <a:avLst/>
          </a:prstGeom>
          <a:solidFill>
            <a:srgbClr val="C8791B"/>
          </a:solidFill>
          <a:ln w="12700">
            <a:solidFill>
              <a:srgbClr val="C8791B"/>
            </a:solidFill>
            <a:prstDash val="solid"/>
          </a:ln>
        </p:spPr>
      </p:sp>
      <p:sp>
        <p:nvSpPr>
          <p:cNvPr id="34" name="Text 32"/>
          <p:cNvSpPr/>
          <p:nvPr/>
        </p:nvSpPr>
        <p:spPr>
          <a:xfrm>
            <a:off x="6903720" y="49377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3"/>
          <p:cNvSpPr/>
          <p:nvPr/>
        </p:nvSpPr>
        <p:spPr>
          <a:xfrm>
            <a:off x="7360920" y="4919472"/>
            <a:ext cx="402336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Work on a tablet</a:t>
            </a:r>
            <a:endParaRPr lang="en-US" sz="1300" dirty="0"/>
          </a:p>
        </p:txBody>
      </p:sp>
      <p:sp>
        <p:nvSpPr>
          <p:cNvPr id="36" name="Text 34"/>
          <p:cNvSpPr/>
          <p:nvPr/>
        </p:nvSpPr>
        <p:spPr>
          <a:xfrm>
            <a:off x="7360920" y="5193792"/>
            <a:ext cx="4023360" cy="54864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In the field, one column, large targets, gloved hands.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2 · TECHNICAL SOLUTION</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Choosing the stack, and what it cost</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463040"/>
            <a:ext cx="2651760" cy="2103120"/>
          </a:xfrm>
          <a:prstGeom prst="roundRect">
            <a:avLst>
              <a:gd name="adj" fmla="val 391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Shape 5"/>
          <p:cNvSpPr/>
          <p:nvPr/>
        </p:nvSpPr>
        <p:spPr>
          <a:xfrm>
            <a:off x="914400" y="1691640"/>
            <a:ext cx="1051560" cy="274320"/>
          </a:xfrm>
          <a:prstGeom prst="roundRect">
            <a:avLst>
              <a:gd name="adj" fmla="val 50000"/>
            </a:avLst>
          </a:prstGeom>
          <a:solidFill>
            <a:srgbClr val="FBF1E2"/>
          </a:solidFill>
          <a:ln w="7620">
            <a:solidFill>
              <a:srgbClr val="C8791B"/>
            </a:solidFill>
            <a:prstDash val="solid"/>
          </a:ln>
        </p:spPr>
      </p:sp>
      <p:sp>
        <p:nvSpPr>
          <p:cNvPr id="8" name="Text 6"/>
          <p:cNvSpPr/>
          <p:nvPr/>
        </p:nvSpPr>
        <p:spPr>
          <a:xfrm>
            <a:off x="914400" y="1691640"/>
            <a:ext cx="1051560" cy="274320"/>
          </a:xfrm>
          <a:prstGeom prst="rect">
            <a:avLst/>
          </a:prstGeom>
          <a:noFill/>
          <a:ln/>
        </p:spPr>
        <p:txBody>
          <a:bodyPr wrap="square" lIns="0" tIns="0" rIns="0" bIns="0" rtlCol="0" anchor="ctr"/>
          <a:lstStyle/>
          <a:p>
            <a:pPr algn="ctr" indent="0" marL="0">
              <a:buNone/>
            </a:pPr>
            <a:r>
              <a:rPr lang="en-US" sz="850" b="1" spc="50" kern="0" dirty="0">
                <a:solidFill>
                  <a:srgbClr val="C8791B"/>
                </a:solidFill>
                <a:latin typeface="Calibri" pitchFamily="34" charset="0"/>
                <a:ea typeface="Calibri" pitchFamily="34" charset="-122"/>
                <a:cs typeface="Calibri" pitchFamily="34" charset="-120"/>
              </a:rPr>
              <a:t>CHOSEN</a:t>
            </a:r>
            <a:endParaRPr lang="en-US" sz="850" dirty="0"/>
          </a:p>
        </p:txBody>
      </p:sp>
      <p:sp>
        <p:nvSpPr>
          <p:cNvPr id="9" name="Text 7"/>
          <p:cNvSpPr/>
          <p:nvPr/>
        </p:nvSpPr>
        <p:spPr>
          <a:xfrm>
            <a:off x="914400" y="2084832"/>
            <a:ext cx="2148840" cy="502920"/>
          </a:xfrm>
          <a:prstGeom prst="rect">
            <a:avLst/>
          </a:prstGeom>
          <a:noFill/>
          <a:ln/>
        </p:spPr>
        <p:txBody>
          <a:bodyPr wrap="square" lIns="0" tIns="0" rIns="0" bIns="0" rtlCol="0" anchor="ctr"/>
          <a:lstStyle/>
          <a:p>
            <a:pPr indent="0" marL="0">
              <a:lnSpc>
                <a:spcPts val="1800"/>
              </a:lnSpc>
              <a:buNone/>
            </a:pPr>
            <a:r>
              <a:rPr lang="en-US" sz="1500" b="1" dirty="0">
                <a:solidFill>
                  <a:srgbClr val="141A24"/>
                </a:solidFill>
                <a:latin typeface="Cambria" pitchFamily="34" charset="0"/>
                <a:ea typeface="Cambria" pitchFamily="34" charset="-122"/>
                <a:cs typeface="Cambria" pitchFamily="34" charset="-120"/>
              </a:rPr>
              <a:t>React 18 + Vite</a:t>
            </a:r>
            <a:endParaRPr lang="en-US" sz="1500" dirty="0"/>
          </a:p>
        </p:txBody>
      </p:sp>
      <p:sp>
        <p:nvSpPr>
          <p:cNvPr id="10" name="Text 8"/>
          <p:cNvSpPr/>
          <p:nvPr/>
        </p:nvSpPr>
        <p:spPr>
          <a:xfrm>
            <a:off x="914400" y="2633472"/>
            <a:ext cx="2148840" cy="82296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Component reuse and a fast dev loop. Vite's production build is what Firebase serves.</a:t>
            </a:r>
            <a:endParaRPr lang="en-US" sz="1150" dirty="0"/>
          </a:p>
        </p:txBody>
      </p:sp>
      <p:sp>
        <p:nvSpPr>
          <p:cNvPr id="11" name="Shape 9"/>
          <p:cNvSpPr/>
          <p:nvPr/>
        </p:nvSpPr>
        <p:spPr>
          <a:xfrm>
            <a:off x="3502152" y="1463040"/>
            <a:ext cx="2651760" cy="2103120"/>
          </a:xfrm>
          <a:prstGeom prst="roundRect">
            <a:avLst>
              <a:gd name="adj" fmla="val 391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2" name="Shape 10"/>
          <p:cNvSpPr/>
          <p:nvPr/>
        </p:nvSpPr>
        <p:spPr>
          <a:xfrm>
            <a:off x="3758184" y="1691640"/>
            <a:ext cx="1051560" cy="274320"/>
          </a:xfrm>
          <a:prstGeom prst="roundRect">
            <a:avLst>
              <a:gd name="adj" fmla="val 50000"/>
            </a:avLst>
          </a:prstGeom>
          <a:solidFill>
            <a:srgbClr val="F5E4C8"/>
          </a:solidFill>
          <a:ln w="7620">
            <a:solidFill>
              <a:srgbClr val="C8791B"/>
            </a:solidFill>
            <a:prstDash val="solid"/>
          </a:ln>
        </p:spPr>
      </p:sp>
      <p:sp>
        <p:nvSpPr>
          <p:cNvPr id="13" name="Text 11"/>
          <p:cNvSpPr/>
          <p:nvPr/>
        </p:nvSpPr>
        <p:spPr>
          <a:xfrm>
            <a:off x="3758184" y="1691640"/>
            <a:ext cx="1051560" cy="274320"/>
          </a:xfrm>
          <a:prstGeom prst="rect">
            <a:avLst/>
          </a:prstGeom>
          <a:noFill/>
          <a:ln/>
        </p:spPr>
        <p:txBody>
          <a:bodyPr wrap="square" lIns="0" tIns="0" rIns="0" bIns="0" rtlCol="0" anchor="ctr"/>
          <a:lstStyle/>
          <a:p>
            <a:pPr algn="ctr" indent="0" marL="0">
              <a:buNone/>
            </a:pPr>
            <a:r>
              <a:rPr lang="en-US" sz="850" b="1" spc="50" kern="0" dirty="0">
                <a:solidFill>
                  <a:srgbClr val="C8791B"/>
                </a:solidFill>
                <a:latin typeface="Calibri" pitchFamily="34" charset="0"/>
                <a:ea typeface="Calibri" pitchFamily="34" charset="-122"/>
                <a:cs typeface="Calibri" pitchFamily="34" charset="-120"/>
              </a:rPr>
              <a:t>SIMULATED</a:t>
            </a:r>
            <a:endParaRPr lang="en-US" sz="850" dirty="0"/>
          </a:p>
        </p:txBody>
      </p:sp>
      <p:sp>
        <p:nvSpPr>
          <p:cNvPr id="14" name="Text 12"/>
          <p:cNvSpPr/>
          <p:nvPr/>
        </p:nvSpPr>
        <p:spPr>
          <a:xfrm>
            <a:off x="3758184" y="2084832"/>
            <a:ext cx="2148840" cy="502920"/>
          </a:xfrm>
          <a:prstGeom prst="rect">
            <a:avLst/>
          </a:prstGeom>
          <a:noFill/>
          <a:ln/>
        </p:spPr>
        <p:txBody>
          <a:bodyPr wrap="square" lIns="0" tIns="0" rIns="0" bIns="0" rtlCol="0" anchor="ctr"/>
          <a:lstStyle/>
          <a:p>
            <a:pPr indent="0" marL="0">
              <a:lnSpc>
                <a:spcPts val="1800"/>
              </a:lnSpc>
              <a:buNone/>
            </a:pPr>
            <a:r>
              <a:rPr lang="en-US" sz="1500" b="1" dirty="0">
                <a:solidFill>
                  <a:srgbClr val="141A24"/>
                </a:solidFill>
                <a:latin typeface="Cambria" pitchFamily="34" charset="0"/>
                <a:ea typeface="Cambria" pitchFamily="34" charset="-122"/>
                <a:cs typeface="Cambria" pitchFamily="34" charset="-120"/>
              </a:rPr>
              <a:t>In-memory retrieval</a:t>
            </a:r>
            <a:endParaRPr lang="en-US" sz="1500" dirty="0"/>
          </a:p>
        </p:txBody>
      </p:sp>
      <p:sp>
        <p:nvSpPr>
          <p:cNvPr id="15" name="Text 13"/>
          <p:cNvSpPr/>
          <p:nvPr/>
        </p:nvSpPr>
        <p:spPr>
          <a:xfrm>
            <a:off x="3758184" y="2633472"/>
            <a:ext cx="2148840" cy="82296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Keyword scoring in src/lib/retrieval.js stands in for a hybrid vector search.</a:t>
            </a:r>
            <a:endParaRPr lang="en-US" sz="1150" dirty="0"/>
          </a:p>
        </p:txBody>
      </p:sp>
      <p:sp>
        <p:nvSpPr>
          <p:cNvPr id="16" name="Shape 14"/>
          <p:cNvSpPr/>
          <p:nvPr/>
        </p:nvSpPr>
        <p:spPr>
          <a:xfrm>
            <a:off x="6345936" y="1463040"/>
            <a:ext cx="2651760" cy="2103120"/>
          </a:xfrm>
          <a:prstGeom prst="roundRect">
            <a:avLst>
              <a:gd name="adj" fmla="val 391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7" name="Shape 15"/>
          <p:cNvSpPr/>
          <p:nvPr/>
        </p:nvSpPr>
        <p:spPr>
          <a:xfrm>
            <a:off x="6601968" y="1691640"/>
            <a:ext cx="1051560" cy="274320"/>
          </a:xfrm>
          <a:prstGeom prst="roundRect">
            <a:avLst>
              <a:gd name="adj" fmla="val 50000"/>
            </a:avLst>
          </a:prstGeom>
          <a:solidFill>
            <a:srgbClr val="FBF1E2"/>
          </a:solidFill>
          <a:ln w="7620">
            <a:solidFill>
              <a:srgbClr val="C8791B"/>
            </a:solidFill>
            <a:prstDash val="solid"/>
          </a:ln>
        </p:spPr>
      </p:sp>
      <p:sp>
        <p:nvSpPr>
          <p:cNvPr id="18" name="Text 16"/>
          <p:cNvSpPr/>
          <p:nvPr/>
        </p:nvSpPr>
        <p:spPr>
          <a:xfrm>
            <a:off x="6601968" y="1691640"/>
            <a:ext cx="1051560" cy="274320"/>
          </a:xfrm>
          <a:prstGeom prst="rect">
            <a:avLst/>
          </a:prstGeom>
          <a:noFill/>
          <a:ln/>
        </p:spPr>
        <p:txBody>
          <a:bodyPr wrap="square" lIns="0" tIns="0" rIns="0" bIns="0" rtlCol="0" anchor="ctr"/>
          <a:lstStyle/>
          <a:p>
            <a:pPr algn="ctr" indent="0" marL="0">
              <a:buNone/>
            </a:pPr>
            <a:r>
              <a:rPr lang="en-US" sz="850" b="1" spc="50" kern="0" dirty="0">
                <a:solidFill>
                  <a:srgbClr val="C8791B"/>
                </a:solidFill>
                <a:latin typeface="Calibri" pitchFamily="34" charset="0"/>
                <a:ea typeface="Calibri" pitchFamily="34" charset="-122"/>
                <a:cs typeface="Calibri" pitchFamily="34" charset="-120"/>
              </a:rPr>
              <a:t>DELIBERATE</a:t>
            </a:r>
            <a:endParaRPr lang="en-US" sz="850" dirty="0"/>
          </a:p>
        </p:txBody>
      </p:sp>
      <p:sp>
        <p:nvSpPr>
          <p:cNvPr id="19" name="Text 17"/>
          <p:cNvSpPr/>
          <p:nvPr/>
        </p:nvSpPr>
        <p:spPr>
          <a:xfrm>
            <a:off x="6601968" y="2084832"/>
            <a:ext cx="2148840" cy="502920"/>
          </a:xfrm>
          <a:prstGeom prst="rect">
            <a:avLst/>
          </a:prstGeom>
          <a:noFill/>
          <a:ln/>
        </p:spPr>
        <p:txBody>
          <a:bodyPr wrap="square" lIns="0" tIns="0" rIns="0" bIns="0" rtlCol="0" anchor="ctr"/>
          <a:lstStyle/>
          <a:p>
            <a:pPr indent="0" marL="0">
              <a:lnSpc>
                <a:spcPts val="1800"/>
              </a:lnSpc>
              <a:buNone/>
            </a:pPr>
            <a:r>
              <a:rPr lang="en-US" sz="1500" b="1" dirty="0">
                <a:solidFill>
                  <a:srgbClr val="141A24"/>
                </a:solidFill>
                <a:latin typeface="Cambria" pitchFamily="34" charset="0"/>
                <a:ea typeface="Cambria" pitchFamily="34" charset="-122"/>
                <a:cs typeface="Cambria" pitchFamily="34" charset="-120"/>
              </a:rPr>
              <a:t>No backend</a:t>
            </a:r>
            <a:endParaRPr lang="en-US" sz="1500" dirty="0"/>
          </a:p>
        </p:txBody>
      </p:sp>
      <p:sp>
        <p:nvSpPr>
          <p:cNvPr id="20" name="Text 18"/>
          <p:cNvSpPr/>
          <p:nvPr/>
        </p:nvSpPr>
        <p:spPr>
          <a:xfrm>
            <a:off x="6601968" y="2633472"/>
            <a:ext cx="2148840" cy="82296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Nothing to secure, nothing to pay for, nothing between the demo and the reviewer.</a:t>
            </a:r>
            <a:endParaRPr lang="en-US" sz="1150" dirty="0"/>
          </a:p>
        </p:txBody>
      </p:sp>
      <p:sp>
        <p:nvSpPr>
          <p:cNvPr id="21" name="Shape 19"/>
          <p:cNvSpPr/>
          <p:nvPr/>
        </p:nvSpPr>
        <p:spPr>
          <a:xfrm>
            <a:off x="9189720" y="1463040"/>
            <a:ext cx="2651760" cy="2103120"/>
          </a:xfrm>
          <a:prstGeom prst="roundRect">
            <a:avLst>
              <a:gd name="adj" fmla="val 391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2" name="Shape 20"/>
          <p:cNvSpPr/>
          <p:nvPr/>
        </p:nvSpPr>
        <p:spPr>
          <a:xfrm>
            <a:off x="9445752" y="1691640"/>
            <a:ext cx="1051560" cy="274320"/>
          </a:xfrm>
          <a:prstGeom prst="roundRect">
            <a:avLst>
              <a:gd name="adj" fmla="val 50000"/>
            </a:avLst>
          </a:prstGeom>
          <a:solidFill>
            <a:srgbClr val="FBF1E2"/>
          </a:solidFill>
          <a:ln w="7620">
            <a:solidFill>
              <a:srgbClr val="C8791B"/>
            </a:solidFill>
            <a:prstDash val="solid"/>
          </a:ln>
        </p:spPr>
      </p:sp>
      <p:sp>
        <p:nvSpPr>
          <p:cNvPr id="23" name="Text 21"/>
          <p:cNvSpPr/>
          <p:nvPr/>
        </p:nvSpPr>
        <p:spPr>
          <a:xfrm>
            <a:off x="9445752" y="1691640"/>
            <a:ext cx="1051560" cy="274320"/>
          </a:xfrm>
          <a:prstGeom prst="rect">
            <a:avLst/>
          </a:prstGeom>
          <a:noFill/>
          <a:ln/>
        </p:spPr>
        <p:txBody>
          <a:bodyPr wrap="square" lIns="0" tIns="0" rIns="0" bIns="0" rtlCol="0" anchor="ctr"/>
          <a:lstStyle/>
          <a:p>
            <a:pPr algn="ctr" indent="0" marL="0">
              <a:buNone/>
            </a:pPr>
            <a:r>
              <a:rPr lang="en-US" sz="850" b="1" spc="50" kern="0" dirty="0">
                <a:solidFill>
                  <a:srgbClr val="C8791B"/>
                </a:solidFill>
                <a:latin typeface="Calibri" pitchFamily="34" charset="0"/>
                <a:ea typeface="Calibri" pitchFamily="34" charset="-122"/>
                <a:cs typeface="Calibri" pitchFamily="34" charset="-120"/>
              </a:rPr>
              <a:t>CHOSEN</a:t>
            </a:r>
            <a:endParaRPr lang="en-US" sz="850" dirty="0"/>
          </a:p>
        </p:txBody>
      </p:sp>
      <p:sp>
        <p:nvSpPr>
          <p:cNvPr id="24" name="Text 22"/>
          <p:cNvSpPr/>
          <p:nvPr/>
        </p:nvSpPr>
        <p:spPr>
          <a:xfrm>
            <a:off x="9445752" y="2084832"/>
            <a:ext cx="2148840" cy="502920"/>
          </a:xfrm>
          <a:prstGeom prst="rect">
            <a:avLst/>
          </a:prstGeom>
          <a:noFill/>
          <a:ln/>
        </p:spPr>
        <p:txBody>
          <a:bodyPr wrap="square" lIns="0" tIns="0" rIns="0" bIns="0" rtlCol="0" anchor="ctr"/>
          <a:lstStyle/>
          <a:p>
            <a:pPr indent="0" marL="0">
              <a:lnSpc>
                <a:spcPts val="1800"/>
              </a:lnSpc>
              <a:buNone/>
            </a:pPr>
            <a:r>
              <a:rPr lang="en-US" sz="1500" b="1" dirty="0">
                <a:solidFill>
                  <a:srgbClr val="141A24"/>
                </a:solidFill>
                <a:latin typeface="Cambria" pitchFamily="34" charset="0"/>
                <a:ea typeface="Cambria" pitchFamily="34" charset="-122"/>
                <a:cs typeface="Cambria" pitchFamily="34" charset="-120"/>
              </a:rPr>
              <a:t>lucide-react only</a:t>
            </a:r>
            <a:endParaRPr lang="en-US" sz="1500" dirty="0"/>
          </a:p>
        </p:txBody>
      </p:sp>
      <p:sp>
        <p:nvSpPr>
          <p:cNvPr id="25" name="Text 23"/>
          <p:cNvSpPr/>
          <p:nvPr/>
        </p:nvSpPr>
        <p:spPr>
          <a:xfrm>
            <a:off x="9445752" y="2633472"/>
            <a:ext cx="2148840" cy="82296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Three dependencies total, so the supply-chain surface stays small.</a:t>
            </a:r>
            <a:endParaRPr lang="en-US" sz="1150" dirty="0"/>
          </a:p>
        </p:txBody>
      </p:sp>
      <p:sp>
        <p:nvSpPr>
          <p:cNvPr id="26" name="Shape 24"/>
          <p:cNvSpPr/>
          <p:nvPr/>
        </p:nvSpPr>
        <p:spPr>
          <a:xfrm>
            <a:off x="658368" y="3840480"/>
            <a:ext cx="10874959" cy="1920240"/>
          </a:xfrm>
          <a:prstGeom prst="roundRect">
            <a:avLst>
              <a:gd name="adj" fmla="val 4286"/>
            </a:avLst>
          </a:prstGeom>
          <a:solidFill>
            <a:srgbClr val="FBF7F0"/>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7" name="Text 25"/>
          <p:cNvSpPr/>
          <p:nvPr/>
        </p:nvSpPr>
        <p:spPr>
          <a:xfrm>
            <a:off x="1024128" y="4114800"/>
            <a:ext cx="1005840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The honest trade, stated in the README rather than discovered by a reviewer</a:t>
            </a:r>
            <a:endParaRPr lang="en-US" sz="1450" dirty="0"/>
          </a:p>
        </p:txBody>
      </p:sp>
      <p:sp>
        <p:nvSpPr>
          <p:cNvPr id="28" name="Text 26"/>
          <p:cNvSpPr/>
          <p:nvPr/>
        </p:nvSpPr>
        <p:spPr>
          <a:xfrm>
            <a:off x="1024128" y="4462272"/>
            <a:ext cx="10424160" cy="1097280"/>
          </a:xfrm>
          <a:prstGeom prst="rect">
            <a:avLst/>
          </a:prstGeom>
          <a:noFill/>
          <a:ln/>
        </p:spPr>
        <p:txBody>
          <a:bodyPr wrap="square" lIns="0" tIns="0" rIns="0" bIns="0" rtlCol="0" anchor="t"/>
          <a:lstStyle/>
          <a:p>
            <a:pPr indent="0" marL="0">
              <a:lnSpc>
                <a:spcPts val="1900"/>
              </a:lnSpc>
              <a:buNone/>
            </a:pPr>
            <a:r>
              <a:rPr lang="en-US" sz="1300" dirty="0">
                <a:solidFill>
                  <a:srgbClr val="36404F"/>
                </a:solidFill>
                <a:latin typeface="Calibri" pitchFamily="34" charset="0"/>
                <a:ea typeface="Calibri" pitchFamily="34" charset="-122"/>
                <a:cs typeface="Calibri" pitchFamily="34" charset="-120"/>
              </a:rPr>
              <a:t>Retrieval is keyword scoring over a seeded document set. There is no vector database and no language model in the deployed build. That is written at the top of the repository, and the production gaps are listed with named technologies: a managed vector store and embeddings, a hosted model for synthesis with a guardrail against uncited claims, an ingestion pipeline, Okta SSO, and CIP-appropriate hosting with audit logging.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2 · ARCHITECTURE</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How a question becomes a cited answer</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691640"/>
            <a:ext cx="1993392" cy="1600200"/>
          </a:xfrm>
          <a:prstGeom prst="roundRect">
            <a:avLst>
              <a:gd name="adj" fmla="val 514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841248" y="1856232"/>
            <a:ext cx="1627632" cy="320040"/>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Role</a:t>
            </a:r>
            <a:endParaRPr lang="en-US" sz="1500" dirty="0"/>
          </a:p>
        </p:txBody>
      </p:sp>
      <p:sp>
        <p:nvSpPr>
          <p:cNvPr id="8" name="Text 6"/>
          <p:cNvSpPr/>
          <p:nvPr/>
        </p:nvSpPr>
        <p:spPr>
          <a:xfrm>
            <a:off x="841248" y="2221992"/>
            <a:ext cx="1627632" cy="91440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Protection engineer,</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compliance analyst,</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or field crew</a:t>
            </a:r>
            <a:endParaRPr lang="en-US" sz="1100" dirty="0"/>
          </a:p>
        </p:txBody>
      </p:sp>
      <p:sp>
        <p:nvSpPr>
          <p:cNvPr id="9" name="Shape 7"/>
          <p:cNvSpPr/>
          <p:nvPr/>
        </p:nvSpPr>
        <p:spPr>
          <a:xfrm>
            <a:off x="2724912" y="2414016"/>
            <a:ext cx="237744" cy="146304"/>
          </a:xfrm>
          <a:prstGeom prst="rightArrow">
            <a:avLst/>
          </a:prstGeom>
          <a:solidFill>
            <a:srgbClr val="DCE1E8"/>
          </a:solidFill>
          <a:ln w="12700">
            <a:solidFill>
              <a:srgbClr val="DCE1E8"/>
            </a:solidFill>
            <a:prstDash val="solid"/>
          </a:ln>
        </p:spPr>
      </p:sp>
      <p:sp>
        <p:nvSpPr>
          <p:cNvPr id="10" name="Shape 8"/>
          <p:cNvSpPr/>
          <p:nvPr/>
        </p:nvSpPr>
        <p:spPr>
          <a:xfrm>
            <a:off x="3035808" y="1691640"/>
            <a:ext cx="1993392" cy="1600200"/>
          </a:xfrm>
          <a:prstGeom prst="roundRect">
            <a:avLst>
              <a:gd name="adj" fmla="val 514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1" name="Text 9"/>
          <p:cNvSpPr/>
          <p:nvPr/>
        </p:nvSpPr>
        <p:spPr>
          <a:xfrm>
            <a:off x="3218688" y="1856232"/>
            <a:ext cx="1627632" cy="320040"/>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Query</a:t>
            </a:r>
            <a:endParaRPr lang="en-US" sz="1500" dirty="0"/>
          </a:p>
        </p:txBody>
      </p:sp>
      <p:sp>
        <p:nvSpPr>
          <p:cNvPr id="12" name="Text 10"/>
          <p:cNvSpPr/>
          <p:nvPr/>
        </p:nvSpPr>
        <p:spPr>
          <a:xfrm>
            <a:off x="3218688" y="2221992"/>
            <a:ext cx="1627632" cy="91440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Natural language,</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validated and</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length-clamped</a:t>
            </a:r>
            <a:endParaRPr lang="en-US" sz="1100" dirty="0"/>
          </a:p>
        </p:txBody>
      </p:sp>
      <p:sp>
        <p:nvSpPr>
          <p:cNvPr id="13" name="Shape 11"/>
          <p:cNvSpPr/>
          <p:nvPr/>
        </p:nvSpPr>
        <p:spPr>
          <a:xfrm>
            <a:off x="5102352" y="2414016"/>
            <a:ext cx="237744" cy="146304"/>
          </a:xfrm>
          <a:prstGeom prst="rightArrow">
            <a:avLst/>
          </a:prstGeom>
          <a:solidFill>
            <a:srgbClr val="DCE1E8"/>
          </a:solidFill>
          <a:ln w="12700">
            <a:solidFill>
              <a:srgbClr val="DCE1E8"/>
            </a:solidFill>
            <a:prstDash val="solid"/>
          </a:ln>
        </p:spPr>
      </p:sp>
      <p:sp>
        <p:nvSpPr>
          <p:cNvPr id="14" name="Shape 12"/>
          <p:cNvSpPr/>
          <p:nvPr/>
        </p:nvSpPr>
        <p:spPr>
          <a:xfrm>
            <a:off x="5413248" y="1691640"/>
            <a:ext cx="1993392" cy="1600200"/>
          </a:xfrm>
          <a:prstGeom prst="roundRect">
            <a:avLst>
              <a:gd name="adj" fmla="val 514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5" name="Text 13"/>
          <p:cNvSpPr/>
          <p:nvPr/>
        </p:nvSpPr>
        <p:spPr>
          <a:xfrm>
            <a:off x="5596128" y="1856232"/>
            <a:ext cx="1627632" cy="320040"/>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Score</a:t>
            </a:r>
            <a:endParaRPr lang="en-US" sz="1500" dirty="0"/>
          </a:p>
        </p:txBody>
      </p:sp>
      <p:sp>
        <p:nvSpPr>
          <p:cNvPr id="16" name="Text 14"/>
          <p:cNvSpPr/>
          <p:nvPr/>
        </p:nvSpPr>
        <p:spPr>
          <a:xfrm>
            <a:off x="5596128" y="2221992"/>
            <a:ext cx="1627632" cy="91440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Tokenize, score every</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visible document</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section by overlap</a:t>
            </a:r>
            <a:endParaRPr lang="en-US" sz="1100" dirty="0"/>
          </a:p>
        </p:txBody>
      </p:sp>
      <p:sp>
        <p:nvSpPr>
          <p:cNvPr id="17" name="Shape 15"/>
          <p:cNvSpPr/>
          <p:nvPr/>
        </p:nvSpPr>
        <p:spPr>
          <a:xfrm>
            <a:off x="7479792" y="2414016"/>
            <a:ext cx="237744" cy="146304"/>
          </a:xfrm>
          <a:prstGeom prst="rightArrow">
            <a:avLst/>
          </a:prstGeom>
          <a:solidFill>
            <a:srgbClr val="DCE1E8"/>
          </a:solidFill>
          <a:ln w="12700">
            <a:solidFill>
              <a:srgbClr val="DCE1E8"/>
            </a:solidFill>
            <a:prstDash val="solid"/>
          </a:ln>
        </p:spPr>
      </p:sp>
      <p:sp>
        <p:nvSpPr>
          <p:cNvPr id="18" name="Shape 16"/>
          <p:cNvSpPr/>
          <p:nvPr/>
        </p:nvSpPr>
        <p:spPr>
          <a:xfrm>
            <a:off x="7790688" y="1691640"/>
            <a:ext cx="1993392" cy="1600200"/>
          </a:xfrm>
          <a:prstGeom prst="roundRect">
            <a:avLst>
              <a:gd name="adj" fmla="val 5143"/>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Text 17"/>
          <p:cNvSpPr/>
          <p:nvPr/>
        </p:nvSpPr>
        <p:spPr>
          <a:xfrm>
            <a:off x="7973568" y="1856232"/>
            <a:ext cx="1627632" cy="320040"/>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Band</a:t>
            </a:r>
            <a:endParaRPr lang="en-US" sz="1500" dirty="0"/>
          </a:p>
        </p:txBody>
      </p:sp>
      <p:sp>
        <p:nvSpPr>
          <p:cNvPr id="20" name="Text 18"/>
          <p:cNvSpPr/>
          <p:nvPr/>
        </p:nvSpPr>
        <p:spPr>
          <a:xfrm>
            <a:off x="7973568" y="2221992"/>
            <a:ext cx="1627632" cy="91440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High / low / none,</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from the top score</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and its margin</a:t>
            </a:r>
            <a:endParaRPr lang="en-US" sz="1100" dirty="0"/>
          </a:p>
        </p:txBody>
      </p:sp>
      <p:sp>
        <p:nvSpPr>
          <p:cNvPr id="21" name="Shape 19"/>
          <p:cNvSpPr/>
          <p:nvPr/>
        </p:nvSpPr>
        <p:spPr>
          <a:xfrm>
            <a:off x="9857232" y="2414016"/>
            <a:ext cx="237744" cy="146304"/>
          </a:xfrm>
          <a:prstGeom prst="rightArrow">
            <a:avLst/>
          </a:prstGeom>
          <a:solidFill>
            <a:srgbClr val="DCE1E8"/>
          </a:solidFill>
          <a:ln w="12700">
            <a:solidFill>
              <a:srgbClr val="DCE1E8"/>
            </a:solidFill>
            <a:prstDash val="solid"/>
          </a:ln>
        </p:spPr>
      </p:sp>
      <p:sp>
        <p:nvSpPr>
          <p:cNvPr id="22" name="Shape 20"/>
          <p:cNvSpPr/>
          <p:nvPr/>
        </p:nvSpPr>
        <p:spPr>
          <a:xfrm>
            <a:off x="10168128" y="1691640"/>
            <a:ext cx="1993392" cy="1600200"/>
          </a:xfrm>
          <a:prstGeom prst="roundRect">
            <a:avLst>
              <a:gd name="adj" fmla="val 5143"/>
            </a:avLst>
          </a:prstGeom>
          <a:solidFill>
            <a:srgbClr val="FBF1E2"/>
          </a:solidFill>
          <a:ln w="13970">
            <a:solidFill>
              <a:srgbClr val="C8791B"/>
            </a:solidFill>
            <a:prstDash val="solid"/>
          </a:ln>
          <a:effectLst>
            <a:outerShdw sx="100000" sy="100000" kx="0" ky="0" algn="bl" rotWithShape="0" blurRad="152400" dist="25400" dir="5400000">
              <a:srgbClr val="8C97A8">
                <a:alpha val="18000"/>
              </a:srgbClr>
            </a:outerShdw>
          </a:effectLst>
        </p:spPr>
      </p:sp>
      <p:sp>
        <p:nvSpPr>
          <p:cNvPr id="23" name="Text 21"/>
          <p:cNvSpPr/>
          <p:nvPr/>
        </p:nvSpPr>
        <p:spPr>
          <a:xfrm>
            <a:off x="10351008" y="1856232"/>
            <a:ext cx="1627632" cy="320040"/>
          </a:xfrm>
          <a:prstGeom prst="rect">
            <a:avLst/>
          </a:prstGeom>
          <a:noFill/>
          <a:ln/>
        </p:spPr>
        <p:txBody>
          <a:bodyPr wrap="square" lIns="0" tIns="0" rIns="0" bIns="0" rtlCol="0" anchor="ctr"/>
          <a:lstStyle/>
          <a:p>
            <a:pPr indent="0" marL="0">
              <a:buNone/>
            </a:pPr>
            <a:r>
              <a:rPr lang="en-US" sz="1500" b="1" dirty="0">
                <a:solidFill>
                  <a:srgbClr val="C8791B"/>
                </a:solidFill>
                <a:latin typeface="Cambria" pitchFamily="34" charset="0"/>
                <a:ea typeface="Cambria" pitchFamily="34" charset="-122"/>
                <a:cs typeface="Cambria" pitchFamily="34" charset="-120"/>
              </a:rPr>
              <a:t>Answer</a:t>
            </a:r>
            <a:endParaRPr lang="en-US" sz="1500" dirty="0"/>
          </a:p>
        </p:txBody>
      </p:sp>
      <p:sp>
        <p:nvSpPr>
          <p:cNvPr id="24" name="Text 22"/>
          <p:cNvSpPr/>
          <p:nvPr/>
        </p:nvSpPr>
        <p:spPr>
          <a:xfrm>
            <a:off x="10351008" y="2221992"/>
            <a:ext cx="1627632" cy="91440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Synthesized text with</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the cited passage</a:t>
            </a:r>
            <a:endParaRPr lang="en-US" sz="1100" dirty="0"/>
          </a:p>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beside it</a:t>
            </a:r>
            <a:endParaRPr lang="en-US" sz="1100" dirty="0"/>
          </a:p>
        </p:txBody>
      </p:sp>
      <p:sp>
        <p:nvSpPr>
          <p:cNvPr id="25" name="Shape 23"/>
          <p:cNvSpPr/>
          <p:nvPr/>
        </p:nvSpPr>
        <p:spPr>
          <a:xfrm>
            <a:off x="7790688" y="3611880"/>
            <a:ext cx="1993392" cy="868680"/>
          </a:xfrm>
          <a:prstGeom prst="roundRect">
            <a:avLst>
              <a:gd name="adj" fmla="val 9474"/>
            </a:avLst>
          </a:prstGeom>
          <a:solidFill>
            <a:srgbClr val="F7E9E9"/>
          </a:solidFill>
          <a:ln w="12700">
            <a:solidFill>
              <a:srgbClr val="A8473F"/>
            </a:solidFill>
            <a:prstDash val="solid"/>
          </a:ln>
        </p:spPr>
      </p:sp>
      <p:sp>
        <p:nvSpPr>
          <p:cNvPr id="26" name="Text 24"/>
          <p:cNvSpPr/>
          <p:nvPr/>
        </p:nvSpPr>
        <p:spPr>
          <a:xfrm>
            <a:off x="7973568" y="3749040"/>
            <a:ext cx="1627632" cy="594360"/>
          </a:xfrm>
          <a:prstGeom prst="rect">
            <a:avLst/>
          </a:prstGeom>
          <a:noFill/>
          <a:ln/>
        </p:spPr>
        <p:txBody>
          <a:bodyPr wrap="square" lIns="0" tIns="0" rIns="0" bIns="0" rtlCol="0" anchor="ctr"/>
          <a:lstStyle/>
          <a:p>
            <a:pPr indent="0" marL="0">
              <a:lnSpc>
                <a:spcPts val="1500"/>
              </a:lnSpc>
              <a:buNone/>
            </a:pPr>
            <a:r>
              <a:rPr lang="en-US" sz="1150" b="1" dirty="0">
                <a:solidFill>
                  <a:srgbClr val="A8473F"/>
                </a:solidFill>
                <a:latin typeface="Calibri" pitchFamily="34" charset="0"/>
                <a:ea typeface="Calibri" pitchFamily="34" charset="-122"/>
                <a:cs typeface="Calibri" pitchFamily="34" charset="-120"/>
              </a:rPr>
              <a:t>No confident source</a:t>
            </a:r>
            <a:endParaRPr lang="en-US" sz="1150" dirty="0"/>
          </a:p>
          <a:p>
            <a:pPr indent="0" marL="0">
              <a:lnSpc>
                <a:spcPts val="1500"/>
              </a:lnSpc>
              <a:buNone/>
            </a:pPr>
            <a:r>
              <a:rPr lang="en-US" sz="1150" b="1" dirty="0">
                <a:solidFill>
                  <a:srgbClr val="A8473F"/>
                </a:solidFill>
                <a:latin typeface="Calibri" pitchFamily="34" charset="0"/>
                <a:ea typeface="Calibri" pitchFamily="34" charset="-122"/>
                <a:cs typeface="Calibri" pitchFamily="34" charset="-120"/>
              </a:rPr>
              <a:t>→ decline card</a:t>
            </a:r>
            <a:endParaRPr lang="en-US" sz="1150" dirty="0"/>
          </a:p>
        </p:txBody>
      </p:sp>
      <p:sp>
        <p:nvSpPr>
          <p:cNvPr id="27" name="Shape 25"/>
          <p:cNvSpPr/>
          <p:nvPr/>
        </p:nvSpPr>
        <p:spPr>
          <a:xfrm>
            <a:off x="8787384" y="3291840"/>
            <a:ext cx="0" cy="320040"/>
          </a:xfrm>
          <a:prstGeom prst="line">
            <a:avLst/>
          </a:prstGeom>
          <a:noFill/>
          <a:ln w="15875">
            <a:solidFill>
              <a:srgbClr val="A8473F"/>
            </a:solidFill>
            <a:prstDash val="solid"/>
            <a:tailEnd type="triangle"/>
          </a:ln>
        </p:spPr>
      </p:sp>
      <p:sp>
        <p:nvSpPr>
          <p:cNvPr id="28" name="Shape 26"/>
          <p:cNvSpPr/>
          <p:nvPr/>
        </p:nvSpPr>
        <p:spPr>
          <a:xfrm>
            <a:off x="658368" y="4800600"/>
            <a:ext cx="10874959" cy="1280160"/>
          </a:xfrm>
          <a:prstGeom prst="roundRect">
            <a:avLst>
              <a:gd name="adj" fmla="val 64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9" name="Text 27"/>
          <p:cNvSpPr/>
          <p:nvPr/>
        </p:nvSpPr>
        <p:spPr>
          <a:xfrm>
            <a:off x="1069848" y="4983480"/>
            <a:ext cx="914400" cy="457200"/>
          </a:xfrm>
          <a:prstGeom prst="rect">
            <a:avLst/>
          </a:prstGeom>
          <a:noFill/>
          <a:ln/>
        </p:spPr>
        <p:txBody>
          <a:bodyPr wrap="square" lIns="0" tIns="0" rIns="0" bIns="0" rtlCol="0" anchor="ctr"/>
          <a:lstStyle/>
          <a:p>
            <a:pPr indent="0" marL="0">
              <a:buNone/>
            </a:pPr>
            <a:r>
              <a:rPr lang="en-US" sz="2600" b="1" dirty="0">
                <a:solidFill>
                  <a:srgbClr val="C8791B"/>
                </a:solidFill>
                <a:latin typeface="Cambria" pitchFamily="34" charset="0"/>
                <a:ea typeface="Cambria" pitchFamily="34" charset="-122"/>
                <a:cs typeface="Cambria" pitchFamily="34" charset="-120"/>
              </a:rPr>
              <a:t>3</a:t>
            </a:r>
            <a:endParaRPr lang="en-US" sz="2600" dirty="0"/>
          </a:p>
        </p:txBody>
      </p:sp>
      <p:sp>
        <p:nvSpPr>
          <p:cNvPr id="30" name="Text 28"/>
          <p:cNvSpPr/>
          <p:nvPr/>
        </p:nvSpPr>
        <p:spPr>
          <a:xfrm>
            <a:off x="2029968" y="5010912"/>
            <a:ext cx="1691640" cy="685800"/>
          </a:xfrm>
          <a:prstGeom prst="rect">
            <a:avLst/>
          </a:prstGeom>
          <a:noFill/>
          <a:ln/>
        </p:spPr>
        <p:txBody>
          <a:bodyPr wrap="square" lIns="0" tIns="0" rIns="0" bIns="0" rtlCol="0" anchor="ctr"/>
          <a:lstStyle/>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personas, each with</a:t>
            </a:r>
            <a:endParaRPr lang="en-US" sz="1050" dirty="0"/>
          </a:p>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its own document set</a:t>
            </a:r>
            <a:endParaRPr lang="en-US" sz="1050" dirty="0"/>
          </a:p>
        </p:txBody>
      </p:sp>
      <p:sp>
        <p:nvSpPr>
          <p:cNvPr id="31" name="Text 29"/>
          <p:cNvSpPr/>
          <p:nvPr/>
        </p:nvSpPr>
        <p:spPr>
          <a:xfrm>
            <a:off x="3767328" y="4983480"/>
            <a:ext cx="914400" cy="457200"/>
          </a:xfrm>
          <a:prstGeom prst="rect">
            <a:avLst/>
          </a:prstGeom>
          <a:noFill/>
          <a:ln/>
        </p:spPr>
        <p:txBody>
          <a:bodyPr wrap="square" lIns="0" tIns="0" rIns="0" bIns="0" rtlCol="0" anchor="ctr"/>
          <a:lstStyle/>
          <a:p>
            <a:pPr indent="0" marL="0">
              <a:buNone/>
            </a:pPr>
            <a:r>
              <a:rPr lang="en-US" sz="2600" b="1" dirty="0">
                <a:solidFill>
                  <a:srgbClr val="C8791B"/>
                </a:solidFill>
                <a:latin typeface="Cambria" pitchFamily="34" charset="0"/>
                <a:ea typeface="Cambria" pitchFamily="34" charset="-122"/>
                <a:cs typeface="Cambria" pitchFamily="34" charset="-120"/>
              </a:rPr>
              <a:t>4</a:t>
            </a:r>
            <a:endParaRPr lang="en-US" sz="2600" dirty="0"/>
          </a:p>
        </p:txBody>
      </p:sp>
      <p:sp>
        <p:nvSpPr>
          <p:cNvPr id="32" name="Text 30"/>
          <p:cNvSpPr/>
          <p:nvPr/>
        </p:nvSpPr>
        <p:spPr>
          <a:xfrm>
            <a:off x="4727448" y="5010912"/>
            <a:ext cx="1691640" cy="685800"/>
          </a:xfrm>
          <a:prstGeom prst="rect">
            <a:avLst/>
          </a:prstGeom>
          <a:noFill/>
          <a:ln/>
        </p:spPr>
        <p:txBody>
          <a:bodyPr wrap="square" lIns="0" tIns="0" rIns="0" bIns="0" rtlCol="0" anchor="ctr"/>
          <a:lstStyle/>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workspace tabs:</a:t>
            </a:r>
            <a:endParaRPr lang="en-US" sz="1050" dirty="0"/>
          </a:p>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search, library, upload, admin</a:t>
            </a:r>
            <a:endParaRPr lang="en-US" sz="1050" dirty="0"/>
          </a:p>
        </p:txBody>
      </p:sp>
      <p:sp>
        <p:nvSpPr>
          <p:cNvPr id="33" name="Text 31"/>
          <p:cNvSpPr/>
          <p:nvPr/>
        </p:nvSpPr>
        <p:spPr>
          <a:xfrm>
            <a:off x="6464808" y="4983480"/>
            <a:ext cx="914400" cy="457200"/>
          </a:xfrm>
          <a:prstGeom prst="rect">
            <a:avLst/>
          </a:prstGeom>
          <a:noFill/>
          <a:ln/>
        </p:spPr>
        <p:txBody>
          <a:bodyPr wrap="square" lIns="0" tIns="0" rIns="0" bIns="0" rtlCol="0" anchor="ctr"/>
          <a:lstStyle/>
          <a:p>
            <a:pPr indent="0" marL="0">
              <a:buNone/>
            </a:pPr>
            <a:r>
              <a:rPr lang="en-US" sz="2600" b="1" dirty="0">
                <a:solidFill>
                  <a:srgbClr val="C8791B"/>
                </a:solidFill>
                <a:latin typeface="Cambria" pitchFamily="34" charset="0"/>
                <a:ea typeface="Cambria" pitchFamily="34" charset="-122"/>
                <a:cs typeface="Cambria" pitchFamily="34" charset="-120"/>
              </a:rPr>
              <a:t>100%</a:t>
            </a:r>
            <a:endParaRPr lang="en-US" sz="2600" dirty="0"/>
          </a:p>
        </p:txBody>
      </p:sp>
      <p:sp>
        <p:nvSpPr>
          <p:cNvPr id="34" name="Text 32"/>
          <p:cNvSpPr/>
          <p:nvPr/>
        </p:nvSpPr>
        <p:spPr>
          <a:xfrm>
            <a:off x="7424928" y="5010912"/>
            <a:ext cx="1691640" cy="685800"/>
          </a:xfrm>
          <a:prstGeom prst="rect">
            <a:avLst/>
          </a:prstGeom>
          <a:noFill/>
          <a:ln/>
        </p:spPr>
        <p:txBody>
          <a:bodyPr wrap="square" lIns="0" tIns="0" rIns="0" bIns="0" rtlCol="0" anchor="ctr"/>
          <a:lstStyle/>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client side — no network</a:t>
            </a:r>
            <a:endParaRPr lang="en-US" sz="1050" dirty="0"/>
          </a:p>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calls, no third-party scripts</a:t>
            </a:r>
            <a:endParaRPr lang="en-US" sz="1050" dirty="0"/>
          </a:p>
        </p:txBody>
      </p:sp>
      <p:sp>
        <p:nvSpPr>
          <p:cNvPr id="35" name="Text 33"/>
          <p:cNvSpPr/>
          <p:nvPr/>
        </p:nvSpPr>
        <p:spPr>
          <a:xfrm>
            <a:off x="9162288" y="4983480"/>
            <a:ext cx="914400" cy="457200"/>
          </a:xfrm>
          <a:prstGeom prst="rect">
            <a:avLst/>
          </a:prstGeom>
          <a:noFill/>
          <a:ln/>
        </p:spPr>
        <p:txBody>
          <a:bodyPr wrap="square" lIns="0" tIns="0" rIns="0" bIns="0" rtlCol="0" anchor="ctr"/>
          <a:lstStyle/>
          <a:p>
            <a:pPr indent="0" marL="0">
              <a:buNone/>
            </a:pPr>
            <a:r>
              <a:rPr lang="en-US" sz="2600" b="1" dirty="0">
                <a:solidFill>
                  <a:srgbClr val="C8791B"/>
                </a:solidFill>
                <a:latin typeface="Cambria" pitchFamily="34" charset="0"/>
                <a:ea typeface="Cambria" pitchFamily="34" charset="-122"/>
                <a:cs typeface="Cambria" pitchFamily="34" charset="-120"/>
              </a:rPr>
              <a:t>1,586</a:t>
            </a:r>
            <a:endParaRPr lang="en-US" sz="2600" dirty="0"/>
          </a:p>
        </p:txBody>
      </p:sp>
      <p:sp>
        <p:nvSpPr>
          <p:cNvPr id="36" name="Text 34"/>
          <p:cNvSpPr/>
          <p:nvPr/>
        </p:nvSpPr>
        <p:spPr>
          <a:xfrm>
            <a:off x="10122408" y="5010912"/>
            <a:ext cx="1691640" cy="685800"/>
          </a:xfrm>
          <a:prstGeom prst="rect">
            <a:avLst/>
          </a:prstGeom>
          <a:noFill/>
          <a:ln/>
        </p:spPr>
        <p:txBody>
          <a:bodyPr wrap="square" lIns="0" tIns="0" rIns="0" bIns="0" rtlCol="0" anchor="ctr"/>
          <a:lstStyle/>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lines across</a:t>
            </a:r>
            <a:endParaRPr lang="en-US" sz="1050" dirty="0"/>
          </a:p>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27 source files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3 · DESIGN &amp; PROTOTYPE</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From a single artifact file to a real project</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pic>
        <p:nvPicPr>
          <p:cNvPr id="6" name="Image 0" descr="/home/user/GridPilot-AI/docs/screenshots/app-running-localhost.png">    </p:cNvPr>
          <p:cNvPicPr>
            <a:picLocks noChangeAspect="1"/>
          </p:cNvPicPr>
          <p:nvPr/>
        </p:nvPicPr>
        <p:blipFill>
          <a:blip r:embed="rId1"/>
          <a:stretch>
            <a:fillRect/>
          </a:stretch>
        </p:blipFill>
        <p:spPr>
          <a:xfrm>
            <a:off x="5989320" y="1417320"/>
            <a:ext cx="5532120" cy="3456432"/>
          </a:xfrm>
          <a:prstGeom prst="rect">
            <a:avLst/>
          </a:prstGeom>
        </p:spPr>
      </p:pic>
      <p:sp>
        <p:nvSpPr>
          <p:cNvPr id="7" name="Text 4"/>
          <p:cNvSpPr/>
          <p:nvPr/>
        </p:nvSpPr>
        <p:spPr>
          <a:xfrm>
            <a:off x="5989320" y="4937760"/>
            <a:ext cx="5532120" cy="274320"/>
          </a:xfrm>
          <a:prstGeom prst="rect">
            <a:avLst/>
          </a:prstGeom>
          <a:noFill/>
          <a:ln/>
        </p:spPr>
        <p:txBody>
          <a:bodyPr wrap="square" lIns="0" tIns="0" rIns="0" bIns="0" rtlCol="0" anchor="ctr"/>
          <a:lstStyle/>
          <a:p>
            <a:pPr indent="0" marL="0">
              <a:buNone/>
            </a:pPr>
            <a:r>
              <a:rPr lang="en-US" sz="1050" i="1" dirty="0">
                <a:solidFill>
                  <a:srgbClr val="737F91"/>
                </a:solidFill>
                <a:latin typeface="Calibri" pitchFamily="34" charset="0"/>
                <a:ea typeface="Calibri" pitchFamily="34" charset="-122"/>
                <a:cs typeface="Calibri" pitchFamily="34" charset="-120"/>
              </a:rPr>
              <a:t>The running app: query, cited answer, and the source passage beside it</a:t>
            </a:r>
            <a:endParaRPr lang="en-US" sz="1050" dirty="0"/>
          </a:p>
        </p:txBody>
      </p:sp>
      <p:sp>
        <p:nvSpPr>
          <p:cNvPr id="8" name="Text 5"/>
          <p:cNvSpPr/>
          <p:nvPr/>
        </p:nvSpPr>
        <p:spPr>
          <a:xfrm>
            <a:off x="658368" y="1508760"/>
            <a:ext cx="502920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Workshop 1 — Claude Artifacts</a:t>
            </a:r>
            <a:endParaRPr lang="en-US" sz="1450" dirty="0"/>
          </a:p>
        </p:txBody>
      </p:sp>
      <p:sp>
        <p:nvSpPr>
          <p:cNvPr id="9" name="Text 6"/>
          <p:cNvSpPr/>
          <p:nvPr/>
        </p:nvSpPr>
        <p:spPr>
          <a:xfrm>
            <a:off x="658368" y="1828800"/>
            <a:ext cx="5029200" cy="1188720"/>
          </a:xfrm>
          <a:prstGeom prst="rect">
            <a:avLst/>
          </a:prstGeom>
          <a:noFill/>
          <a:ln/>
        </p:spPr>
        <p:txBody>
          <a:bodyPr wrap="square" lIns="0" tIns="0" rIns="0" bIns="0" rtlCol="0" anchor="t"/>
          <a:lstStyle/>
          <a:p>
            <a:pPr indent="0" marL="0">
              <a:lnSpc>
                <a:spcPts val="1900"/>
              </a:lnSpc>
              <a:buNone/>
            </a:pPr>
            <a:r>
              <a:rPr lang="en-US" sz="1300" dirty="0">
                <a:solidFill>
                  <a:srgbClr val="36404F"/>
                </a:solidFill>
                <a:latin typeface="Calibri" pitchFamily="34" charset="0"/>
                <a:ea typeface="Calibri" pitchFamily="34" charset="-122"/>
                <a:cs typeface="Calibri" pitchFamily="34" charset="-120"/>
              </a:rPr>
              <a:t>The first version was a single-file artifact: one React component, seeded documents inline, no build step. Good for proving the interaction was worth building. Impossible to test, review, or deploy.</a:t>
            </a:r>
            <a:endParaRPr lang="en-US" sz="1300" dirty="0"/>
          </a:p>
        </p:txBody>
      </p:sp>
      <p:sp>
        <p:nvSpPr>
          <p:cNvPr id="10" name="Text 7"/>
          <p:cNvSpPr/>
          <p:nvPr/>
        </p:nvSpPr>
        <p:spPr>
          <a:xfrm>
            <a:off x="658368" y="2926080"/>
            <a:ext cx="502920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Workshop 2 — into an IDE</a:t>
            </a:r>
            <a:endParaRPr lang="en-US" sz="1450" dirty="0"/>
          </a:p>
        </p:txBody>
      </p:sp>
      <p:sp>
        <p:nvSpPr>
          <p:cNvPr id="11" name="Text 8"/>
          <p:cNvSpPr/>
          <p:nvPr/>
        </p:nvSpPr>
        <p:spPr>
          <a:xfrm>
            <a:off x="658368" y="3246120"/>
            <a:ext cx="5029200" cy="1005840"/>
          </a:xfrm>
          <a:prstGeom prst="rect">
            <a:avLst/>
          </a:prstGeom>
          <a:noFill/>
          <a:ln/>
        </p:spPr>
        <p:txBody>
          <a:bodyPr wrap="square" lIns="0" tIns="0" rIns="0" bIns="0" rtlCol="0" anchor="t"/>
          <a:lstStyle/>
          <a:p>
            <a:pPr indent="0" marL="0">
              <a:lnSpc>
                <a:spcPts val="1900"/>
              </a:lnSpc>
              <a:buNone/>
            </a:pPr>
            <a:r>
              <a:rPr lang="en-US" sz="1300" dirty="0">
                <a:solidFill>
                  <a:srgbClr val="36404F"/>
                </a:solidFill>
                <a:latin typeface="Calibri" pitchFamily="34" charset="0"/>
                <a:ea typeface="Calibri" pitchFamily="34" charset="-122"/>
                <a:cs typeface="Calibri" pitchFamily="34" charset="-120"/>
              </a:rPr>
              <a:t>Migrated to Vite + React as 27 files: components, design tokens, role definitions, seeded data, and the retrieval logic isolated in src/lib/retrieval.js so it could be reasoned about on its own.</a:t>
            </a:r>
            <a:endParaRPr lang="en-US" sz="1300" dirty="0"/>
          </a:p>
        </p:txBody>
      </p:sp>
      <p:sp>
        <p:nvSpPr>
          <p:cNvPr id="12" name="Shape 9"/>
          <p:cNvSpPr/>
          <p:nvPr/>
        </p:nvSpPr>
        <p:spPr>
          <a:xfrm>
            <a:off x="658368" y="4389120"/>
            <a:ext cx="5029200" cy="1417320"/>
          </a:xfrm>
          <a:prstGeom prst="roundRect">
            <a:avLst>
              <a:gd name="adj" fmla="val 5806"/>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3" name="Text 10"/>
          <p:cNvSpPr/>
          <p:nvPr/>
        </p:nvSpPr>
        <p:spPr>
          <a:xfrm>
            <a:off x="978408" y="4572000"/>
            <a:ext cx="4389120" cy="365760"/>
          </a:xfrm>
          <a:prstGeom prst="rect">
            <a:avLst/>
          </a:prstGeom>
          <a:noFill/>
          <a:ln/>
        </p:spPr>
        <p:txBody>
          <a:bodyPr wrap="square" lIns="0" tIns="0" rIns="0" bIns="0" rtlCol="0" anchor="ctr"/>
          <a:lstStyle/>
          <a:p>
            <a:pPr indent="0" marL="0">
              <a:buNone/>
            </a:pPr>
            <a:r>
              <a:rPr lang="en-US" sz="2000" b="1" dirty="0">
                <a:solidFill>
                  <a:srgbClr val="141A24"/>
                </a:solidFill>
                <a:latin typeface="Cambria" pitchFamily="34" charset="0"/>
                <a:ea typeface="Cambria" pitchFamily="34" charset="-122"/>
                <a:cs typeface="Cambria" pitchFamily="34" charset="-120"/>
              </a:rPr>
              <a:t>1 file  →  27 files</a:t>
            </a:r>
            <a:endParaRPr lang="en-US" sz="2000" dirty="0"/>
          </a:p>
        </p:txBody>
      </p:sp>
      <p:sp>
        <p:nvSpPr>
          <p:cNvPr id="14" name="Text 11"/>
          <p:cNvSpPr/>
          <p:nvPr/>
        </p:nvSpPr>
        <p:spPr>
          <a:xfrm>
            <a:off x="978408" y="4983480"/>
            <a:ext cx="4389120" cy="73152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The migration was not cosmetic: separating retrieval from rendering is what made the confidence banding testable, and the design tokens are what made a full dark theme a one-file change.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3 · INTERFACE</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One product, three ways to look at it</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pic>
        <p:nvPicPr>
          <p:cNvPr id="6" name="Image 0" descr="/home/user/GridPilot-AI/docs/screenshots/app-library.png">    </p:cNvPr>
          <p:cNvPicPr>
            <a:picLocks noChangeAspect="1"/>
          </p:cNvPicPr>
          <p:nvPr/>
        </p:nvPicPr>
        <p:blipFill>
          <a:blip r:embed="rId1"/>
          <a:stretch>
            <a:fillRect/>
          </a:stretch>
        </p:blipFill>
        <p:spPr>
          <a:xfrm>
            <a:off x="658368" y="1463040"/>
            <a:ext cx="3520440" cy="2203704"/>
          </a:xfrm>
          <a:prstGeom prst="rect">
            <a:avLst/>
          </a:prstGeom>
        </p:spPr>
      </p:pic>
      <p:sp>
        <p:nvSpPr>
          <p:cNvPr id="7" name="Text 4"/>
          <p:cNvSpPr/>
          <p:nvPr/>
        </p:nvSpPr>
        <p:spPr>
          <a:xfrm>
            <a:off x="658368" y="3767328"/>
            <a:ext cx="352044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Library</a:t>
            </a:r>
            <a:endParaRPr lang="en-US" sz="1500" dirty="0"/>
          </a:p>
        </p:txBody>
      </p:sp>
      <p:sp>
        <p:nvSpPr>
          <p:cNvPr id="8" name="Text 5"/>
          <p:cNvSpPr/>
          <p:nvPr/>
        </p:nvSpPr>
        <p:spPr>
          <a:xfrm>
            <a:off x="658368" y="4078224"/>
            <a:ext cx="3520440" cy="68580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Role-scoped document grid, filterable, with a full reader behind every card</a:t>
            </a:r>
            <a:endParaRPr lang="en-US" sz="1150" dirty="0"/>
          </a:p>
        </p:txBody>
      </p:sp>
      <p:pic>
        <p:nvPicPr>
          <p:cNvPr id="9" name="Image 1" descr="/home/user/GridPilot-AI/docs/screenshots/app-field-mode.png">    </p:cNvPr>
          <p:cNvPicPr>
            <a:picLocks noChangeAspect="1"/>
          </p:cNvPicPr>
          <p:nvPr/>
        </p:nvPicPr>
        <p:blipFill>
          <a:blip r:embed="rId2"/>
          <a:stretch>
            <a:fillRect/>
          </a:stretch>
        </p:blipFill>
        <p:spPr>
          <a:xfrm>
            <a:off x="4361688" y="1463040"/>
            <a:ext cx="3520440" cy="2203704"/>
          </a:xfrm>
          <a:prstGeom prst="rect">
            <a:avLst/>
          </a:prstGeom>
        </p:spPr>
      </p:pic>
      <p:sp>
        <p:nvSpPr>
          <p:cNvPr id="10" name="Text 6"/>
          <p:cNvSpPr/>
          <p:nvPr/>
        </p:nvSpPr>
        <p:spPr>
          <a:xfrm>
            <a:off x="4361688" y="3767328"/>
            <a:ext cx="352044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Field mode</a:t>
            </a:r>
            <a:endParaRPr lang="en-US" sz="1500" dirty="0"/>
          </a:p>
        </p:txBody>
      </p:sp>
      <p:sp>
        <p:nvSpPr>
          <p:cNvPr id="11" name="Text 7"/>
          <p:cNvSpPr/>
          <p:nvPr/>
        </p:nvSpPr>
        <p:spPr>
          <a:xfrm>
            <a:off x="4361688" y="4078224"/>
            <a:ext cx="3520440" cy="68580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One column, large targets, tinted in the field crew's accent, for gloved use</a:t>
            </a:r>
            <a:endParaRPr lang="en-US" sz="1150" dirty="0"/>
          </a:p>
        </p:txBody>
      </p:sp>
      <p:pic>
        <p:nvPicPr>
          <p:cNvPr id="12" name="Image 2" descr="/home/user/GridPilot-AI/docs/screenshots/app-admin-dashboard.png">    </p:cNvPr>
          <p:cNvPicPr>
            <a:picLocks noChangeAspect="1"/>
          </p:cNvPicPr>
          <p:nvPr/>
        </p:nvPicPr>
        <p:blipFill>
          <a:blip r:embed="rId3"/>
          <a:stretch>
            <a:fillRect/>
          </a:stretch>
        </p:blipFill>
        <p:spPr>
          <a:xfrm>
            <a:off x="8065008" y="1463040"/>
            <a:ext cx="3520440" cy="2203704"/>
          </a:xfrm>
          <a:prstGeom prst="rect">
            <a:avLst/>
          </a:prstGeom>
        </p:spPr>
      </p:pic>
      <p:sp>
        <p:nvSpPr>
          <p:cNvPr id="13" name="Text 8"/>
          <p:cNvSpPr/>
          <p:nvPr/>
        </p:nvSpPr>
        <p:spPr>
          <a:xfrm>
            <a:off x="8065008" y="3767328"/>
            <a:ext cx="352044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Admin</a:t>
            </a:r>
            <a:endParaRPr lang="en-US" sz="1500" dirty="0"/>
          </a:p>
        </p:txBody>
      </p:sp>
      <p:sp>
        <p:nvSpPr>
          <p:cNvPr id="14" name="Text 9"/>
          <p:cNvSpPr/>
          <p:nvPr/>
        </p:nvSpPr>
        <p:spPr>
          <a:xfrm>
            <a:off x="8065008" y="4078224"/>
            <a:ext cx="3520440" cy="68580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Searches, average confidence, decline rate, and every flagged query</a:t>
            </a:r>
            <a:endParaRPr lang="en-US" sz="1150" dirty="0"/>
          </a:p>
        </p:txBody>
      </p:sp>
      <p:sp>
        <p:nvSpPr>
          <p:cNvPr id="15" name="Shape 10"/>
          <p:cNvSpPr/>
          <p:nvPr/>
        </p:nvSpPr>
        <p:spPr>
          <a:xfrm>
            <a:off x="658368" y="4937760"/>
            <a:ext cx="10874959" cy="1051560"/>
          </a:xfrm>
          <a:prstGeom prst="roundRect">
            <a:avLst>
              <a:gd name="adj" fmla="val 7826"/>
            </a:avLst>
          </a:prstGeom>
          <a:solidFill>
            <a:srgbClr val="FBF1E2"/>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6" name="Text 11"/>
          <p:cNvSpPr/>
          <p:nvPr/>
        </p:nvSpPr>
        <p:spPr>
          <a:xfrm>
            <a:off x="1024128" y="5120640"/>
            <a:ext cx="5120640" cy="292608"/>
          </a:xfrm>
          <a:prstGeom prst="rect">
            <a:avLst/>
          </a:prstGeom>
          <a:noFill/>
          <a:ln/>
        </p:spPr>
        <p:txBody>
          <a:bodyPr wrap="square" lIns="0" tIns="0" rIns="0" bIns="0" rtlCol="0" anchor="ctr"/>
          <a:lstStyle/>
          <a:p>
            <a:pPr indent="0" marL="0">
              <a:buNone/>
            </a:pPr>
            <a:r>
              <a:rPr lang="en-US" sz="1400" b="1" dirty="0">
                <a:solidFill>
                  <a:srgbClr val="C8791B"/>
                </a:solidFill>
                <a:latin typeface="Calibri" pitchFamily="34" charset="0"/>
                <a:ea typeface="Calibri" pitchFamily="34" charset="-122"/>
                <a:cs typeface="Calibri" pitchFamily="34" charset="-120"/>
              </a:rPr>
              <a:t>Role scoping is product design, not a limitation.</a:t>
            </a:r>
            <a:endParaRPr lang="en-US" sz="1400" dirty="0"/>
          </a:p>
        </p:txBody>
      </p:sp>
      <p:sp>
        <p:nvSpPr>
          <p:cNvPr id="17" name="Text 12"/>
          <p:cNvSpPr/>
          <p:nvPr/>
        </p:nvSpPr>
        <p:spPr>
          <a:xfrm>
            <a:off x="1024128" y="5413248"/>
            <a:ext cx="10424160" cy="457200"/>
          </a:xfrm>
          <a:prstGeom prst="rect">
            <a:avLst/>
          </a:prstGeom>
          <a:noFill/>
          <a:ln/>
        </p:spPr>
        <p:txBody>
          <a:bodyPr wrap="square" lIns="0" tIns="0" rIns="0" bIns="0" rtlCol="0" anchor="ctr"/>
          <a:lstStyle/>
          <a:p>
            <a:pPr indent="0" marL="0">
              <a:lnSpc>
                <a:spcPts val="1550"/>
              </a:lnSpc>
              <a:buNone/>
            </a:pPr>
            <a:r>
              <a:rPr lang="en-US" sz="1200" dirty="0">
                <a:solidFill>
                  <a:srgbClr val="36404F"/>
                </a:solidFill>
                <a:latin typeface="Calibri" pitchFamily="34" charset="0"/>
                <a:ea typeface="Calibri" pitchFamily="34" charset="-122"/>
                <a:cs typeface="Calibri" pitchFamily="34" charset="-120"/>
              </a:rPr>
              <a:t>A field crew view deliberately does not surface PRC-005 or the CIP standards. A compliance analyst sees the full standards set but not the relay setting sheet. Each role sees the documents its work actually uses.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4 · TESTING &amp; RESPONSIBLE AI</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Tested in a real browser, at three sizes</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Text 4"/>
          <p:cNvSpPr/>
          <p:nvPr/>
        </p:nvSpPr>
        <p:spPr>
          <a:xfrm>
            <a:off x="658368" y="1463040"/>
            <a:ext cx="2377440" cy="713232"/>
          </a:xfrm>
          <a:prstGeom prst="rect">
            <a:avLst/>
          </a:prstGeom>
          <a:noFill/>
          <a:ln/>
        </p:spPr>
        <p:txBody>
          <a:bodyPr wrap="square" lIns="0" tIns="0" rIns="0" bIns="0" rtlCol="0" anchor="ctr"/>
          <a:lstStyle/>
          <a:p>
            <a:pPr indent="0" marL="0">
              <a:buNone/>
            </a:pPr>
            <a:r>
              <a:rPr lang="en-US" sz="3600" b="1" dirty="0">
                <a:solidFill>
                  <a:srgbClr val="C8791B"/>
                </a:solidFill>
                <a:latin typeface="Cambria" pitchFamily="34" charset="0"/>
                <a:ea typeface="Cambria" pitchFamily="34" charset="-122"/>
                <a:cs typeface="Cambria" pitchFamily="34" charset="-120"/>
              </a:rPr>
              <a:t>18</a:t>
            </a:r>
            <a:endParaRPr lang="en-US" sz="3600" dirty="0"/>
          </a:p>
        </p:txBody>
      </p:sp>
      <p:sp>
        <p:nvSpPr>
          <p:cNvPr id="7" name="Text 5"/>
          <p:cNvSpPr/>
          <p:nvPr/>
        </p:nvSpPr>
        <p:spPr>
          <a:xfrm>
            <a:off x="658368" y="2084832"/>
            <a:ext cx="2377440" cy="274320"/>
          </a:xfrm>
          <a:prstGeom prst="rect">
            <a:avLst/>
          </a:prstGeom>
          <a:noFill/>
          <a:ln/>
        </p:spPr>
        <p:txBody>
          <a:bodyPr wrap="square" lIns="0" tIns="0" rIns="0" bIns="0" rtlCol="0" anchor="ctr"/>
          <a:lstStyle/>
          <a:p>
            <a:pPr indent="0" marL="0">
              <a:buNone/>
            </a:pPr>
            <a:r>
              <a:rPr lang="en-US" sz="1200" b="1" dirty="0">
                <a:solidFill>
                  <a:srgbClr val="36404F"/>
                </a:solidFill>
                <a:latin typeface="Calibri" pitchFamily="34" charset="0"/>
                <a:ea typeface="Calibri" pitchFamily="34" charset="-122"/>
                <a:cs typeface="Calibri" pitchFamily="34" charset="-120"/>
              </a:rPr>
              <a:t>automated checks</a:t>
            </a:r>
            <a:endParaRPr lang="en-US" sz="1200" dirty="0"/>
          </a:p>
        </p:txBody>
      </p:sp>
      <p:sp>
        <p:nvSpPr>
          <p:cNvPr id="8" name="Text 6"/>
          <p:cNvSpPr/>
          <p:nvPr/>
        </p:nvSpPr>
        <p:spPr>
          <a:xfrm>
            <a:off x="658368" y="2331720"/>
            <a:ext cx="2377440" cy="45720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Driven through Chromium with Playwright</a:t>
            </a:r>
            <a:endParaRPr lang="en-US" sz="1050" dirty="0"/>
          </a:p>
        </p:txBody>
      </p:sp>
      <p:sp>
        <p:nvSpPr>
          <p:cNvPr id="9" name="Text 7"/>
          <p:cNvSpPr/>
          <p:nvPr/>
        </p:nvSpPr>
        <p:spPr>
          <a:xfrm>
            <a:off x="3310128" y="1463040"/>
            <a:ext cx="2377440" cy="713232"/>
          </a:xfrm>
          <a:prstGeom prst="rect">
            <a:avLst/>
          </a:prstGeom>
          <a:noFill/>
          <a:ln/>
        </p:spPr>
        <p:txBody>
          <a:bodyPr wrap="square" lIns="0" tIns="0" rIns="0" bIns="0" rtlCol="0" anchor="ctr"/>
          <a:lstStyle/>
          <a:p>
            <a:pPr indent="0" marL="0">
              <a:buNone/>
            </a:pPr>
            <a:r>
              <a:rPr lang="en-US" sz="3600" b="1" dirty="0">
                <a:solidFill>
                  <a:srgbClr val="C8791B"/>
                </a:solidFill>
                <a:latin typeface="Cambria" pitchFamily="34" charset="0"/>
                <a:ea typeface="Cambria" pitchFamily="34" charset="-122"/>
                <a:cs typeface="Cambria" pitchFamily="34" charset="-120"/>
              </a:rPr>
              <a:t>3</a:t>
            </a:r>
            <a:endParaRPr lang="en-US" sz="3600" dirty="0"/>
          </a:p>
        </p:txBody>
      </p:sp>
      <p:sp>
        <p:nvSpPr>
          <p:cNvPr id="10" name="Text 8"/>
          <p:cNvSpPr/>
          <p:nvPr/>
        </p:nvSpPr>
        <p:spPr>
          <a:xfrm>
            <a:off x="3310128" y="2084832"/>
            <a:ext cx="2377440" cy="274320"/>
          </a:xfrm>
          <a:prstGeom prst="rect">
            <a:avLst/>
          </a:prstGeom>
          <a:noFill/>
          <a:ln/>
        </p:spPr>
        <p:txBody>
          <a:bodyPr wrap="square" lIns="0" tIns="0" rIns="0" bIns="0" rtlCol="0" anchor="ctr"/>
          <a:lstStyle/>
          <a:p>
            <a:pPr indent="0" marL="0">
              <a:buNone/>
            </a:pPr>
            <a:r>
              <a:rPr lang="en-US" sz="1200" b="1" dirty="0">
                <a:solidFill>
                  <a:srgbClr val="36404F"/>
                </a:solidFill>
                <a:latin typeface="Calibri" pitchFamily="34" charset="0"/>
                <a:ea typeface="Calibri" pitchFamily="34" charset="-122"/>
                <a:cs typeface="Calibri" pitchFamily="34" charset="-120"/>
              </a:rPr>
              <a:t>viewports</a:t>
            </a:r>
            <a:endParaRPr lang="en-US" sz="1200" dirty="0"/>
          </a:p>
        </p:txBody>
      </p:sp>
      <p:sp>
        <p:nvSpPr>
          <p:cNvPr id="11" name="Text 9"/>
          <p:cNvSpPr/>
          <p:nvPr/>
        </p:nvSpPr>
        <p:spPr>
          <a:xfrm>
            <a:off x="3310128" y="2331720"/>
            <a:ext cx="2377440" cy="45720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390 phone, 768 tablet, 1440 desktop</a:t>
            </a:r>
            <a:endParaRPr lang="en-US" sz="1050" dirty="0"/>
          </a:p>
        </p:txBody>
      </p:sp>
      <p:sp>
        <p:nvSpPr>
          <p:cNvPr id="12" name="Text 10"/>
          <p:cNvSpPr/>
          <p:nvPr/>
        </p:nvSpPr>
        <p:spPr>
          <a:xfrm>
            <a:off x="5961888" y="1463040"/>
            <a:ext cx="2377440" cy="713232"/>
          </a:xfrm>
          <a:prstGeom prst="rect">
            <a:avLst/>
          </a:prstGeom>
          <a:noFill/>
          <a:ln/>
        </p:spPr>
        <p:txBody>
          <a:bodyPr wrap="square" lIns="0" tIns="0" rIns="0" bIns="0" rtlCol="0" anchor="ctr"/>
          <a:lstStyle/>
          <a:p>
            <a:pPr indent="0" marL="0">
              <a:buNone/>
            </a:pPr>
            <a:r>
              <a:rPr lang="en-US" sz="3600" b="1" dirty="0">
                <a:solidFill>
                  <a:srgbClr val="C8791B"/>
                </a:solidFill>
                <a:latin typeface="Cambria" pitchFamily="34" charset="0"/>
                <a:ea typeface="Cambria" pitchFamily="34" charset="-122"/>
                <a:cs typeface="Cambria" pitchFamily="34" charset="-120"/>
              </a:rPr>
              <a:t>0</a:t>
            </a:r>
            <a:endParaRPr lang="en-US" sz="3600" dirty="0"/>
          </a:p>
        </p:txBody>
      </p:sp>
      <p:sp>
        <p:nvSpPr>
          <p:cNvPr id="13" name="Text 11"/>
          <p:cNvSpPr/>
          <p:nvPr/>
        </p:nvSpPr>
        <p:spPr>
          <a:xfrm>
            <a:off x="5961888" y="2084832"/>
            <a:ext cx="2377440" cy="274320"/>
          </a:xfrm>
          <a:prstGeom prst="rect">
            <a:avLst/>
          </a:prstGeom>
          <a:noFill/>
          <a:ln/>
        </p:spPr>
        <p:txBody>
          <a:bodyPr wrap="square" lIns="0" tIns="0" rIns="0" bIns="0" rtlCol="0" anchor="ctr"/>
          <a:lstStyle/>
          <a:p>
            <a:pPr indent="0" marL="0">
              <a:buNone/>
            </a:pPr>
            <a:r>
              <a:rPr lang="en-US" sz="1200" b="1" dirty="0">
                <a:solidFill>
                  <a:srgbClr val="36404F"/>
                </a:solidFill>
                <a:latin typeface="Calibri" pitchFamily="34" charset="0"/>
                <a:ea typeface="Calibri" pitchFamily="34" charset="-122"/>
                <a:cs typeface="Calibri" pitchFamily="34" charset="-120"/>
              </a:rPr>
              <a:t>console errors</a:t>
            </a:r>
            <a:endParaRPr lang="en-US" sz="1200" dirty="0"/>
          </a:p>
        </p:txBody>
      </p:sp>
      <p:sp>
        <p:nvSpPr>
          <p:cNvPr id="14" name="Text 12"/>
          <p:cNvSpPr/>
          <p:nvPr/>
        </p:nvSpPr>
        <p:spPr>
          <a:xfrm>
            <a:off x="5961888" y="2331720"/>
            <a:ext cx="2377440" cy="45720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Across every run and every route</a:t>
            </a:r>
            <a:endParaRPr lang="en-US" sz="1050" dirty="0"/>
          </a:p>
        </p:txBody>
      </p:sp>
      <p:sp>
        <p:nvSpPr>
          <p:cNvPr id="15" name="Text 13"/>
          <p:cNvSpPr/>
          <p:nvPr/>
        </p:nvSpPr>
        <p:spPr>
          <a:xfrm>
            <a:off x="8613648" y="1463040"/>
            <a:ext cx="2377440" cy="713232"/>
          </a:xfrm>
          <a:prstGeom prst="rect">
            <a:avLst/>
          </a:prstGeom>
          <a:noFill/>
          <a:ln/>
        </p:spPr>
        <p:txBody>
          <a:bodyPr wrap="square" lIns="0" tIns="0" rIns="0" bIns="0" rtlCol="0" anchor="ctr"/>
          <a:lstStyle/>
          <a:p>
            <a:pPr indent="0" marL="0">
              <a:buNone/>
            </a:pPr>
            <a:r>
              <a:rPr lang="en-US" sz="3600" b="1" dirty="0">
                <a:solidFill>
                  <a:srgbClr val="737F91"/>
                </a:solidFill>
                <a:latin typeface="Cambria" pitchFamily="34" charset="0"/>
                <a:ea typeface="Cambria" pitchFamily="34" charset="-122"/>
                <a:cs typeface="Cambria" pitchFamily="34" charset="-120"/>
              </a:rPr>
              <a:t>1</a:t>
            </a:r>
            <a:endParaRPr lang="en-US" sz="3600" dirty="0"/>
          </a:p>
        </p:txBody>
      </p:sp>
      <p:sp>
        <p:nvSpPr>
          <p:cNvPr id="16" name="Text 14"/>
          <p:cNvSpPr/>
          <p:nvPr/>
        </p:nvSpPr>
        <p:spPr>
          <a:xfrm>
            <a:off x="8613648" y="2084832"/>
            <a:ext cx="2377440" cy="274320"/>
          </a:xfrm>
          <a:prstGeom prst="rect">
            <a:avLst/>
          </a:prstGeom>
          <a:noFill/>
          <a:ln/>
        </p:spPr>
        <p:txBody>
          <a:bodyPr wrap="square" lIns="0" tIns="0" rIns="0" bIns="0" rtlCol="0" anchor="ctr"/>
          <a:lstStyle/>
          <a:p>
            <a:pPr indent="0" marL="0">
              <a:buNone/>
            </a:pPr>
            <a:r>
              <a:rPr lang="en-US" sz="1200" b="1" dirty="0">
                <a:solidFill>
                  <a:srgbClr val="36404F"/>
                </a:solidFill>
                <a:latin typeface="Calibri" pitchFamily="34" charset="0"/>
                <a:ea typeface="Calibri" pitchFamily="34" charset="-122"/>
                <a:cs typeface="Calibri" pitchFamily="34" charset="-120"/>
              </a:rPr>
              <a:t>script error, not a bug</a:t>
            </a:r>
            <a:endParaRPr lang="en-US" sz="1200" dirty="0"/>
          </a:p>
        </p:txBody>
      </p:sp>
      <p:sp>
        <p:nvSpPr>
          <p:cNvPr id="17" name="Text 15"/>
          <p:cNvSpPr/>
          <p:nvPr/>
        </p:nvSpPr>
        <p:spPr>
          <a:xfrm>
            <a:off x="8613648" y="2331720"/>
            <a:ext cx="2377440" cy="457200"/>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The test asserted a section title that had been renamed</a:t>
            </a:r>
            <a:endParaRPr lang="en-US" sz="1050" dirty="0"/>
          </a:p>
        </p:txBody>
      </p:sp>
      <p:sp>
        <p:nvSpPr>
          <p:cNvPr id="18" name="Shape 16"/>
          <p:cNvSpPr/>
          <p:nvPr/>
        </p:nvSpPr>
        <p:spPr>
          <a:xfrm>
            <a:off x="658368" y="3063240"/>
            <a:ext cx="5577840" cy="2743200"/>
          </a:xfrm>
          <a:prstGeom prst="roundRect">
            <a:avLst>
              <a:gd name="adj" fmla="val 300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Text 17"/>
          <p:cNvSpPr/>
          <p:nvPr/>
        </p:nvSpPr>
        <p:spPr>
          <a:xfrm>
            <a:off x="978408" y="3291840"/>
            <a:ext cx="493776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What was verified</a:t>
            </a:r>
            <a:endParaRPr lang="en-US" sz="1450" dirty="0"/>
          </a:p>
        </p:txBody>
      </p:sp>
      <p:sp>
        <p:nvSpPr>
          <p:cNvPr id="20" name="Text 18"/>
          <p:cNvSpPr/>
          <p:nvPr/>
        </p:nvSpPr>
        <p:spPr>
          <a:xfrm>
            <a:off x="978408" y="3611880"/>
            <a:ext cx="4937760" cy="210312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Search across high-confidence, low-confidence and declined paths</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Role switching, and that the library contents change with it</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Upload validation, then immediate searchability of the new document</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Feedback thumbs, and the admin metrics that count them</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Light and dark appearance, persisting across reload</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Production build, clean, with no warnings</a:t>
            </a:r>
            <a:endParaRPr lang="en-US" sz="1300" dirty="0"/>
          </a:p>
        </p:txBody>
      </p:sp>
      <p:sp>
        <p:nvSpPr>
          <p:cNvPr id="21" name="Shape 19"/>
          <p:cNvSpPr/>
          <p:nvPr/>
        </p:nvSpPr>
        <p:spPr>
          <a:xfrm>
            <a:off x="6583680" y="3063240"/>
            <a:ext cx="4949647" cy="2743200"/>
          </a:xfrm>
          <a:prstGeom prst="roundRect">
            <a:avLst>
              <a:gd name="adj" fmla="val 3000"/>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2" name="Text 20"/>
          <p:cNvSpPr/>
          <p:nvPr/>
        </p:nvSpPr>
        <p:spPr>
          <a:xfrm>
            <a:off x="6903720" y="3291840"/>
            <a:ext cx="457200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Responsible AI as behaviour, not a disclaimer</a:t>
            </a:r>
            <a:endParaRPr lang="en-US" sz="1450" dirty="0"/>
          </a:p>
        </p:txBody>
      </p:sp>
      <p:sp>
        <p:nvSpPr>
          <p:cNvPr id="23" name="Shape 21"/>
          <p:cNvSpPr/>
          <p:nvPr/>
        </p:nvSpPr>
        <p:spPr>
          <a:xfrm>
            <a:off x="6903720" y="3703320"/>
            <a:ext cx="137160" cy="137160"/>
          </a:xfrm>
          <a:prstGeom prst="ellipse">
            <a:avLst/>
          </a:prstGeom>
          <a:solidFill>
            <a:srgbClr val="C8791B"/>
          </a:solidFill>
          <a:ln/>
        </p:spPr>
      </p:sp>
      <p:sp>
        <p:nvSpPr>
          <p:cNvPr id="24" name="Text 22"/>
          <p:cNvSpPr/>
          <p:nvPr/>
        </p:nvSpPr>
        <p:spPr>
          <a:xfrm>
            <a:off x="7150608" y="3639312"/>
            <a:ext cx="4572000" cy="237744"/>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Every answer carries its source</a:t>
            </a:r>
            <a:endParaRPr lang="en-US" sz="1250" dirty="0"/>
          </a:p>
        </p:txBody>
      </p:sp>
      <p:sp>
        <p:nvSpPr>
          <p:cNvPr id="25" name="Text 23"/>
          <p:cNvSpPr/>
          <p:nvPr/>
        </p:nvSpPr>
        <p:spPr>
          <a:xfrm>
            <a:off x="7150608" y="3867912"/>
            <a:ext cx="4572000" cy="274320"/>
          </a:xfrm>
          <a:prstGeom prst="rect">
            <a:avLst/>
          </a:prstGeom>
          <a:noFill/>
          <a:ln/>
        </p:spPr>
        <p:txBody>
          <a:bodyPr wrap="square" lIns="0" tIns="0" rIns="0" bIns="0" rtlCol="0" anchor="ctr"/>
          <a:lstStyle/>
          <a:p>
            <a:pPr indent="0" marL="0">
              <a:buNone/>
            </a:pPr>
            <a:r>
              <a:rPr lang="en-US" sz="1100" dirty="0">
                <a:solidFill>
                  <a:srgbClr val="737F91"/>
                </a:solidFill>
                <a:latin typeface="Calibri" pitchFamily="34" charset="0"/>
                <a:ea typeface="Calibri" pitchFamily="34" charset="-122"/>
                <a:cs typeface="Calibri" pitchFamily="34" charset="-120"/>
              </a:rPr>
              <a:t>The passage is shown beside the answer, not just named.</a:t>
            </a:r>
            <a:endParaRPr lang="en-US" sz="1100" dirty="0"/>
          </a:p>
        </p:txBody>
      </p:sp>
      <p:sp>
        <p:nvSpPr>
          <p:cNvPr id="26" name="Shape 24"/>
          <p:cNvSpPr/>
          <p:nvPr/>
        </p:nvSpPr>
        <p:spPr>
          <a:xfrm>
            <a:off x="6903720" y="4251960"/>
            <a:ext cx="137160" cy="137160"/>
          </a:xfrm>
          <a:prstGeom prst="ellipse">
            <a:avLst/>
          </a:prstGeom>
          <a:solidFill>
            <a:srgbClr val="C8791B"/>
          </a:solidFill>
          <a:ln/>
        </p:spPr>
      </p:sp>
      <p:sp>
        <p:nvSpPr>
          <p:cNvPr id="27" name="Text 25"/>
          <p:cNvSpPr/>
          <p:nvPr/>
        </p:nvSpPr>
        <p:spPr>
          <a:xfrm>
            <a:off x="7150608" y="4187952"/>
            <a:ext cx="4572000" cy="237744"/>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The assistant declines</a:t>
            </a:r>
            <a:endParaRPr lang="en-US" sz="1250" dirty="0"/>
          </a:p>
        </p:txBody>
      </p:sp>
      <p:sp>
        <p:nvSpPr>
          <p:cNvPr id="28" name="Text 26"/>
          <p:cNvSpPr/>
          <p:nvPr/>
        </p:nvSpPr>
        <p:spPr>
          <a:xfrm>
            <a:off x="7150608" y="4416552"/>
            <a:ext cx="4572000" cy="274320"/>
          </a:xfrm>
          <a:prstGeom prst="rect">
            <a:avLst/>
          </a:prstGeom>
          <a:noFill/>
          <a:ln/>
        </p:spPr>
        <p:txBody>
          <a:bodyPr wrap="square" lIns="0" tIns="0" rIns="0" bIns="0" rtlCol="0" anchor="ctr"/>
          <a:lstStyle/>
          <a:p>
            <a:pPr indent="0" marL="0">
              <a:buNone/>
            </a:pPr>
            <a:r>
              <a:rPr lang="en-US" sz="1100" dirty="0">
                <a:solidFill>
                  <a:srgbClr val="737F91"/>
                </a:solidFill>
                <a:latin typeface="Calibri" pitchFamily="34" charset="0"/>
                <a:ea typeface="Calibri" pitchFamily="34" charset="-122"/>
                <a:cs typeface="Calibri" pitchFamily="34" charset="-120"/>
              </a:rPr>
              <a:t>Below the confidence threshold it says so instead of guessing.</a:t>
            </a:r>
            <a:endParaRPr lang="en-US" sz="1100" dirty="0"/>
          </a:p>
        </p:txBody>
      </p:sp>
      <p:sp>
        <p:nvSpPr>
          <p:cNvPr id="29" name="Shape 27"/>
          <p:cNvSpPr/>
          <p:nvPr/>
        </p:nvSpPr>
        <p:spPr>
          <a:xfrm>
            <a:off x="6903720" y="4800600"/>
            <a:ext cx="137160" cy="137160"/>
          </a:xfrm>
          <a:prstGeom prst="ellipse">
            <a:avLst/>
          </a:prstGeom>
          <a:solidFill>
            <a:srgbClr val="C8791B"/>
          </a:solidFill>
          <a:ln/>
        </p:spPr>
      </p:sp>
      <p:sp>
        <p:nvSpPr>
          <p:cNvPr id="30" name="Text 28"/>
          <p:cNvSpPr/>
          <p:nvPr/>
        </p:nvSpPr>
        <p:spPr>
          <a:xfrm>
            <a:off x="7150608" y="4736592"/>
            <a:ext cx="4572000" cy="237744"/>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Uncertainty is visible</a:t>
            </a:r>
            <a:endParaRPr lang="en-US" sz="1250" dirty="0"/>
          </a:p>
        </p:txBody>
      </p:sp>
      <p:sp>
        <p:nvSpPr>
          <p:cNvPr id="31" name="Text 29"/>
          <p:cNvSpPr/>
          <p:nvPr/>
        </p:nvSpPr>
        <p:spPr>
          <a:xfrm>
            <a:off x="7150608" y="4965192"/>
            <a:ext cx="4572000" cy="274320"/>
          </a:xfrm>
          <a:prstGeom prst="rect">
            <a:avLst/>
          </a:prstGeom>
          <a:noFill/>
          <a:ln/>
        </p:spPr>
        <p:txBody>
          <a:bodyPr wrap="square" lIns="0" tIns="0" rIns="0" bIns="0" rtlCol="0" anchor="ctr"/>
          <a:lstStyle/>
          <a:p>
            <a:pPr indent="0" marL="0">
              <a:buNone/>
            </a:pPr>
            <a:r>
              <a:rPr lang="en-US" sz="1100" dirty="0">
                <a:solidFill>
                  <a:srgbClr val="737F91"/>
                </a:solidFill>
                <a:latin typeface="Calibri" pitchFamily="34" charset="0"/>
                <a:ea typeface="Calibri" pitchFamily="34" charset="-122"/>
                <a:cs typeface="Calibri" pitchFamily="34" charset="-120"/>
              </a:rPr>
              <a:t>A confidence meter, with an accessible value, sits on every answer.</a:t>
            </a:r>
            <a:endParaRPr lang="en-US" sz="1100" dirty="0"/>
          </a:p>
        </p:txBody>
      </p:sp>
      <p:sp>
        <p:nvSpPr>
          <p:cNvPr id="32" name="Shape 30"/>
          <p:cNvSpPr/>
          <p:nvPr/>
        </p:nvSpPr>
        <p:spPr>
          <a:xfrm>
            <a:off x="6903720" y="5349240"/>
            <a:ext cx="137160" cy="137160"/>
          </a:xfrm>
          <a:prstGeom prst="ellipse">
            <a:avLst/>
          </a:prstGeom>
          <a:solidFill>
            <a:srgbClr val="C8791B"/>
          </a:solidFill>
          <a:ln/>
        </p:spPr>
      </p:sp>
      <p:sp>
        <p:nvSpPr>
          <p:cNvPr id="33" name="Text 31"/>
          <p:cNvSpPr/>
          <p:nvPr/>
        </p:nvSpPr>
        <p:spPr>
          <a:xfrm>
            <a:off x="7150608" y="5285232"/>
            <a:ext cx="4572000" cy="237744"/>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Gaps are recorded</a:t>
            </a:r>
            <a:endParaRPr lang="en-US" sz="1250" dirty="0"/>
          </a:p>
        </p:txBody>
      </p:sp>
      <p:sp>
        <p:nvSpPr>
          <p:cNvPr id="34" name="Text 32"/>
          <p:cNvSpPr/>
          <p:nvPr/>
        </p:nvSpPr>
        <p:spPr>
          <a:xfrm>
            <a:off x="7150608" y="5513832"/>
            <a:ext cx="4572000" cy="274320"/>
          </a:xfrm>
          <a:prstGeom prst="rect">
            <a:avLst/>
          </a:prstGeom>
          <a:noFill/>
          <a:ln/>
        </p:spPr>
        <p:txBody>
          <a:bodyPr wrap="square" lIns="0" tIns="0" rIns="0" bIns="0" rtlCol="0" anchor="ctr"/>
          <a:lstStyle/>
          <a:p>
            <a:pPr indent="0" marL="0">
              <a:buNone/>
            </a:pPr>
            <a:r>
              <a:rPr lang="en-US" sz="1100" dirty="0">
                <a:solidFill>
                  <a:srgbClr val="737F91"/>
                </a:solidFill>
                <a:latin typeface="Calibri" pitchFamily="34" charset="0"/>
                <a:ea typeface="Calibri" pitchFamily="34" charset="-122"/>
                <a:cs typeface="Calibri" pitchFamily="34" charset="-120"/>
              </a:rPr>
              <a:t>Declined queries land on the admin dashboard for a human to fix.</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4 · BUGS FOUND AND FIXED</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The bug that only appears at 390 pixels</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463040"/>
            <a:ext cx="5532120" cy="4114800"/>
          </a:xfrm>
          <a:prstGeom prst="roundRect">
            <a:avLst>
              <a:gd name="adj" fmla="val 2000"/>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Shape 5"/>
          <p:cNvSpPr/>
          <p:nvPr/>
        </p:nvSpPr>
        <p:spPr>
          <a:xfrm>
            <a:off x="978408" y="1737360"/>
            <a:ext cx="1234440" cy="292608"/>
          </a:xfrm>
          <a:prstGeom prst="roundRect">
            <a:avLst>
              <a:gd name="adj" fmla="val 50000"/>
            </a:avLst>
          </a:prstGeom>
          <a:solidFill>
            <a:srgbClr val="F7E9E9"/>
          </a:solidFill>
          <a:ln w="8890">
            <a:solidFill>
              <a:srgbClr val="A8473F"/>
            </a:solidFill>
            <a:prstDash val="solid"/>
          </a:ln>
        </p:spPr>
      </p:sp>
      <p:sp>
        <p:nvSpPr>
          <p:cNvPr id="8" name="Text 6"/>
          <p:cNvSpPr/>
          <p:nvPr/>
        </p:nvSpPr>
        <p:spPr>
          <a:xfrm>
            <a:off x="978408" y="1737360"/>
            <a:ext cx="1234440" cy="292608"/>
          </a:xfrm>
          <a:prstGeom prst="rect">
            <a:avLst/>
          </a:prstGeom>
          <a:noFill/>
          <a:ln/>
        </p:spPr>
        <p:txBody>
          <a:bodyPr wrap="square" lIns="0" tIns="0" rIns="0" bIns="0" rtlCol="0" anchor="ctr"/>
          <a:lstStyle/>
          <a:p>
            <a:pPr algn="ctr" indent="0" marL="0">
              <a:buNone/>
            </a:pPr>
            <a:r>
              <a:rPr lang="en-US" sz="950" b="1" spc="80" kern="0" dirty="0">
                <a:solidFill>
                  <a:srgbClr val="A8473F"/>
                </a:solidFill>
                <a:latin typeface="Calibri" pitchFamily="34" charset="0"/>
                <a:ea typeface="Calibri" pitchFamily="34" charset="-122"/>
                <a:cs typeface="Calibri" pitchFamily="34" charset="-120"/>
              </a:rPr>
              <a:t>FOUND</a:t>
            </a:r>
            <a:endParaRPr lang="en-US" sz="950" dirty="0"/>
          </a:p>
        </p:txBody>
      </p:sp>
      <p:sp>
        <p:nvSpPr>
          <p:cNvPr id="9" name="Text 7"/>
          <p:cNvSpPr/>
          <p:nvPr/>
        </p:nvSpPr>
        <p:spPr>
          <a:xfrm>
            <a:off x="978408" y="2148840"/>
            <a:ext cx="4892040" cy="365760"/>
          </a:xfrm>
          <a:prstGeom prst="rect">
            <a:avLst/>
          </a:prstGeom>
          <a:noFill/>
          <a:ln/>
        </p:spPr>
        <p:txBody>
          <a:bodyPr wrap="square" lIns="0" tIns="0" rIns="0" bIns="0" rtlCol="0" anchor="ctr"/>
          <a:lstStyle/>
          <a:p>
            <a:pPr indent="0" marL="0">
              <a:buNone/>
            </a:pPr>
            <a:r>
              <a:rPr lang="en-US" sz="1700" b="1" dirty="0">
                <a:solidFill>
                  <a:srgbClr val="141A24"/>
                </a:solidFill>
                <a:latin typeface="Cambria" pitchFamily="34" charset="0"/>
                <a:ea typeface="Cambria" pitchFamily="34" charset="-122"/>
                <a:cs typeface="Cambria" pitchFamily="34" charset="-120"/>
              </a:rPr>
              <a:t>Mobile layout was fundamentally broken</a:t>
            </a:r>
            <a:endParaRPr lang="en-US" sz="1700" dirty="0"/>
          </a:p>
        </p:txBody>
      </p:sp>
      <p:sp>
        <p:nvSpPr>
          <p:cNvPr id="10" name="Text 8"/>
          <p:cNvSpPr/>
          <p:nvPr/>
        </p:nvSpPr>
        <p:spPr>
          <a:xfrm>
            <a:off x="978408" y="2606040"/>
            <a:ext cx="4892040" cy="100584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The 252px sidebar never collapsed, squeezing content into a sliver</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Header text overlapped the search bar</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The two-pane search compressed both columns past readability</a:t>
            </a:r>
            <a:endParaRPr lang="en-US" sz="1300" dirty="0"/>
          </a:p>
        </p:txBody>
      </p:sp>
      <p:sp>
        <p:nvSpPr>
          <p:cNvPr id="11" name="Text 9"/>
          <p:cNvSpPr/>
          <p:nvPr/>
        </p:nvSpPr>
        <p:spPr>
          <a:xfrm>
            <a:off x="978408" y="3840480"/>
            <a:ext cx="4892040" cy="1097280"/>
          </a:xfrm>
          <a:prstGeom prst="rect">
            <a:avLst/>
          </a:prstGeom>
          <a:noFill/>
          <a:ln/>
        </p:spPr>
        <p:txBody>
          <a:bodyPr wrap="square" lIns="0" tIns="0" rIns="0" bIns="0" rtlCol="0" anchor="ctr"/>
          <a:lstStyle/>
          <a:p>
            <a:pPr indent="0" marL="0">
              <a:lnSpc>
                <a:spcPts val="1600"/>
              </a:lnSpc>
              <a:buNone/>
            </a:pPr>
            <a:r>
              <a:rPr lang="en-US" sz="1200" i="1" dirty="0">
                <a:solidFill>
                  <a:srgbClr val="737F91"/>
                </a:solidFill>
                <a:latin typeface="Calibri" pitchFamily="34" charset="0"/>
                <a:ea typeface="Calibri" pitchFamily="34" charset="-122"/>
                <a:cs typeface="Calibri" pitchFamily="34" charset="-120"/>
              </a:rPr>
              <a:t>Nobody had opened it at phone width. It looked correct on a laptop, and the checklist item that caught it existed only because responsive behaviour was written down as something to test.</a:t>
            </a:r>
            <a:endParaRPr lang="en-US" sz="1200" dirty="0"/>
          </a:p>
        </p:txBody>
      </p:sp>
      <p:sp>
        <p:nvSpPr>
          <p:cNvPr id="12" name="Shape 10"/>
          <p:cNvSpPr/>
          <p:nvPr/>
        </p:nvSpPr>
        <p:spPr>
          <a:xfrm>
            <a:off x="6537960" y="1463040"/>
            <a:ext cx="4995367" cy="4114800"/>
          </a:xfrm>
          <a:prstGeom prst="roundRect">
            <a:avLst>
              <a:gd name="adj" fmla="val 2000"/>
            </a:avLst>
          </a:prstGeom>
          <a:solidFill>
            <a:srgbClr val="FBF1E2"/>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3" name="Shape 11"/>
          <p:cNvSpPr/>
          <p:nvPr/>
        </p:nvSpPr>
        <p:spPr>
          <a:xfrm>
            <a:off x="6858000" y="1737360"/>
            <a:ext cx="1234440" cy="292608"/>
          </a:xfrm>
          <a:prstGeom prst="roundRect">
            <a:avLst>
              <a:gd name="adj" fmla="val 50000"/>
            </a:avLst>
          </a:prstGeom>
          <a:solidFill>
            <a:srgbClr val="FFFFFF"/>
          </a:solidFill>
          <a:ln w="8890">
            <a:solidFill>
              <a:srgbClr val="C8791B"/>
            </a:solidFill>
            <a:prstDash val="solid"/>
          </a:ln>
        </p:spPr>
      </p:sp>
      <p:sp>
        <p:nvSpPr>
          <p:cNvPr id="14" name="Text 12"/>
          <p:cNvSpPr/>
          <p:nvPr/>
        </p:nvSpPr>
        <p:spPr>
          <a:xfrm>
            <a:off x="6858000" y="1737360"/>
            <a:ext cx="1234440" cy="292608"/>
          </a:xfrm>
          <a:prstGeom prst="rect">
            <a:avLst/>
          </a:prstGeom>
          <a:noFill/>
          <a:ln/>
        </p:spPr>
        <p:txBody>
          <a:bodyPr wrap="square" lIns="0" tIns="0" rIns="0" bIns="0" rtlCol="0" anchor="ctr"/>
          <a:lstStyle/>
          <a:p>
            <a:pPr algn="ctr" indent="0" marL="0">
              <a:buNone/>
            </a:pPr>
            <a:r>
              <a:rPr lang="en-US" sz="950" b="1" spc="80" kern="0" dirty="0">
                <a:solidFill>
                  <a:srgbClr val="C8791B"/>
                </a:solidFill>
                <a:latin typeface="Calibri" pitchFamily="34" charset="0"/>
                <a:ea typeface="Calibri" pitchFamily="34" charset="-122"/>
                <a:cs typeface="Calibri" pitchFamily="34" charset="-120"/>
              </a:rPr>
              <a:t>FIXED</a:t>
            </a:r>
            <a:endParaRPr lang="en-US" sz="950" dirty="0"/>
          </a:p>
        </p:txBody>
      </p:sp>
      <p:sp>
        <p:nvSpPr>
          <p:cNvPr id="15" name="Text 13"/>
          <p:cNvSpPr/>
          <p:nvPr/>
        </p:nvSpPr>
        <p:spPr>
          <a:xfrm>
            <a:off x="6858000" y="2148840"/>
            <a:ext cx="4663440" cy="365760"/>
          </a:xfrm>
          <a:prstGeom prst="rect">
            <a:avLst/>
          </a:prstGeom>
          <a:noFill/>
          <a:ln/>
        </p:spPr>
        <p:txBody>
          <a:bodyPr wrap="square" lIns="0" tIns="0" rIns="0" bIns="0" rtlCol="0" anchor="ctr"/>
          <a:lstStyle/>
          <a:p>
            <a:pPr indent="0" marL="0">
              <a:buNone/>
            </a:pPr>
            <a:r>
              <a:rPr lang="en-US" sz="1700" b="1" dirty="0">
                <a:solidFill>
                  <a:srgbClr val="141A24"/>
                </a:solidFill>
                <a:latin typeface="Cambria" pitchFamily="34" charset="0"/>
                <a:ea typeface="Cambria" pitchFamily="34" charset="-122"/>
                <a:cs typeface="Cambria" pitchFamily="34" charset="-120"/>
              </a:rPr>
              <a:t>Two breakpoints, both verified in-browser</a:t>
            </a:r>
            <a:endParaRPr lang="en-US" sz="1700" dirty="0"/>
          </a:p>
        </p:txBody>
      </p:sp>
      <p:sp>
        <p:nvSpPr>
          <p:cNvPr id="16" name="Text 14"/>
          <p:cNvSpPr/>
          <p:nvPr/>
        </p:nvSpPr>
        <p:spPr>
          <a:xfrm>
            <a:off x="6858000" y="2606040"/>
            <a:ext cx="4663440" cy="182880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≤980px: sidebar becomes a drawer, with a scrim and Escape to close</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≤700px: the two panes stack, answer first, source below</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Measured at 390px and 768px: no horizontal overflow</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Found in the same pass: reduced motion missed the loading shimmer</a:t>
            </a:r>
            <a:endParaRPr lang="en-US" sz="1300" dirty="0"/>
          </a:p>
        </p:txBody>
      </p:sp>
      <p:sp>
        <p:nvSpPr>
          <p:cNvPr id="17" name="Text 15"/>
          <p:cNvSpPr/>
          <p:nvPr/>
        </p:nvSpPr>
        <p:spPr>
          <a:xfrm>
            <a:off x="6858000" y="4617720"/>
            <a:ext cx="4663440" cy="777240"/>
          </a:xfrm>
          <a:prstGeom prst="rect">
            <a:avLst/>
          </a:prstGeom>
          <a:noFill/>
          <a:ln/>
        </p:spPr>
        <p:txBody>
          <a:bodyPr wrap="square" lIns="0" tIns="0" rIns="0" bIns="0" rtlCol="0" anchor="ctr"/>
          <a:lstStyle/>
          <a:p>
            <a:pPr indent="0" marL="0">
              <a:lnSpc>
                <a:spcPts val="1600"/>
              </a:lnSpc>
              <a:buNone/>
            </a:pPr>
            <a:r>
              <a:rPr lang="en-US" sz="1200" i="1" dirty="0">
                <a:solidFill>
                  <a:srgbClr val="36404F"/>
                </a:solidFill>
                <a:latin typeface="Calibri" pitchFamily="34" charset="0"/>
                <a:ea typeface="Calibri" pitchFamily="34" charset="-122"/>
                <a:cs typeface="Calibri" pitchFamily="34" charset="-120"/>
              </a:rPr>
              <a:t>Accessibility went in alongside: focus rings on every control, ARIA on the confidence meter, keyboard-only navigation verified end to end.</a:t>
            </a:r>
            <a:endParaRPr lang="en-US" sz="1200" dirty="0"/>
          </a:p>
        </p:txBody>
      </p:sp>
      <p:sp>
        <p:nvSpPr>
          <p:cNvPr id="18" name="Text 16"/>
          <p:cNvSpPr/>
          <p:nvPr/>
        </p:nvSpPr>
        <p:spPr>
          <a:xfrm>
            <a:off x="658368" y="6291072"/>
            <a:ext cx="10874959" cy="274320"/>
          </a:xfrm>
          <a:prstGeom prst="rect">
            <a:avLst/>
          </a:prstGeom>
          <a:noFill/>
          <a:ln/>
        </p:spPr>
        <p:txBody>
          <a:bodyPr wrap="square" lIns="0" tIns="0" rIns="0" bIns="0" rtlCol="0" anchor="ctr"/>
          <a:lstStyle/>
          <a:p>
            <a:pPr indent="0" marL="0">
              <a:buNone/>
            </a:pPr>
            <a:r>
              <a:rPr lang="en-US" sz="1000" i="1" dirty="0">
                <a:solidFill>
                  <a:srgbClr val="737F91"/>
                </a:solidFill>
                <a:latin typeface="Calibri" pitchFamily="34" charset="0"/>
                <a:ea typeface="Calibri" pitchFamily="34" charset="-122"/>
                <a:cs typeface="Calibri" pitchFamily="34" charset="-120"/>
              </a:rPr>
              <a:t>Full detail in docs/testing-report.md and docs/security-checklist.md in the repository.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5 · DEPLOYMENT</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Push to main, and it is live</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600200"/>
            <a:ext cx="2468880" cy="1143000"/>
          </a:xfrm>
          <a:prstGeom prst="roundRect">
            <a:avLst>
              <a:gd name="adj" fmla="val 720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Shape 5"/>
          <p:cNvSpPr/>
          <p:nvPr/>
        </p:nvSpPr>
        <p:spPr>
          <a:xfrm>
            <a:off x="886968" y="1810512"/>
            <a:ext cx="292608" cy="292608"/>
          </a:xfrm>
          <a:prstGeom prst="ellipse">
            <a:avLst/>
          </a:prstGeom>
          <a:solidFill>
            <a:srgbClr val="C8791B"/>
          </a:solidFill>
          <a:ln w="12700">
            <a:solidFill>
              <a:srgbClr val="C8791B"/>
            </a:solidFill>
            <a:prstDash val="solid"/>
          </a:ln>
        </p:spPr>
      </p:sp>
      <p:sp>
        <p:nvSpPr>
          <p:cNvPr id="8" name="Text 6"/>
          <p:cNvSpPr/>
          <p:nvPr/>
        </p:nvSpPr>
        <p:spPr>
          <a:xfrm>
            <a:off x="886968" y="18105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792224"/>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Commit</a:t>
            </a:r>
            <a:endParaRPr lang="en-US" sz="1500" dirty="0"/>
          </a:p>
        </p:txBody>
      </p:sp>
      <p:sp>
        <p:nvSpPr>
          <p:cNvPr id="10" name="Text 8"/>
          <p:cNvSpPr/>
          <p:nvPr/>
        </p:nvSpPr>
        <p:spPr>
          <a:xfrm>
            <a:off x="886968" y="2194560"/>
            <a:ext cx="201168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Push to GitHub</a:t>
            </a:r>
            <a:endParaRPr lang="en-US" sz="1150" dirty="0"/>
          </a:p>
        </p:txBody>
      </p:sp>
      <p:sp>
        <p:nvSpPr>
          <p:cNvPr id="11" name="Shape 9"/>
          <p:cNvSpPr/>
          <p:nvPr/>
        </p:nvSpPr>
        <p:spPr>
          <a:xfrm>
            <a:off x="3218688" y="2103120"/>
            <a:ext cx="320040" cy="146304"/>
          </a:xfrm>
          <a:prstGeom prst="rightArrow">
            <a:avLst/>
          </a:prstGeom>
          <a:solidFill>
            <a:srgbClr val="DCE1E8"/>
          </a:solidFill>
          <a:ln w="12700">
            <a:solidFill>
              <a:srgbClr val="DCE1E8"/>
            </a:solidFill>
            <a:prstDash val="solid"/>
          </a:ln>
        </p:spPr>
      </p:sp>
      <p:sp>
        <p:nvSpPr>
          <p:cNvPr id="12" name="Shape 10"/>
          <p:cNvSpPr/>
          <p:nvPr/>
        </p:nvSpPr>
        <p:spPr>
          <a:xfrm>
            <a:off x="3630168" y="1600200"/>
            <a:ext cx="2468880" cy="1143000"/>
          </a:xfrm>
          <a:prstGeom prst="roundRect">
            <a:avLst>
              <a:gd name="adj" fmla="val 720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3" name="Shape 11"/>
          <p:cNvSpPr/>
          <p:nvPr/>
        </p:nvSpPr>
        <p:spPr>
          <a:xfrm>
            <a:off x="3858768" y="1810512"/>
            <a:ext cx="292608" cy="292608"/>
          </a:xfrm>
          <a:prstGeom prst="ellipse">
            <a:avLst/>
          </a:prstGeom>
          <a:solidFill>
            <a:srgbClr val="C8791B"/>
          </a:solidFill>
          <a:ln w="12700">
            <a:solidFill>
              <a:srgbClr val="C8791B"/>
            </a:solidFill>
            <a:prstDash val="solid"/>
          </a:ln>
        </p:spPr>
      </p:sp>
      <p:sp>
        <p:nvSpPr>
          <p:cNvPr id="14" name="Text 12"/>
          <p:cNvSpPr/>
          <p:nvPr/>
        </p:nvSpPr>
        <p:spPr>
          <a:xfrm>
            <a:off x="3858768" y="18105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251960" y="1792224"/>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Build</a:t>
            </a:r>
            <a:endParaRPr lang="en-US" sz="1500" dirty="0"/>
          </a:p>
        </p:txBody>
      </p:sp>
      <p:sp>
        <p:nvSpPr>
          <p:cNvPr id="16" name="Text 14"/>
          <p:cNvSpPr/>
          <p:nvPr/>
        </p:nvSpPr>
        <p:spPr>
          <a:xfrm>
            <a:off x="3858768" y="2194560"/>
            <a:ext cx="201168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npm ci, then vite build</a:t>
            </a:r>
            <a:endParaRPr lang="en-US" sz="1150" dirty="0"/>
          </a:p>
        </p:txBody>
      </p:sp>
      <p:sp>
        <p:nvSpPr>
          <p:cNvPr id="17" name="Shape 15"/>
          <p:cNvSpPr/>
          <p:nvPr/>
        </p:nvSpPr>
        <p:spPr>
          <a:xfrm>
            <a:off x="6190488" y="2103120"/>
            <a:ext cx="320040" cy="146304"/>
          </a:xfrm>
          <a:prstGeom prst="rightArrow">
            <a:avLst/>
          </a:prstGeom>
          <a:solidFill>
            <a:srgbClr val="DCE1E8"/>
          </a:solidFill>
          <a:ln w="12700">
            <a:solidFill>
              <a:srgbClr val="DCE1E8"/>
            </a:solidFill>
            <a:prstDash val="solid"/>
          </a:ln>
        </p:spPr>
      </p:sp>
      <p:sp>
        <p:nvSpPr>
          <p:cNvPr id="18" name="Shape 16"/>
          <p:cNvSpPr/>
          <p:nvPr/>
        </p:nvSpPr>
        <p:spPr>
          <a:xfrm>
            <a:off x="6601968" y="1600200"/>
            <a:ext cx="2468880" cy="1143000"/>
          </a:xfrm>
          <a:prstGeom prst="roundRect">
            <a:avLst>
              <a:gd name="adj" fmla="val 720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Shape 17"/>
          <p:cNvSpPr/>
          <p:nvPr/>
        </p:nvSpPr>
        <p:spPr>
          <a:xfrm>
            <a:off x="6830568" y="1810512"/>
            <a:ext cx="292608" cy="292608"/>
          </a:xfrm>
          <a:prstGeom prst="ellipse">
            <a:avLst/>
          </a:prstGeom>
          <a:solidFill>
            <a:srgbClr val="C8791B"/>
          </a:solidFill>
          <a:ln w="12700">
            <a:solidFill>
              <a:srgbClr val="C8791B"/>
            </a:solidFill>
            <a:prstDash val="solid"/>
          </a:ln>
        </p:spPr>
      </p:sp>
      <p:sp>
        <p:nvSpPr>
          <p:cNvPr id="20" name="Text 18"/>
          <p:cNvSpPr/>
          <p:nvPr/>
        </p:nvSpPr>
        <p:spPr>
          <a:xfrm>
            <a:off x="6830568" y="18105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7223760" y="1792224"/>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Deploy</a:t>
            </a:r>
            <a:endParaRPr lang="en-US" sz="1500" dirty="0"/>
          </a:p>
        </p:txBody>
      </p:sp>
      <p:sp>
        <p:nvSpPr>
          <p:cNvPr id="22" name="Text 20"/>
          <p:cNvSpPr/>
          <p:nvPr/>
        </p:nvSpPr>
        <p:spPr>
          <a:xfrm>
            <a:off x="6830568" y="2194560"/>
            <a:ext cx="201168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Firebase Hosting, live channel</a:t>
            </a:r>
            <a:endParaRPr lang="en-US" sz="1150" dirty="0"/>
          </a:p>
        </p:txBody>
      </p:sp>
      <p:sp>
        <p:nvSpPr>
          <p:cNvPr id="23" name="Shape 21"/>
          <p:cNvSpPr/>
          <p:nvPr/>
        </p:nvSpPr>
        <p:spPr>
          <a:xfrm>
            <a:off x="9162288" y="2103120"/>
            <a:ext cx="320040" cy="146304"/>
          </a:xfrm>
          <a:prstGeom prst="rightArrow">
            <a:avLst/>
          </a:prstGeom>
          <a:solidFill>
            <a:srgbClr val="DCE1E8"/>
          </a:solidFill>
          <a:ln w="12700">
            <a:solidFill>
              <a:srgbClr val="DCE1E8"/>
            </a:solidFill>
            <a:prstDash val="solid"/>
          </a:ln>
        </p:spPr>
      </p:sp>
      <p:sp>
        <p:nvSpPr>
          <p:cNvPr id="24" name="Shape 22"/>
          <p:cNvSpPr/>
          <p:nvPr/>
        </p:nvSpPr>
        <p:spPr>
          <a:xfrm>
            <a:off x="9573768" y="1600200"/>
            <a:ext cx="2468880" cy="1143000"/>
          </a:xfrm>
          <a:prstGeom prst="roundRect">
            <a:avLst>
              <a:gd name="adj" fmla="val 7200"/>
            </a:avLst>
          </a:prstGeom>
          <a:solidFill>
            <a:srgbClr val="FBF1E2"/>
          </a:solidFill>
          <a:ln w="13970">
            <a:solidFill>
              <a:srgbClr val="C8791B"/>
            </a:solidFill>
            <a:prstDash val="solid"/>
          </a:ln>
          <a:effectLst>
            <a:outerShdw sx="100000" sy="100000" kx="0" ky="0" algn="bl" rotWithShape="0" blurRad="152400" dist="25400" dir="5400000">
              <a:srgbClr val="8C97A8">
                <a:alpha val="18000"/>
              </a:srgbClr>
            </a:outerShdw>
          </a:effectLst>
        </p:spPr>
      </p:sp>
      <p:sp>
        <p:nvSpPr>
          <p:cNvPr id="25" name="Shape 23"/>
          <p:cNvSpPr/>
          <p:nvPr/>
        </p:nvSpPr>
        <p:spPr>
          <a:xfrm>
            <a:off x="9802368" y="1810512"/>
            <a:ext cx="292608" cy="292608"/>
          </a:xfrm>
          <a:prstGeom prst="ellipse">
            <a:avLst/>
          </a:prstGeom>
          <a:solidFill>
            <a:srgbClr val="C8791B"/>
          </a:solidFill>
          <a:ln w="12700">
            <a:solidFill>
              <a:srgbClr val="C8791B"/>
            </a:solidFill>
            <a:prstDash val="solid"/>
          </a:ln>
        </p:spPr>
      </p:sp>
      <p:sp>
        <p:nvSpPr>
          <p:cNvPr id="26" name="Text 24"/>
          <p:cNvSpPr/>
          <p:nvPr/>
        </p:nvSpPr>
        <p:spPr>
          <a:xfrm>
            <a:off x="9802368" y="18105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0195560" y="1792224"/>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Serve</a:t>
            </a:r>
            <a:endParaRPr lang="en-US" sz="1500" dirty="0"/>
          </a:p>
        </p:txBody>
      </p:sp>
      <p:sp>
        <p:nvSpPr>
          <p:cNvPr id="28" name="Text 26"/>
          <p:cNvSpPr/>
          <p:nvPr/>
        </p:nvSpPr>
        <p:spPr>
          <a:xfrm>
            <a:off x="9802368" y="2194560"/>
            <a:ext cx="2011680" cy="45720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HTTPS, global CDN, immutable assets</a:t>
            </a:r>
            <a:endParaRPr lang="en-US" sz="1150" dirty="0"/>
          </a:p>
        </p:txBody>
      </p:sp>
      <p:sp>
        <p:nvSpPr>
          <p:cNvPr id="29" name="Shape 27"/>
          <p:cNvSpPr/>
          <p:nvPr/>
        </p:nvSpPr>
        <p:spPr>
          <a:xfrm>
            <a:off x="658368" y="3017520"/>
            <a:ext cx="5532120" cy="2331720"/>
          </a:xfrm>
          <a:prstGeom prst="roundRect">
            <a:avLst>
              <a:gd name="adj" fmla="val 35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30" name="Text 28"/>
          <p:cNvSpPr/>
          <p:nvPr/>
        </p:nvSpPr>
        <p:spPr>
          <a:xfrm>
            <a:off x="978408" y="3246120"/>
            <a:ext cx="484632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What the pipeline does for free</a:t>
            </a:r>
            <a:endParaRPr lang="en-US" sz="1450" dirty="0"/>
          </a:p>
        </p:txBody>
      </p:sp>
      <p:sp>
        <p:nvSpPr>
          <p:cNvPr id="31" name="Text 29"/>
          <p:cNvSpPr/>
          <p:nvPr/>
        </p:nvSpPr>
        <p:spPr>
          <a:xfrm>
            <a:off x="978408" y="3566160"/>
            <a:ext cx="4846320" cy="164592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Pull requests get their own preview URL, commented on the PR</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Only pushes to main go to the live channel</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Hashed assets cached for a year; index.html never cached</a:t>
            </a:r>
            <a:endParaRPr lang="en-US" sz="1300" dirty="0"/>
          </a:p>
          <a:p>
            <a:pPr marL="342900" indent="-342900">
              <a:lnSpc>
                <a:spcPts val="1800"/>
              </a:lnSpc>
              <a:spcAft>
                <a:spcPts val="600"/>
              </a:spcAft>
              <a:buSzPct val="100000"/>
              <a:buChar char="•"/>
            </a:pPr>
            <a:r>
              <a:rPr lang="en-US" sz="1300" dirty="0">
                <a:solidFill>
                  <a:srgbClr val="36404F"/>
                </a:solidFill>
                <a:latin typeface="Calibri" pitchFamily="34" charset="0"/>
                <a:ea typeface="Calibri" pitchFamily="34" charset="-122"/>
                <a:cs typeface="Calibri" pitchFamily="34" charset="-120"/>
              </a:rPr>
              <a:t>Rollback is redeploying a previous commit</a:t>
            </a:r>
            <a:endParaRPr lang="en-US" sz="1300" dirty="0"/>
          </a:p>
        </p:txBody>
      </p:sp>
      <p:sp>
        <p:nvSpPr>
          <p:cNvPr id="32" name="Shape 30"/>
          <p:cNvSpPr/>
          <p:nvPr/>
        </p:nvSpPr>
        <p:spPr>
          <a:xfrm>
            <a:off x="6537960" y="3017520"/>
            <a:ext cx="4995367" cy="2331720"/>
          </a:xfrm>
          <a:prstGeom prst="roundRect">
            <a:avLst>
              <a:gd name="adj" fmla="val 3529"/>
            </a:avLst>
          </a:prstGeom>
          <a:solidFill>
            <a:srgbClr val="1F2836"/>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33" name="Text 31"/>
          <p:cNvSpPr/>
          <p:nvPr/>
        </p:nvSpPr>
        <p:spPr>
          <a:xfrm>
            <a:off x="6858000" y="3246120"/>
            <a:ext cx="4663440" cy="274320"/>
          </a:xfrm>
          <a:prstGeom prst="rect">
            <a:avLst/>
          </a:prstGeom>
          <a:noFill/>
          <a:ln/>
        </p:spPr>
        <p:txBody>
          <a:bodyPr wrap="square" lIns="0" tIns="0" rIns="0" bIns="0" rtlCol="0" anchor="ctr"/>
          <a:lstStyle/>
          <a:p>
            <a:pPr indent="0" marL="0">
              <a:buNone/>
            </a:pPr>
            <a:r>
              <a:rPr lang="en-US" sz="1200" b="1" spc="100" kern="0" dirty="0">
                <a:solidFill>
                  <a:srgbClr val="9AA6B8"/>
                </a:solidFill>
                <a:latin typeface="Calibri" pitchFamily="34" charset="0"/>
                <a:ea typeface="Calibri" pitchFamily="34" charset="-122"/>
                <a:cs typeface="Calibri" pitchFamily="34" charset="-120"/>
              </a:rPr>
              <a:t>Live now</a:t>
            </a:r>
            <a:endParaRPr lang="en-US" sz="1200" dirty="0"/>
          </a:p>
        </p:txBody>
      </p:sp>
      <p:sp>
        <p:nvSpPr>
          <p:cNvPr id="34" name="Text 32"/>
          <p:cNvSpPr/>
          <p:nvPr/>
        </p:nvSpPr>
        <p:spPr>
          <a:xfrm>
            <a:off x="6858000" y="3566160"/>
            <a:ext cx="4663440" cy="411480"/>
          </a:xfrm>
          <a:prstGeom prst="rect">
            <a:avLst/>
          </a:prstGeom>
          <a:noFill/>
          <a:ln/>
        </p:spPr>
        <p:txBody>
          <a:bodyPr wrap="square" lIns="0" tIns="0" rIns="0" bIns="0" rtlCol="0" anchor="ctr"/>
          <a:lstStyle/>
          <a:p>
            <a:pPr indent="0" marL="0">
              <a:buNone/>
            </a:pPr>
            <a:r>
              <a:rPr lang="en-US" sz="1800" b="1" dirty="0">
                <a:solidFill>
                  <a:srgbClr val="C8791B"/>
                </a:solidFill>
                <a:latin typeface="Calibri" pitchFamily="34" charset="0"/>
                <a:ea typeface="Calibri" pitchFamily="34" charset="-122"/>
                <a:cs typeface="Calibri" pitchFamily="34" charset="-120"/>
              </a:rPr>
              <a:t>gridpilot-ai-fb150.web.app</a:t>
            </a:r>
            <a:endParaRPr lang="en-US" sz="1800" dirty="0"/>
          </a:p>
        </p:txBody>
      </p:sp>
      <p:sp>
        <p:nvSpPr>
          <p:cNvPr id="35" name="Text 33"/>
          <p:cNvSpPr/>
          <p:nvPr/>
        </p:nvSpPr>
        <p:spPr>
          <a:xfrm>
            <a:off x="6858000" y="4069080"/>
            <a:ext cx="4663440" cy="1005840"/>
          </a:xfrm>
          <a:prstGeom prst="rect">
            <a:avLst/>
          </a:prstGeom>
          <a:noFill/>
          <a:ln/>
        </p:spPr>
        <p:txBody>
          <a:bodyPr wrap="square" lIns="0" tIns="0" rIns="0" bIns="0" rtlCol="0" anchor="ctr"/>
          <a:lstStyle/>
          <a:p>
            <a:pPr indent="0" marL="0">
              <a:lnSpc>
                <a:spcPts val="1600"/>
              </a:lnSpc>
              <a:buNone/>
            </a:pPr>
            <a:r>
              <a:rPr lang="en-US" sz="1200" dirty="0">
                <a:solidFill>
                  <a:srgbClr val="C6CFDC"/>
                </a:solidFill>
                <a:latin typeface="Calibri" pitchFamily="34" charset="0"/>
                <a:ea typeface="Calibri" pitchFamily="34" charset="-122"/>
                <a:cs typeface="Calibri" pitchFamily="34" charset="-120"/>
              </a:rPr>
              <a:t>Verified reachable, HTTP 200, serving the built bundle. No sign-in, no setup — the role switcher is in the sidebar and the seeded document set is already there.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5 · CHALLENGES</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What deployment actually taught me</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554480"/>
            <a:ext cx="10874959" cy="1280160"/>
          </a:xfrm>
          <a:prstGeom prst="roundRect">
            <a:avLst>
              <a:gd name="adj" fmla="val 64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1024128" y="1755648"/>
            <a:ext cx="3291840" cy="365760"/>
          </a:xfrm>
          <a:prstGeom prst="rect">
            <a:avLst/>
          </a:prstGeom>
          <a:noFill/>
          <a:ln/>
        </p:spPr>
        <p:txBody>
          <a:bodyPr wrap="square" lIns="0" tIns="0" rIns="0" bIns="0" rtlCol="0" anchor="ctr"/>
          <a:lstStyle/>
          <a:p>
            <a:pPr indent="0" marL="0">
              <a:buNone/>
            </a:pPr>
            <a:r>
              <a:rPr lang="en-US" sz="1600" b="1" dirty="0">
                <a:solidFill>
                  <a:srgbClr val="141A24"/>
                </a:solidFill>
                <a:latin typeface="Cambria" pitchFamily="34" charset="0"/>
                <a:ea typeface="Cambria" pitchFamily="34" charset="-122"/>
                <a:cs typeface="Cambria" pitchFamily="34" charset="-120"/>
              </a:rPr>
              <a:t>Choosing the service</a:t>
            </a:r>
            <a:endParaRPr lang="en-US" sz="1600" dirty="0"/>
          </a:p>
        </p:txBody>
      </p:sp>
      <p:sp>
        <p:nvSpPr>
          <p:cNvPr id="8" name="Shape 6"/>
          <p:cNvSpPr/>
          <p:nvPr/>
        </p:nvSpPr>
        <p:spPr>
          <a:xfrm>
            <a:off x="1024128" y="2212848"/>
            <a:ext cx="1234440" cy="274320"/>
          </a:xfrm>
          <a:prstGeom prst="roundRect">
            <a:avLst>
              <a:gd name="adj" fmla="val 50000"/>
            </a:avLst>
          </a:prstGeom>
          <a:solidFill>
            <a:srgbClr val="FFFFFF"/>
          </a:solidFill>
          <a:ln w="8890">
            <a:solidFill>
              <a:srgbClr val="C8791B"/>
            </a:solidFill>
            <a:prstDash val="solid"/>
          </a:ln>
        </p:spPr>
      </p:sp>
      <p:sp>
        <p:nvSpPr>
          <p:cNvPr id="9" name="Text 7"/>
          <p:cNvSpPr/>
          <p:nvPr/>
        </p:nvSpPr>
        <p:spPr>
          <a:xfrm>
            <a:off x="1024128" y="2212848"/>
            <a:ext cx="1234440" cy="274320"/>
          </a:xfrm>
          <a:prstGeom prst="rect">
            <a:avLst/>
          </a:prstGeom>
          <a:noFill/>
          <a:ln/>
        </p:spPr>
        <p:txBody>
          <a:bodyPr wrap="square" lIns="0" tIns="0" rIns="0" bIns="0" rtlCol="0" anchor="ctr"/>
          <a:lstStyle/>
          <a:p>
            <a:pPr algn="ctr" indent="0" marL="0">
              <a:buNone/>
            </a:pPr>
            <a:r>
              <a:rPr lang="en-US" sz="850" b="1" spc="60" kern="0" dirty="0">
                <a:solidFill>
                  <a:srgbClr val="C8791B"/>
                </a:solidFill>
                <a:latin typeface="Calibri" pitchFamily="34" charset="0"/>
                <a:ea typeface="Calibri" pitchFamily="34" charset="-122"/>
                <a:cs typeface="Calibri" pitchFamily="34" charset="-120"/>
              </a:rPr>
              <a:t>RIGHT-SIZED</a:t>
            </a:r>
            <a:endParaRPr lang="en-US" sz="850" dirty="0"/>
          </a:p>
        </p:txBody>
      </p:sp>
      <p:sp>
        <p:nvSpPr>
          <p:cNvPr id="10" name="Text 8"/>
          <p:cNvSpPr/>
          <p:nvPr/>
        </p:nvSpPr>
        <p:spPr>
          <a:xfrm>
            <a:off x="4590288" y="1810512"/>
            <a:ext cx="6858000" cy="777240"/>
          </a:xfrm>
          <a:prstGeom prst="rect">
            <a:avLst/>
          </a:prstGeom>
          <a:noFill/>
          <a:ln/>
        </p:spPr>
        <p:txBody>
          <a:bodyPr wrap="square" lIns="0" tIns="0" rIns="0" bIns="0" rtlCol="0" anchor="ctr"/>
          <a:lstStyle/>
          <a:p>
            <a:pPr indent="0" marL="0">
              <a:lnSpc>
                <a:spcPts val="1800"/>
              </a:lnSpc>
              <a:buNone/>
            </a:pPr>
            <a:r>
              <a:rPr lang="en-US" sz="1300" dirty="0">
                <a:solidFill>
                  <a:srgbClr val="36404F"/>
                </a:solidFill>
                <a:latin typeface="Calibri" pitchFamily="34" charset="0"/>
                <a:ea typeface="Calibri" pitchFamily="34" charset="-122"/>
                <a:cs typeface="Calibri" pitchFamily="34" charset="-120"/>
              </a:rPr>
              <a:t>A static bundle does not need a container or a server. Picking hosting that matches the shape of the artifact removed most of the work rather than adding to it.</a:t>
            </a:r>
            <a:endParaRPr lang="en-US" sz="1300" dirty="0"/>
          </a:p>
        </p:txBody>
      </p:sp>
      <p:sp>
        <p:nvSpPr>
          <p:cNvPr id="11" name="Shape 9"/>
          <p:cNvSpPr/>
          <p:nvPr/>
        </p:nvSpPr>
        <p:spPr>
          <a:xfrm>
            <a:off x="658368" y="3017520"/>
            <a:ext cx="10874959" cy="1280160"/>
          </a:xfrm>
          <a:prstGeom prst="roundRect">
            <a:avLst>
              <a:gd name="adj" fmla="val 64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2" name="Text 10"/>
          <p:cNvSpPr/>
          <p:nvPr/>
        </p:nvSpPr>
        <p:spPr>
          <a:xfrm>
            <a:off x="1024128" y="3218688"/>
            <a:ext cx="3291840" cy="365760"/>
          </a:xfrm>
          <a:prstGeom prst="rect">
            <a:avLst/>
          </a:prstGeom>
          <a:noFill/>
          <a:ln/>
        </p:spPr>
        <p:txBody>
          <a:bodyPr wrap="square" lIns="0" tIns="0" rIns="0" bIns="0" rtlCol="0" anchor="ctr"/>
          <a:lstStyle/>
          <a:p>
            <a:pPr indent="0" marL="0">
              <a:buNone/>
            </a:pPr>
            <a:r>
              <a:rPr lang="en-US" sz="1600" b="1" dirty="0">
                <a:solidFill>
                  <a:srgbClr val="141A24"/>
                </a:solidFill>
                <a:latin typeface="Cambria" pitchFamily="34" charset="0"/>
                <a:ea typeface="Cambria" pitchFamily="34" charset="-122"/>
                <a:cs typeface="Cambria" pitchFamily="34" charset="-120"/>
              </a:rPr>
              <a:t>Secrets in CI</a:t>
            </a:r>
            <a:endParaRPr lang="en-US" sz="1600" dirty="0"/>
          </a:p>
        </p:txBody>
      </p:sp>
      <p:sp>
        <p:nvSpPr>
          <p:cNvPr id="13" name="Shape 11"/>
          <p:cNvSpPr/>
          <p:nvPr/>
        </p:nvSpPr>
        <p:spPr>
          <a:xfrm>
            <a:off x="1024128" y="3675888"/>
            <a:ext cx="1234440" cy="274320"/>
          </a:xfrm>
          <a:prstGeom prst="roundRect">
            <a:avLst>
              <a:gd name="adj" fmla="val 50000"/>
            </a:avLst>
          </a:prstGeom>
          <a:solidFill>
            <a:srgbClr val="FFFFFF"/>
          </a:solidFill>
          <a:ln w="8890">
            <a:solidFill>
              <a:srgbClr val="C8791B"/>
            </a:solidFill>
            <a:prstDash val="solid"/>
          </a:ln>
        </p:spPr>
      </p:sp>
      <p:sp>
        <p:nvSpPr>
          <p:cNvPr id="14" name="Text 12"/>
          <p:cNvSpPr/>
          <p:nvPr/>
        </p:nvSpPr>
        <p:spPr>
          <a:xfrm>
            <a:off x="1024128" y="3675888"/>
            <a:ext cx="1234440" cy="274320"/>
          </a:xfrm>
          <a:prstGeom prst="rect">
            <a:avLst/>
          </a:prstGeom>
          <a:noFill/>
          <a:ln/>
        </p:spPr>
        <p:txBody>
          <a:bodyPr wrap="square" lIns="0" tIns="0" rIns="0" bIns="0" rtlCol="0" anchor="ctr"/>
          <a:lstStyle/>
          <a:p>
            <a:pPr algn="ctr" indent="0" marL="0">
              <a:buNone/>
            </a:pPr>
            <a:r>
              <a:rPr lang="en-US" sz="850" b="1" spc="60" kern="0" dirty="0">
                <a:solidFill>
                  <a:srgbClr val="C8791B"/>
                </a:solidFill>
                <a:latin typeface="Calibri" pitchFamily="34" charset="0"/>
                <a:ea typeface="Calibri" pitchFamily="34" charset="-122"/>
                <a:cs typeface="Calibri" pitchFamily="34" charset="-120"/>
              </a:rPr>
              <a:t>HANDLED</a:t>
            </a:r>
            <a:endParaRPr lang="en-US" sz="850" dirty="0"/>
          </a:p>
        </p:txBody>
      </p:sp>
      <p:sp>
        <p:nvSpPr>
          <p:cNvPr id="15" name="Text 13"/>
          <p:cNvSpPr/>
          <p:nvPr/>
        </p:nvSpPr>
        <p:spPr>
          <a:xfrm>
            <a:off x="4590288" y="3273552"/>
            <a:ext cx="6858000" cy="777240"/>
          </a:xfrm>
          <a:prstGeom prst="rect">
            <a:avLst/>
          </a:prstGeom>
          <a:noFill/>
          <a:ln/>
        </p:spPr>
        <p:txBody>
          <a:bodyPr wrap="square" lIns="0" tIns="0" rIns="0" bIns="0" rtlCol="0" anchor="ctr"/>
          <a:lstStyle/>
          <a:p>
            <a:pPr indent="0" marL="0">
              <a:lnSpc>
                <a:spcPts val="1800"/>
              </a:lnSpc>
              <a:buNone/>
            </a:pPr>
            <a:r>
              <a:rPr lang="en-US" sz="1300" dirty="0">
                <a:solidFill>
                  <a:srgbClr val="36404F"/>
                </a:solidFill>
                <a:latin typeface="Calibri" pitchFamily="34" charset="0"/>
                <a:ea typeface="Calibri" pitchFamily="34" charset="-122"/>
                <a:cs typeface="Calibri" pitchFamily="34" charset="-120"/>
              </a:rPr>
              <a:t>The deploy needs a service-account credential. It lives in a GitHub secret and is never in the repository, and the workflow declares least-privilege permissions.</a:t>
            </a:r>
            <a:endParaRPr lang="en-US" sz="1300" dirty="0"/>
          </a:p>
        </p:txBody>
      </p:sp>
      <p:sp>
        <p:nvSpPr>
          <p:cNvPr id="16" name="Shape 14"/>
          <p:cNvSpPr/>
          <p:nvPr/>
        </p:nvSpPr>
        <p:spPr>
          <a:xfrm>
            <a:off x="658368" y="4480560"/>
            <a:ext cx="10874959" cy="1280160"/>
          </a:xfrm>
          <a:prstGeom prst="roundRect">
            <a:avLst>
              <a:gd name="adj" fmla="val 6429"/>
            </a:avLst>
          </a:prstGeom>
          <a:solidFill>
            <a:srgbClr val="FBF1E2"/>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7" name="Text 15"/>
          <p:cNvSpPr/>
          <p:nvPr/>
        </p:nvSpPr>
        <p:spPr>
          <a:xfrm>
            <a:off x="1024128" y="4681728"/>
            <a:ext cx="3291840" cy="365760"/>
          </a:xfrm>
          <a:prstGeom prst="rect">
            <a:avLst/>
          </a:prstGeom>
          <a:noFill/>
          <a:ln/>
        </p:spPr>
        <p:txBody>
          <a:bodyPr wrap="square" lIns="0" tIns="0" rIns="0" bIns="0" rtlCol="0" anchor="ctr"/>
          <a:lstStyle/>
          <a:p>
            <a:pPr indent="0" marL="0">
              <a:buNone/>
            </a:pPr>
            <a:r>
              <a:rPr lang="en-US" sz="1600" b="1" dirty="0">
                <a:solidFill>
                  <a:srgbClr val="141A24"/>
                </a:solidFill>
                <a:latin typeface="Cambria" pitchFamily="34" charset="0"/>
                <a:ea typeface="Cambria" pitchFamily="34" charset="-122"/>
                <a:cs typeface="Cambria" pitchFamily="34" charset="-120"/>
              </a:rPr>
              <a:t>Cache correctness</a:t>
            </a:r>
            <a:endParaRPr lang="en-US" sz="1600" dirty="0"/>
          </a:p>
        </p:txBody>
      </p:sp>
      <p:sp>
        <p:nvSpPr>
          <p:cNvPr id="18" name="Shape 16"/>
          <p:cNvSpPr/>
          <p:nvPr/>
        </p:nvSpPr>
        <p:spPr>
          <a:xfrm>
            <a:off x="1024128" y="5138928"/>
            <a:ext cx="1234440" cy="274320"/>
          </a:xfrm>
          <a:prstGeom prst="roundRect">
            <a:avLst>
              <a:gd name="adj" fmla="val 50000"/>
            </a:avLst>
          </a:prstGeom>
          <a:solidFill>
            <a:srgbClr val="FFFFFF"/>
          </a:solidFill>
          <a:ln w="8890">
            <a:solidFill>
              <a:srgbClr val="C8791B"/>
            </a:solidFill>
            <a:prstDash val="solid"/>
          </a:ln>
        </p:spPr>
      </p:sp>
      <p:sp>
        <p:nvSpPr>
          <p:cNvPr id="19" name="Text 17"/>
          <p:cNvSpPr/>
          <p:nvPr/>
        </p:nvSpPr>
        <p:spPr>
          <a:xfrm>
            <a:off x="1024128" y="5138928"/>
            <a:ext cx="1234440" cy="274320"/>
          </a:xfrm>
          <a:prstGeom prst="rect">
            <a:avLst/>
          </a:prstGeom>
          <a:noFill/>
          <a:ln/>
        </p:spPr>
        <p:txBody>
          <a:bodyPr wrap="square" lIns="0" tIns="0" rIns="0" bIns="0" rtlCol="0" anchor="ctr"/>
          <a:lstStyle/>
          <a:p>
            <a:pPr algn="ctr" indent="0" marL="0">
              <a:buNone/>
            </a:pPr>
            <a:r>
              <a:rPr lang="en-US" sz="850" b="1" spc="60" kern="0" dirty="0">
                <a:solidFill>
                  <a:srgbClr val="C8791B"/>
                </a:solidFill>
                <a:latin typeface="Calibri" pitchFamily="34" charset="0"/>
                <a:ea typeface="Calibri" pitchFamily="34" charset="-122"/>
                <a:cs typeface="Calibri" pitchFamily="34" charset="-120"/>
              </a:rPr>
              <a:t>CONFIGURED</a:t>
            </a:r>
            <a:endParaRPr lang="en-US" sz="850" dirty="0"/>
          </a:p>
        </p:txBody>
      </p:sp>
      <p:sp>
        <p:nvSpPr>
          <p:cNvPr id="20" name="Text 18"/>
          <p:cNvSpPr/>
          <p:nvPr/>
        </p:nvSpPr>
        <p:spPr>
          <a:xfrm>
            <a:off x="4590288" y="4736592"/>
            <a:ext cx="6858000" cy="777240"/>
          </a:xfrm>
          <a:prstGeom prst="rect">
            <a:avLst/>
          </a:prstGeom>
          <a:noFill/>
          <a:ln/>
        </p:spPr>
        <p:txBody>
          <a:bodyPr wrap="square" lIns="0" tIns="0" rIns="0" bIns="0" rtlCol="0" anchor="ctr"/>
          <a:lstStyle/>
          <a:p>
            <a:pPr indent="0" marL="0">
              <a:lnSpc>
                <a:spcPts val="1800"/>
              </a:lnSpc>
              <a:buNone/>
            </a:pPr>
            <a:r>
              <a:rPr lang="en-US" sz="1300" dirty="0">
                <a:solidFill>
                  <a:srgbClr val="36404F"/>
                </a:solidFill>
                <a:latin typeface="Calibri" pitchFamily="34" charset="0"/>
                <a:ea typeface="Calibri" pitchFamily="34" charset="-122"/>
                <a:cs typeface="Calibri" pitchFamily="34" charset="-120"/>
              </a:rPr>
              <a:t>Hashed assets immutable, index.html never cached. Get this backwards and users load an HTML file pointing at bundles that no longer exist.</a:t>
            </a:r>
            <a:endParaRPr lang="en-US" sz="1300" dirty="0"/>
          </a:p>
        </p:txBody>
      </p:sp>
      <p:sp>
        <p:nvSpPr>
          <p:cNvPr id="21" name="Text 19"/>
          <p:cNvSpPr/>
          <p:nvPr/>
        </p:nvSpPr>
        <p:spPr>
          <a:xfrm>
            <a:off x="658368" y="5806440"/>
            <a:ext cx="10874959" cy="365760"/>
          </a:xfrm>
          <a:prstGeom prst="rect">
            <a:avLst/>
          </a:prstGeom>
          <a:noFill/>
          <a:ln/>
        </p:spPr>
        <p:txBody>
          <a:bodyPr wrap="square" lIns="0" tIns="0" rIns="0" bIns="0" rtlCol="0" anchor="ctr"/>
          <a:lstStyle/>
          <a:p>
            <a:pPr indent="0" marL="0">
              <a:buNone/>
            </a:pPr>
            <a:r>
              <a:rPr lang="en-US" sz="1250" i="1" dirty="0">
                <a:solidFill>
                  <a:srgbClr val="C8791B"/>
                </a:solidFill>
                <a:latin typeface="Calibri" pitchFamily="34" charset="0"/>
                <a:ea typeface="Calibri" pitchFamily="34" charset="-122"/>
                <a:cs typeface="Calibri" pitchFamily="34" charset="-120"/>
              </a:rPr>
              <a:t>The third item is the one that came back. Meridian shipped a blank page for exactly this reason, and the fix was the rule GridPilot already had.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1 · PHASE 6 · FEEDBACK &amp; ITERATION</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What the showcase changed</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508760"/>
            <a:ext cx="4114800" cy="1280160"/>
          </a:xfrm>
          <a:prstGeom prst="roundRect">
            <a:avLst>
              <a:gd name="adj" fmla="val 6429"/>
            </a:avLst>
          </a:prstGeom>
          <a:solidFill>
            <a:srgbClr val="1F2836"/>
          </a:solidFill>
          <a:ln w="12700">
            <a:solidFill>
              <a:srgbClr val="1F2836"/>
            </a:solidFill>
            <a:prstDash val="solid"/>
          </a:ln>
        </p:spPr>
      </p:sp>
      <p:sp>
        <p:nvSpPr>
          <p:cNvPr id="7" name="Text 5"/>
          <p:cNvSpPr/>
          <p:nvPr/>
        </p:nvSpPr>
        <p:spPr>
          <a:xfrm>
            <a:off x="978408" y="1737360"/>
            <a:ext cx="3474720" cy="822960"/>
          </a:xfrm>
          <a:prstGeom prst="rect">
            <a:avLst/>
          </a:prstGeom>
          <a:noFill/>
          <a:ln/>
        </p:spPr>
        <p:txBody>
          <a:bodyPr wrap="square" lIns="0" tIns="0" rIns="0" bIns="0" rtlCol="0" anchor="ctr"/>
          <a:lstStyle/>
          <a:p>
            <a:pPr indent="0" marL="0">
              <a:lnSpc>
                <a:spcPts val="1900"/>
              </a:lnSpc>
              <a:buNone/>
            </a:pPr>
            <a:r>
              <a:rPr lang="en-US" sz="1450" i="1" dirty="0">
                <a:solidFill>
                  <a:srgbClr val="FFFFFF"/>
                </a:solidFill>
                <a:latin typeface="Cambria" pitchFamily="34" charset="0"/>
                <a:ea typeface="Cambria" pitchFamily="34" charset="-122"/>
                <a:cs typeface="Cambria" pitchFamily="34" charset="-120"/>
              </a:rPr>
              <a:t>“How do I even run this?”</a:t>
            </a:r>
            <a:endParaRPr lang="en-US" sz="1450" dirty="0"/>
          </a:p>
        </p:txBody>
      </p:sp>
      <p:sp>
        <p:nvSpPr>
          <p:cNvPr id="8" name="Shape 6"/>
          <p:cNvSpPr/>
          <p:nvPr/>
        </p:nvSpPr>
        <p:spPr>
          <a:xfrm>
            <a:off x="4882896" y="2075688"/>
            <a:ext cx="457200" cy="146304"/>
          </a:xfrm>
          <a:prstGeom prst="rightArrow">
            <a:avLst/>
          </a:prstGeom>
          <a:solidFill>
            <a:srgbClr val="C8791B"/>
          </a:solidFill>
          <a:ln w="12700">
            <a:solidFill>
              <a:srgbClr val="C8791B"/>
            </a:solidFill>
            <a:prstDash val="solid"/>
          </a:ln>
        </p:spPr>
      </p:sp>
      <p:sp>
        <p:nvSpPr>
          <p:cNvPr id="9" name="Shape 7"/>
          <p:cNvSpPr/>
          <p:nvPr/>
        </p:nvSpPr>
        <p:spPr>
          <a:xfrm>
            <a:off x="5486400" y="1508760"/>
            <a:ext cx="6046927" cy="1280160"/>
          </a:xfrm>
          <a:prstGeom prst="roundRect">
            <a:avLst>
              <a:gd name="adj" fmla="val 64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0" name="Text 8"/>
          <p:cNvSpPr/>
          <p:nvPr/>
        </p:nvSpPr>
        <p:spPr>
          <a:xfrm>
            <a:off x="5806440" y="1709928"/>
            <a:ext cx="5726887" cy="914400"/>
          </a:xfrm>
          <a:prstGeom prst="rect">
            <a:avLst/>
          </a:prstGeom>
          <a:noFill/>
          <a:ln/>
        </p:spPr>
        <p:txBody>
          <a:bodyPr wrap="square" lIns="0" tIns="0" rIns="0" bIns="0" rtlCol="0" anchor="ctr"/>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Double-click launchers for Windows and macOS that check for Node, install once, start the server, and open the browser — no terminal, no URLs to find.</a:t>
            </a:r>
            <a:endParaRPr lang="en-US" sz="1250" dirty="0"/>
          </a:p>
        </p:txBody>
      </p:sp>
      <p:sp>
        <p:nvSpPr>
          <p:cNvPr id="11" name="Shape 9"/>
          <p:cNvSpPr/>
          <p:nvPr/>
        </p:nvSpPr>
        <p:spPr>
          <a:xfrm>
            <a:off x="658368" y="2990088"/>
            <a:ext cx="4114800" cy="1280160"/>
          </a:xfrm>
          <a:prstGeom prst="roundRect">
            <a:avLst>
              <a:gd name="adj" fmla="val 6429"/>
            </a:avLst>
          </a:prstGeom>
          <a:solidFill>
            <a:srgbClr val="1F2836"/>
          </a:solidFill>
          <a:ln w="12700">
            <a:solidFill>
              <a:srgbClr val="1F2836"/>
            </a:solidFill>
            <a:prstDash val="solid"/>
          </a:ln>
        </p:spPr>
      </p:sp>
      <p:sp>
        <p:nvSpPr>
          <p:cNvPr id="12" name="Text 10"/>
          <p:cNvSpPr/>
          <p:nvPr/>
        </p:nvSpPr>
        <p:spPr>
          <a:xfrm>
            <a:off x="978408" y="3218688"/>
            <a:ext cx="3474720" cy="822960"/>
          </a:xfrm>
          <a:prstGeom prst="rect">
            <a:avLst/>
          </a:prstGeom>
          <a:noFill/>
          <a:ln/>
        </p:spPr>
        <p:txBody>
          <a:bodyPr wrap="square" lIns="0" tIns="0" rIns="0" bIns="0" rtlCol="0" anchor="ctr"/>
          <a:lstStyle/>
          <a:p>
            <a:pPr indent="0" marL="0">
              <a:lnSpc>
                <a:spcPts val="1900"/>
              </a:lnSpc>
              <a:buNone/>
            </a:pPr>
            <a:r>
              <a:rPr lang="en-US" sz="1450" i="1" dirty="0">
                <a:solidFill>
                  <a:srgbClr val="FFFFFF"/>
                </a:solidFill>
                <a:latin typeface="Cambria" pitchFamily="34" charset="0"/>
                <a:ea typeface="Cambria" pitchFamily="34" charset="-122"/>
                <a:cs typeface="Cambria" pitchFamily="34" charset="-120"/>
              </a:rPr>
              <a:t>“Is it making the answers up?”</a:t>
            </a:r>
            <a:endParaRPr lang="en-US" sz="1450" dirty="0"/>
          </a:p>
        </p:txBody>
      </p:sp>
      <p:sp>
        <p:nvSpPr>
          <p:cNvPr id="13" name="Shape 11"/>
          <p:cNvSpPr/>
          <p:nvPr/>
        </p:nvSpPr>
        <p:spPr>
          <a:xfrm>
            <a:off x="4882896" y="3557016"/>
            <a:ext cx="457200" cy="146304"/>
          </a:xfrm>
          <a:prstGeom prst="rightArrow">
            <a:avLst/>
          </a:prstGeom>
          <a:solidFill>
            <a:srgbClr val="C8791B"/>
          </a:solidFill>
          <a:ln w="12700">
            <a:solidFill>
              <a:srgbClr val="C8791B"/>
            </a:solidFill>
            <a:prstDash val="solid"/>
          </a:ln>
        </p:spPr>
      </p:sp>
      <p:sp>
        <p:nvSpPr>
          <p:cNvPr id="14" name="Shape 12"/>
          <p:cNvSpPr/>
          <p:nvPr/>
        </p:nvSpPr>
        <p:spPr>
          <a:xfrm>
            <a:off x="5486400" y="2990088"/>
            <a:ext cx="6046927" cy="1280160"/>
          </a:xfrm>
          <a:prstGeom prst="roundRect">
            <a:avLst>
              <a:gd name="adj" fmla="val 64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5" name="Text 13"/>
          <p:cNvSpPr/>
          <p:nvPr/>
        </p:nvSpPr>
        <p:spPr>
          <a:xfrm>
            <a:off x="5806440" y="3191256"/>
            <a:ext cx="5726887" cy="914400"/>
          </a:xfrm>
          <a:prstGeom prst="rect">
            <a:avLst/>
          </a:prstGeom>
          <a:noFill/>
          <a:ln/>
        </p:spPr>
        <p:txBody>
          <a:bodyPr wrap="square" lIns="0" tIns="0" rIns="0" bIns="0" rtlCol="0" anchor="ctr"/>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The source passage moved beside the answer rather than behind a click, and the confidence meter became a permanent part of every answer card.</a:t>
            </a:r>
            <a:endParaRPr lang="en-US" sz="1250" dirty="0"/>
          </a:p>
        </p:txBody>
      </p:sp>
      <p:sp>
        <p:nvSpPr>
          <p:cNvPr id="16" name="Shape 14"/>
          <p:cNvSpPr/>
          <p:nvPr/>
        </p:nvSpPr>
        <p:spPr>
          <a:xfrm>
            <a:off x="658368" y="4471416"/>
            <a:ext cx="4114800" cy="1280160"/>
          </a:xfrm>
          <a:prstGeom prst="roundRect">
            <a:avLst>
              <a:gd name="adj" fmla="val 6429"/>
            </a:avLst>
          </a:prstGeom>
          <a:solidFill>
            <a:srgbClr val="1F2836"/>
          </a:solidFill>
          <a:ln w="12700">
            <a:solidFill>
              <a:srgbClr val="1F2836"/>
            </a:solidFill>
            <a:prstDash val="solid"/>
          </a:ln>
        </p:spPr>
      </p:sp>
      <p:sp>
        <p:nvSpPr>
          <p:cNvPr id="17" name="Text 15"/>
          <p:cNvSpPr/>
          <p:nvPr/>
        </p:nvSpPr>
        <p:spPr>
          <a:xfrm>
            <a:off x="978408" y="4700016"/>
            <a:ext cx="3474720" cy="822960"/>
          </a:xfrm>
          <a:prstGeom prst="rect">
            <a:avLst/>
          </a:prstGeom>
          <a:noFill/>
          <a:ln/>
        </p:spPr>
        <p:txBody>
          <a:bodyPr wrap="square" lIns="0" tIns="0" rIns="0" bIns="0" rtlCol="0" anchor="ctr"/>
          <a:lstStyle/>
          <a:p>
            <a:pPr indent="0" marL="0">
              <a:lnSpc>
                <a:spcPts val="1900"/>
              </a:lnSpc>
              <a:buNone/>
            </a:pPr>
            <a:r>
              <a:rPr lang="en-US" sz="1450" i="1" dirty="0">
                <a:solidFill>
                  <a:srgbClr val="FFFFFF"/>
                </a:solidFill>
                <a:latin typeface="Cambria" pitchFamily="34" charset="0"/>
                <a:ea typeface="Cambria" pitchFamily="34" charset="-122"/>
                <a:cs typeface="Cambria" pitchFamily="34" charset="-120"/>
              </a:rPr>
              <a:t>“What happens when it doesn't know?”</a:t>
            </a:r>
            <a:endParaRPr lang="en-US" sz="1450" dirty="0"/>
          </a:p>
        </p:txBody>
      </p:sp>
      <p:sp>
        <p:nvSpPr>
          <p:cNvPr id="18" name="Shape 16"/>
          <p:cNvSpPr/>
          <p:nvPr/>
        </p:nvSpPr>
        <p:spPr>
          <a:xfrm>
            <a:off x="4882896" y="5038344"/>
            <a:ext cx="457200" cy="146304"/>
          </a:xfrm>
          <a:prstGeom prst="rightArrow">
            <a:avLst/>
          </a:prstGeom>
          <a:solidFill>
            <a:srgbClr val="C8791B"/>
          </a:solidFill>
          <a:ln w="12700">
            <a:solidFill>
              <a:srgbClr val="C8791B"/>
            </a:solidFill>
            <a:prstDash val="solid"/>
          </a:ln>
        </p:spPr>
      </p:sp>
      <p:sp>
        <p:nvSpPr>
          <p:cNvPr id="19" name="Shape 17"/>
          <p:cNvSpPr/>
          <p:nvPr/>
        </p:nvSpPr>
        <p:spPr>
          <a:xfrm>
            <a:off x="5486400" y="4471416"/>
            <a:ext cx="6046927" cy="1280160"/>
          </a:xfrm>
          <a:prstGeom prst="roundRect">
            <a:avLst>
              <a:gd name="adj" fmla="val 6429"/>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0" name="Text 18"/>
          <p:cNvSpPr/>
          <p:nvPr/>
        </p:nvSpPr>
        <p:spPr>
          <a:xfrm>
            <a:off x="5806440" y="4672584"/>
            <a:ext cx="5726887" cy="914400"/>
          </a:xfrm>
          <a:prstGeom prst="rect">
            <a:avLst/>
          </a:prstGeom>
          <a:noFill/>
          <a:ln/>
        </p:spPr>
        <p:txBody>
          <a:bodyPr wrap="square" lIns="0" tIns="0" rIns="0" bIns="0" rtlCol="0" anchor="ctr"/>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The decline path became a demonstrated feature: a distinct card, and every declined query recorded on the admin dashboard.</a:t>
            </a:r>
            <a:endParaRPr lang="en-US" sz="1250" dirty="0"/>
          </a:p>
        </p:txBody>
      </p:sp>
      <p:sp>
        <p:nvSpPr>
          <p:cNvPr id="21" name="Text 19"/>
          <p:cNvSpPr/>
          <p:nvPr/>
        </p:nvSpPr>
        <p:spPr>
          <a:xfrm>
            <a:off x="658368" y="6291072"/>
            <a:ext cx="10874959" cy="274320"/>
          </a:xfrm>
          <a:prstGeom prst="rect">
            <a:avLst/>
          </a:prstGeom>
          <a:noFill/>
          <a:ln/>
        </p:spPr>
        <p:txBody>
          <a:bodyPr wrap="square" lIns="0" tIns="0" rIns="0" bIns="0" rtlCol="0" anchor="ctr"/>
          <a:lstStyle/>
          <a:p>
            <a:pPr indent="0" marL="0">
              <a:buNone/>
            </a:pPr>
            <a:r>
              <a:rPr lang="en-US" sz="1000" i="1" dirty="0">
                <a:solidFill>
                  <a:srgbClr val="737F91"/>
                </a:solidFill>
                <a:latin typeface="Calibri" pitchFamily="34" charset="0"/>
                <a:ea typeface="Calibri" pitchFamily="34" charset="-122"/>
                <a:cs typeface="Calibri" pitchFamily="34" charset="-120"/>
              </a:rPr>
              <a:t>Every item above shipped. The launchers and the two-pane answer layout are in the deployed build today.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WORKSHOP 5 · PROBLEM &amp; AI USE CASE</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A harder problem, on purpose</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sp>
        <p:nvSpPr>
          <p:cNvPr id="6" name="Shape 4"/>
          <p:cNvSpPr/>
          <p:nvPr/>
        </p:nvSpPr>
        <p:spPr>
          <a:xfrm>
            <a:off x="658368" y="1463040"/>
            <a:ext cx="5532120" cy="2286000"/>
          </a:xfrm>
          <a:prstGeom prst="roundRect">
            <a:avLst>
              <a:gd name="adj" fmla="val 360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978408" y="1691640"/>
            <a:ext cx="4892040" cy="640080"/>
          </a:xfrm>
          <a:prstGeom prst="rect">
            <a:avLst/>
          </a:prstGeom>
          <a:noFill/>
          <a:ln/>
        </p:spPr>
        <p:txBody>
          <a:bodyPr wrap="square" lIns="0" tIns="0" rIns="0" bIns="0" rtlCol="0" anchor="ctr"/>
          <a:lstStyle/>
          <a:p>
            <a:pPr indent="0" marL="0">
              <a:lnSpc>
                <a:spcPts val="2300"/>
              </a:lnSpc>
              <a:buNone/>
            </a:pPr>
            <a:r>
              <a:rPr lang="en-US" sz="1800" b="1" dirty="0">
                <a:solidFill>
                  <a:srgbClr val="141A24"/>
                </a:solidFill>
                <a:latin typeface="Cambria" pitchFamily="34" charset="0"/>
                <a:ea typeface="Cambria" pitchFamily="34" charset="-122"/>
                <a:cs typeface="Cambria" pitchFamily="34" charset="-120"/>
              </a:rPr>
              <a:t>Two records of the same account routinely disagree.</a:t>
            </a:r>
            <a:endParaRPr lang="en-US" sz="1800" dirty="0"/>
          </a:p>
        </p:txBody>
      </p:sp>
      <p:sp>
        <p:nvSpPr>
          <p:cNvPr id="8" name="Text 6"/>
          <p:cNvSpPr/>
          <p:nvPr/>
        </p:nvSpPr>
        <p:spPr>
          <a:xfrm>
            <a:off x="978408" y="2377440"/>
            <a:ext cx="4892040" cy="1188720"/>
          </a:xfrm>
          <a:prstGeom prst="rect">
            <a:avLst/>
          </a:prstGeom>
          <a:noFill/>
          <a:ln/>
        </p:spPr>
        <p:txBody>
          <a:bodyPr wrap="square" lIns="0" tIns="0" rIns="0" bIns="0" rtlCol="0" anchor="t"/>
          <a:lstStyle/>
          <a:p>
            <a:pPr indent="0" marL="0">
              <a:lnSpc>
                <a:spcPts val="1800"/>
              </a:lnSpc>
              <a:buNone/>
            </a:pPr>
            <a:r>
              <a:rPr lang="en-US" sz="1300" dirty="0">
                <a:solidFill>
                  <a:srgbClr val="36404F"/>
                </a:solidFill>
                <a:latin typeface="Calibri" pitchFamily="34" charset="0"/>
                <a:ea typeface="Calibri" pitchFamily="34" charset="-122"/>
                <a:cs typeface="Calibri" pitchFamily="34" charset="-120"/>
              </a:rPr>
              <a:t>A charge posts twice. An authorisation hold never clears. A cheque clears on paper and never reaches the app's feed. Catching that by hand means reading a year of statements against a year of app history, line by line, so nobody does it.</a:t>
            </a:r>
            <a:endParaRPr lang="en-US" sz="1300" dirty="0"/>
          </a:p>
        </p:txBody>
      </p:sp>
      <p:sp>
        <p:nvSpPr>
          <p:cNvPr id="9" name="Shape 7"/>
          <p:cNvSpPr/>
          <p:nvPr/>
        </p:nvSpPr>
        <p:spPr>
          <a:xfrm>
            <a:off x="6537960" y="1463040"/>
            <a:ext cx="4995367" cy="2286000"/>
          </a:xfrm>
          <a:prstGeom prst="roundRect">
            <a:avLst>
              <a:gd name="adj" fmla="val 3600"/>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0" name="Text 8"/>
          <p:cNvSpPr/>
          <p:nvPr/>
        </p:nvSpPr>
        <p:spPr>
          <a:xfrm>
            <a:off x="6858000" y="1691640"/>
            <a:ext cx="466344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The AI use case, and its hard boundary</a:t>
            </a:r>
            <a:endParaRPr lang="en-US" sz="1450" dirty="0"/>
          </a:p>
        </p:txBody>
      </p:sp>
      <p:sp>
        <p:nvSpPr>
          <p:cNvPr id="11" name="Text 9"/>
          <p:cNvSpPr/>
          <p:nvPr/>
        </p:nvSpPr>
        <p:spPr>
          <a:xfrm>
            <a:off x="6858000" y="2011680"/>
            <a:ext cx="4663440" cy="1554480"/>
          </a:xfrm>
          <a:prstGeom prst="rect">
            <a:avLst/>
          </a:prstGeom>
          <a:noFill/>
          <a:ln/>
        </p:spPr>
        <p:txBody>
          <a:bodyPr wrap="square" lIns="0" tIns="0" rIns="0" bIns="0" rtlCol="0" anchor="t"/>
          <a:lstStyle/>
          <a:p>
            <a:pPr indent="0" marL="0">
              <a:lnSpc>
                <a:spcPts val="1800"/>
              </a:lnSpc>
              <a:buNone/>
            </a:pPr>
            <a:r>
              <a:rPr lang="en-US" sz="1300" dirty="0">
                <a:solidFill>
                  <a:srgbClr val="36404F"/>
                </a:solidFill>
                <a:latin typeface="Calibri" pitchFamily="34" charset="0"/>
                <a:ea typeface="Calibri" pitchFamily="34" charset="-122"/>
                <a:cs typeface="Calibri" pitchFamily="34" charset="-120"/>
              </a:rPr>
              <a:t>Categorising thousands of cryptic merchant descriptors and answering questions about a ledger is genuine model work. But financial data is the last thing that should leave a machine, so the model runs on 127.0.0.1 and a start-up check refuses any endpoint that does not resolve to loopback.</a:t>
            </a:r>
            <a:endParaRPr lang="en-US" sz="1300" dirty="0"/>
          </a:p>
        </p:txBody>
      </p:sp>
      <p:sp>
        <p:nvSpPr>
          <p:cNvPr id="12" name="Shape 10"/>
          <p:cNvSpPr/>
          <p:nvPr/>
        </p:nvSpPr>
        <p:spPr>
          <a:xfrm>
            <a:off x="658368" y="3977640"/>
            <a:ext cx="2651760" cy="1188720"/>
          </a:xfrm>
          <a:prstGeom prst="roundRect">
            <a:avLst>
              <a:gd name="adj" fmla="val 6923"/>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3" name="Text 11"/>
          <p:cNvSpPr/>
          <p:nvPr/>
        </p:nvSpPr>
        <p:spPr>
          <a:xfrm>
            <a:off x="932688" y="4160520"/>
            <a:ext cx="2103120" cy="457200"/>
          </a:xfrm>
          <a:prstGeom prst="rect">
            <a:avLst/>
          </a:prstGeom>
          <a:noFill/>
          <a:ln/>
        </p:spPr>
        <p:txBody>
          <a:bodyPr wrap="square" lIns="0" tIns="0" rIns="0" bIns="0" rtlCol="0" anchor="ctr"/>
          <a:lstStyle/>
          <a:p>
            <a:pPr indent="0" marL="0">
              <a:buNone/>
            </a:pPr>
            <a:r>
              <a:rPr lang="en-US" sz="2600" b="1" dirty="0">
                <a:solidFill>
                  <a:srgbClr val="1B6B52"/>
                </a:solidFill>
                <a:latin typeface="Cambria" pitchFamily="34" charset="0"/>
                <a:ea typeface="Cambria" pitchFamily="34" charset="-122"/>
                <a:cs typeface="Cambria" pitchFamily="34" charset="-120"/>
              </a:rPr>
              <a:t>2</a:t>
            </a:r>
            <a:endParaRPr lang="en-US" sz="2600" dirty="0"/>
          </a:p>
        </p:txBody>
      </p:sp>
      <p:sp>
        <p:nvSpPr>
          <p:cNvPr id="14" name="Text 12"/>
          <p:cNvSpPr/>
          <p:nvPr/>
        </p:nvSpPr>
        <p:spPr>
          <a:xfrm>
            <a:off x="932688" y="4617720"/>
            <a:ext cx="2103120" cy="411480"/>
          </a:xfrm>
          <a:prstGeom prst="rect">
            <a:avLst/>
          </a:prstGeom>
          <a:noFill/>
          <a:ln/>
        </p:spPr>
        <p:txBody>
          <a:bodyPr wrap="square" lIns="0" tIns="0" rIns="0" bIns="0" rtlCol="0" anchor="ctr"/>
          <a:lstStyle/>
          <a:p>
            <a:pPr indent="0" marL="0">
              <a:lnSpc>
                <a:spcPts val="1400"/>
              </a:lnSpc>
              <a:buNone/>
            </a:pPr>
            <a:r>
              <a:rPr lang="en-US" sz="1150" dirty="0">
                <a:solidFill>
                  <a:srgbClr val="36404F"/>
                </a:solidFill>
                <a:latin typeface="Calibri" pitchFamily="34" charset="0"/>
                <a:ea typeface="Calibri" pitchFamily="34" charset="-122"/>
                <a:cs typeface="Calibri" pitchFamily="34" charset="-120"/>
              </a:rPr>
              <a:t>profiles, fully isolated</a:t>
            </a:r>
            <a:endParaRPr lang="en-US" sz="1150" dirty="0"/>
          </a:p>
        </p:txBody>
      </p:sp>
      <p:sp>
        <p:nvSpPr>
          <p:cNvPr id="15" name="Shape 13"/>
          <p:cNvSpPr/>
          <p:nvPr/>
        </p:nvSpPr>
        <p:spPr>
          <a:xfrm>
            <a:off x="3502152" y="3977640"/>
            <a:ext cx="2651760" cy="1188720"/>
          </a:xfrm>
          <a:prstGeom prst="roundRect">
            <a:avLst>
              <a:gd name="adj" fmla="val 6923"/>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6" name="Text 14"/>
          <p:cNvSpPr/>
          <p:nvPr/>
        </p:nvSpPr>
        <p:spPr>
          <a:xfrm>
            <a:off x="3776472" y="4160520"/>
            <a:ext cx="2103120" cy="457200"/>
          </a:xfrm>
          <a:prstGeom prst="rect">
            <a:avLst/>
          </a:prstGeom>
          <a:noFill/>
          <a:ln/>
        </p:spPr>
        <p:txBody>
          <a:bodyPr wrap="square" lIns="0" tIns="0" rIns="0" bIns="0" rtlCol="0" anchor="ctr"/>
          <a:lstStyle/>
          <a:p>
            <a:pPr indent="0" marL="0">
              <a:buNone/>
            </a:pPr>
            <a:r>
              <a:rPr lang="en-US" sz="2600" b="1" dirty="0">
                <a:solidFill>
                  <a:srgbClr val="1B6B52"/>
                </a:solidFill>
                <a:latin typeface="Cambria" pitchFamily="34" charset="0"/>
                <a:ea typeface="Cambria" pitchFamily="34" charset="-122"/>
                <a:cs typeface="Cambria" pitchFamily="34" charset="-120"/>
              </a:rPr>
              <a:t>11</a:t>
            </a:r>
            <a:endParaRPr lang="en-US" sz="2600" dirty="0"/>
          </a:p>
        </p:txBody>
      </p:sp>
      <p:sp>
        <p:nvSpPr>
          <p:cNvPr id="17" name="Text 15"/>
          <p:cNvSpPr/>
          <p:nvPr/>
        </p:nvSpPr>
        <p:spPr>
          <a:xfrm>
            <a:off x="3776472" y="4617720"/>
            <a:ext cx="2103120" cy="411480"/>
          </a:xfrm>
          <a:prstGeom prst="rect">
            <a:avLst/>
          </a:prstGeom>
          <a:noFill/>
          <a:ln/>
        </p:spPr>
        <p:txBody>
          <a:bodyPr wrap="square" lIns="0" tIns="0" rIns="0" bIns="0" rtlCol="0" anchor="ctr"/>
          <a:lstStyle/>
          <a:p>
            <a:pPr indent="0" marL="0">
              <a:lnSpc>
                <a:spcPts val="1400"/>
              </a:lnSpc>
              <a:buNone/>
            </a:pPr>
            <a:r>
              <a:rPr lang="en-US" sz="1150" dirty="0">
                <a:solidFill>
                  <a:srgbClr val="36404F"/>
                </a:solidFill>
                <a:latin typeface="Calibri" pitchFamily="34" charset="0"/>
                <a:ea typeface="Calibri" pitchFamily="34" charset="-122"/>
                <a:cs typeface="Calibri" pitchFamily="34" charset="-120"/>
              </a:rPr>
              <a:t>accounts, 7 institutions</a:t>
            </a:r>
            <a:endParaRPr lang="en-US" sz="1150" dirty="0"/>
          </a:p>
        </p:txBody>
      </p:sp>
      <p:sp>
        <p:nvSpPr>
          <p:cNvPr id="18" name="Shape 16"/>
          <p:cNvSpPr/>
          <p:nvPr/>
        </p:nvSpPr>
        <p:spPr>
          <a:xfrm>
            <a:off x="6345936" y="3977640"/>
            <a:ext cx="2651760" cy="1188720"/>
          </a:xfrm>
          <a:prstGeom prst="roundRect">
            <a:avLst>
              <a:gd name="adj" fmla="val 6923"/>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Text 17"/>
          <p:cNvSpPr/>
          <p:nvPr/>
        </p:nvSpPr>
        <p:spPr>
          <a:xfrm>
            <a:off x="6620256" y="4160520"/>
            <a:ext cx="2103120" cy="457200"/>
          </a:xfrm>
          <a:prstGeom prst="rect">
            <a:avLst/>
          </a:prstGeom>
          <a:noFill/>
          <a:ln/>
        </p:spPr>
        <p:txBody>
          <a:bodyPr wrap="square" lIns="0" tIns="0" rIns="0" bIns="0" rtlCol="0" anchor="ctr"/>
          <a:lstStyle/>
          <a:p>
            <a:pPr indent="0" marL="0">
              <a:buNone/>
            </a:pPr>
            <a:r>
              <a:rPr lang="en-US" sz="2600" b="1" dirty="0">
                <a:solidFill>
                  <a:srgbClr val="1B6B52"/>
                </a:solidFill>
                <a:latin typeface="Cambria" pitchFamily="34" charset="0"/>
                <a:ea typeface="Cambria" pitchFamily="34" charset="-122"/>
                <a:cs typeface="Cambria" pitchFamily="34" charset="-120"/>
              </a:rPr>
              <a:t>3,350</a:t>
            </a:r>
            <a:endParaRPr lang="en-US" sz="2600" dirty="0"/>
          </a:p>
        </p:txBody>
      </p:sp>
      <p:sp>
        <p:nvSpPr>
          <p:cNvPr id="20" name="Text 18"/>
          <p:cNvSpPr/>
          <p:nvPr/>
        </p:nvSpPr>
        <p:spPr>
          <a:xfrm>
            <a:off x="6620256" y="4617720"/>
            <a:ext cx="2103120" cy="411480"/>
          </a:xfrm>
          <a:prstGeom prst="rect">
            <a:avLst/>
          </a:prstGeom>
          <a:noFill/>
          <a:ln/>
        </p:spPr>
        <p:txBody>
          <a:bodyPr wrap="square" lIns="0" tIns="0" rIns="0" bIns="0" rtlCol="0" anchor="ctr"/>
          <a:lstStyle/>
          <a:p>
            <a:pPr indent="0" marL="0">
              <a:lnSpc>
                <a:spcPts val="1400"/>
              </a:lnSpc>
              <a:buNone/>
            </a:pPr>
            <a:r>
              <a:rPr lang="en-US" sz="1150" dirty="0">
                <a:solidFill>
                  <a:srgbClr val="36404F"/>
                </a:solidFill>
                <a:latin typeface="Calibri" pitchFamily="34" charset="0"/>
                <a:ea typeface="Calibri" pitchFamily="34" charset="-122"/>
                <a:cs typeface="Calibri" pitchFamily="34" charset="-120"/>
              </a:rPr>
              <a:t>generated transactions</a:t>
            </a:r>
            <a:endParaRPr lang="en-US" sz="1150" dirty="0"/>
          </a:p>
        </p:txBody>
      </p:sp>
      <p:sp>
        <p:nvSpPr>
          <p:cNvPr id="21" name="Shape 19"/>
          <p:cNvSpPr/>
          <p:nvPr/>
        </p:nvSpPr>
        <p:spPr>
          <a:xfrm>
            <a:off x="9189720" y="3977640"/>
            <a:ext cx="2651760" cy="1188720"/>
          </a:xfrm>
          <a:prstGeom prst="roundRect">
            <a:avLst>
              <a:gd name="adj" fmla="val 6923"/>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2" name="Text 20"/>
          <p:cNvSpPr/>
          <p:nvPr/>
        </p:nvSpPr>
        <p:spPr>
          <a:xfrm>
            <a:off x="9464040" y="4160520"/>
            <a:ext cx="2103120" cy="457200"/>
          </a:xfrm>
          <a:prstGeom prst="rect">
            <a:avLst/>
          </a:prstGeom>
          <a:noFill/>
          <a:ln/>
        </p:spPr>
        <p:txBody>
          <a:bodyPr wrap="square" lIns="0" tIns="0" rIns="0" bIns="0" rtlCol="0" anchor="ctr"/>
          <a:lstStyle/>
          <a:p>
            <a:pPr indent="0" marL="0">
              <a:buNone/>
            </a:pPr>
            <a:r>
              <a:rPr lang="en-US" sz="2600" b="1" dirty="0">
                <a:solidFill>
                  <a:srgbClr val="1B6B52"/>
                </a:solidFill>
                <a:latin typeface="Cambria" pitchFamily="34" charset="0"/>
                <a:ea typeface="Cambria" pitchFamily="34" charset="-122"/>
                <a:cs typeface="Cambria" pitchFamily="34" charset="-120"/>
              </a:rPr>
              <a:t>13</a:t>
            </a:r>
            <a:endParaRPr lang="en-US" sz="2600" dirty="0"/>
          </a:p>
        </p:txBody>
      </p:sp>
      <p:sp>
        <p:nvSpPr>
          <p:cNvPr id="23" name="Text 21"/>
          <p:cNvSpPr/>
          <p:nvPr/>
        </p:nvSpPr>
        <p:spPr>
          <a:xfrm>
            <a:off x="9464040" y="4617720"/>
            <a:ext cx="2103120" cy="411480"/>
          </a:xfrm>
          <a:prstGeom prst="rect">
            <a:avLst/>
          </a:prstGeom>
          <a:noFill/>
          <a:ln/>
        </p:spPr>
        <p:txBody>
          <a:bodyPr wrap="square" lIns="0" tIns="0" rIns="0" bIns="0" rtlCol="0" anchor="ctr"/>
          <a:lstStyle/>
          <a:p>
            <a:pPr indent="0" marL="0">
              <a:lnSpc>
                <a:spcPts val="1400"/>
              </a:lnSpc>
              <a:buNone/>
            </a:pPr>
            <a:r>
              <a:rPr lang="en-US" sz="1150" dirty="0">
                <a:solidFill>
                  <a:srgbClr val="36404F"/>
                </a:solidFill>
                <a:latin typeface="Calibri" pitchFamily="34" charset="0"/>
                <a:ea typeface="Calibri" pitchFamily="34" charset="-122"/>
                <a:cs typeface="Calibri" pitchFamily="34" charset="-120"/>
              </a:rPr>
              <a:t>planted events to catch</a:t>
            </a:r>
            <a:endParaRPr lang="en-US" sz="1150" dirty="0"/>
          </a:p>
        </p:txBody>
      </p:sp>
      <p:sp>
        <p:nvSpPr>
          <p:cNvPr id="24" name="Text 22"/>
          <p:cNvSpPr/>
          <p:nvPr/>
        </p:nvSpPr>
        <p:spPr>
          <a:xfrm>
            <a:off x="658368" y="5349240"/>
            <a:ext cx="10874959" cy="731520"/>
          </a:xfrm>
          <a:prstGeom prst="rect">
            <a:avLst/>
          </a:prstGeom>
          <a:noFill/>
          <a:ln/>
        </p:spPr>
        <p:txBody>
          <a:bodyPr wrap="square" lIns="0" tIns="0" rIns="0" bIns="0" rtlCol="0" anchor="ctr"/>
          <a:lstStyle/>
          <a:p>
            <a:pPr indent="0" marL="0">
              <a:lnSpc>
                <a:spcPts val="1700"/>
              </a:lnSpc>
              <a:buNone/>
            </a:pPr>
            <a:r>
              <a:rPr lang="en-US" sz="1250" i="1" dirty="0">
                <a:solidFill>
                  <a:srgbClr val="36404F"/>
                </a:solidFill>
                <a:latin typeface="Calibri" pitchFamily="34" charset="0"/>
                <a:ea typeface="Calibri" pitchFamily="34" charset="-122"/>
                <a:cs typeface="Calibri" pitchFamily="34" charset="-120"/>
              </a:rPr>
              <a:t>The dataset was generated with thirteen deliberate anomalies planted in it — a duplicate charge, a card compromise, a subscription that creeps up, a cheque the feed never saw — so the app could be measured on whether it finds them rather than on whether it runs.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ARCHITECTURE</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Layers, and the rules between them</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sp>
        <p:nvSpPr>
          <p:cNvPr id="6" name="Shape 4"/>
          <p:cNvSpPr/>
          <p:nvPr/>
        </p:nvSpPr>
        <p:spPr>
          <a:xfrm>
            <a:off x="658368" y="1463040"/>
            <a:ext cx="8549640" cy="749808"/>
          </a:xfrm>
          <a:prstGeom prst="roundRect">
            <a:avLst>
              <a:gd name="adj" fmla="val 9756"/>
            </a:avLst>
          </a:prstGeom>
          <a:solidFill>
            <a:srgbClr val="F3F5F8"/>
          </a:solidFill>
          <a:ln w="9525">
            <a:solidFill>
              <a:srgbClr val="DCE1E8"/>
            </a:solidFill>
            <a:prstDash val="solid"/>
          </a:ln>
        </p:spPr>
      </p:sp>
      <p:sp>
        <p:nvSpPr>
          <p:cNvPr id="7" name="Text 5"/>
          <p:cNvSpPr/>
          <p:nvPr/>
        </p:nvSpPr>
        <p:spPr>
          <a:xfrm>
            <a:off x="950976" y="1572768"/>
            <a:ext cx="1600200" cy="274320"/>
          </a:xfrm>
          <a:prstGeom prst="rect">
            <a:avLst/>
          </a:prstGeom>
          <a:noFill/>
          <a:ln/>
        </p:spPr>
        <p:txBody>
          <a:bodyPr wrap="square" lIns="0" tIns="0" rIns="0" bIns="0" rtlCol="0" anchor="ctr"/>
          <a:lstStyle/>
          <a:p>
            <a:pPr indent="0" marL="0">
              <a:buNone/>
            </a:pPr>
            <a:r>
              <a:rPr lang="en-US" sz="1400" b="1" dirty="0">
                <a:solidFill>
                  <a:srgbClr val="1B6B52"/>
                </a:solidFill>
                <a:latin typeface="Cambria" pitchFamily="34" charset="0"/>
                <a:ea typeface="Cambria" pitchFamily="34" charset="-122"/>
                <a:cs typeface="Cambria" pitchFamily="34" charset="-120"/>
              </a:rPr>
              <a:t>Interface</a:t>
            </a:r>
            <a:endParaRPr lang="en-US" sz="1400" dirty="0"/>
          </a:p>
        </p:txBody>
      </p:sp>
      <p:sp>
        <p:nvSpPr>
          <p:cNvPr id="8" name="Text 6"/>
          <p:cNvSpPr/>
          <p:nvPr/>
        </p:nvSpPr>
        <p:spPr>
          <a:xfrm>
            <a:off x="950976" y="1865376"/>
            <a:ext cx="4023360" cy="256032"/>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React 18 · TypeScript · Vite · Tailwind</a:t>
            </a:r>
            <a:endParaRPr lang="en-US" sz="1050" dirty="0"/>
          </a:p>
        </p:txBody>
      </p:sp>
      <p:sp>
        <p:nvSpPr>
          <p:cNvPr id="9" name="Text 7"/>
          <p:cNvSpPr/>
          <p:nvPr/>
        </p:nvSpPr>
        <p:spPr>
          <a:xfrm>
            <a:off x="5138928" y="1627632"/>
            <a:ext cx="3931920" cy="457200"/>
          </a:xfrm>
          <a:prstGeom prst="rect">
            <a:avLst/>
          </a:prstGeom>
          <a:noFill/>
          <a:ln/>
        </p:spPr>
        <p:txBody>
          <a:bodyPr wrap="square" lIns="0" tIns="0" rIns="0" bIns="0" rtlCol="0" anchor="ctr"/>
          <a:lstStyle/>
          <a:p>
            <a:pPr indent="0" marL="0">
              <a:lnSpc>
                <a:spcPts val="1450"/>
              </a:lnSpc>
              <a:buNone/>
            </a:pPr>
            <a:r>
              <a:rPr lang="en-US" sz="1150" dirty="0">
                <a:solidFill>
                  <a:srgbClr val="36404F"/>
                </a:solidFill>
                <a:latin typeface="Calibri" pitchFamily="34" charset="0"/>
                <a:ea typeface="Calibri" pitchFamily="34" charset="-122"/>
                <a:cs typeface="Calibri" pitchFamily="34" charset="-120"/>
              </a:rPr>
              <a:t>Compiled into the backend and served by it, so the container needs no Node at runtime</a:t>
            </a:r>
            <a:endParaRPr lang="en-US" sz="1150" dirty="0"/>
          </a:p>
        </p:txBody>
      </p:sp>
      <p:sp>
        <p:nvSpPr>
          <p:cNvPr id="10" name="Shape 8"/>
          <p:cNvSpPr/>
          <p:nvPr/>
        </p:nvSpPr>
        <p:spPr>
          <a:xfrm>
            <a:off x="658368" y="2359152"/>
            <a:ext cx="8549640" cy="749808"/>
          </a:xfrm>
          <a:prstGeom prst="roundRect">
            <a:avLst>
              <a:gd name="adj" fmla="val 9756"/>
            </a:avLst>
          </a:prstGeom>
          <a:solidFill>
            <a:srgbClr val="FFFFFF"/>
          </a:solidFill>
          <a:ln w="9525">
            <a:solidFill>
              <a:srgbClr val="DCE1E8"/>
            </a:solidFill>
            <a:prstDash val="solid"/>
          </a:ln>
        </p:spPr>
      </p:sp>
      <p:sp>
        <p:nvSpPr>
          <p:cNvPr id="11" name="Text 9"/>
          <p:cNvSpPr/>
          <p:nvPr/>
        </p:nvSpPr>
        <p:spPr>
          <a:xfrm>
            <a:off x="950976" y="2468880"/>
            <a:ext cx="1600200" cy="274320"/>
          </a:xfrm>
          <a:prstGeom prst="rect">
            <a:avLst/>
          </a:prstGeom>
          <a:noFill/>
          <a:ln/>
        </p:spPr>
        <p:txBody>
          <a:bodyPr wrap="square" lIns="0" tIns="0" rIns="0" bIns="0" rtlCol="0" anchor="ctr"/>
          <a:lstStyle/>
          <a:p>
            <a:pPr indent="0" marL="0">
              <a:buNone/>
            </a:pPr>
            <a:r>
              <a:rPr lang="en-US" sz="1400" b="1" dirty="0">
                <a:solidFill>
                  <a:srgbClr val="1B6B52"/>
                </a:solidFill>
                <a:latin typeface="Cambria" pitchFamily="34" charset="0"/>
                <a:ea typeface="Cambria" pitchFamily="34" charset="-122"/>
                <a:cs typeface="Cambria" pitchFamily="34" charset="-120"/>
              </a:rPr>
              <a:t>Routers</a:t>
            </a:r>
            <a:endParaRPr lang="en-US" sz="1400" dirty="0"/>
          </a:p>
        </p:txBody>
      </p:sp>
      <p:sp>
        <p:nvSpPr>
          <p:cNvPr id="12" name="Text 10"/>
          <p:cNvSpPr/>
          <p:nvPr/>
        </p:nvSpPr>
        <p:spPr>
          <a:xfrm>
            <a:off x="950976" y="2761488"/>
            <a:ext cx="4023360" cy="256032"/>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FastAPI · async · cookie sessions</a:t>
            </a:r>
            <a:endParaRPr lang="en-US" sz="1050" dirty="0"/>
          </a:p>
        </p:txBody>
      </p:sp>
      <p:sp>
        <p:nvSpPr>
          <p:cNvPr id="13" name="Text 11"/>
          <p:cNvSpPr/>
          <p:nvPr/>
        </p:nvSpPr>
        <p:spPr>
          <a:xfrm>
            <a:off x="5138928" y="2523744"/>
            <a:ext cx="3931920" cy="457200"/>
          </a:xfrm>
          <a:prstGeom prst="rect">
            <a:avLst/>
          </a:prstGeom>
          <a:noFill/>
          <a:ln/>
        </p:spPr>
        <p:txBody>
          <a:bodyPr wrap="square" lIns="0" tIns="0" rIns="0" bIns="0" rtlCol="0" anchor="ctr"/>
          <a:lstStyle/>
          <a:p>
            <a:pPr indent="0" marL="0">
              <a:lnSpc>
                <a:spcPts val="1450"/>
              </a:lnSpc>
              <a:buNone/>
            </a:pPr>
            <a:r>
              <a:rPr lang="en-US" sz="1150" dirty="0">
                <a:solidFill>
                  <a:srgbClr val="36404F"/>
                </a:solidFill>
                <a:latin typeface="Calibri" pitchFamily="34" charset="0"/>
                <a:ea typeface="Calibri" pitchFamily="34" charset="-122"/>
                <a:cs typeface="Calibri" pitchFamily="34" charset="-120"/>
              </a:rPr>
              <a:t>HTTP only. No business logic lives here</a:t>
            </a:r>
            <a:endParaRPr lang="en-US" sz="1150" dirty="0"/>
          </a:p>
        </p:txBody>
      </p:sp>
      <p:sp>
        <p:nvSpPr>
          <p:cNvPr id="14" name="Shape 12"/>
          <p:cNvSpPr/>
          <p:nvPr/>
        </p:nvSpPr>
        <p:spPr>
          <a:xfrm>
            <a:off x="658368" y="3255264"/>
            <a:ext cx="8549640" cy="749808"/>
          </a:xfrm>
          <a:prstGeom prst="roundRect">
            <a:avLst>
              <a:gd name="adj" fmla="val 9756"/>
            </a:avLst>
          </a:prstGeom>
          <a:solidFill>
            <a:srgbClr val="F3F5F8"/>
          </a:solidFill>
          <a:ln w="9525">
            <a:solidFill>
              <a:srgbClr val="DCE1E8"/>
            </a:solidFill>
            <a:prstDash val="solid"/>
          </a:ln>
        </p:spPr>
      </p:sp>
      <p:sp>
        <p:nvSpPr>
          <p:cNvPr id="15" name="Text 13"/>
          <p:cNvSpPr/>
          <p:nvPr/>
        </p:nvSpPr>
        <p:spPr>
          <a:xfrm>
            <a:off x="950976" y="3364992"/>
            <a:ext cx="1600200" cy="274320"/>
          </a:xfrm>
          <a:prstGeom prst="rect">
            <a:avLst/>
          </a:prstGeom>
          <a:noFill/>
          <a:ln/>
        </p:spPr>
        <p:txBody>
          <a:bodyPr wrap="square" lIns="0" tIns="0" rIns="0" bIns="0" rtlCol="0" anchor="ctr"/>
          <a:lstStyle/>
          <a:p>
            <a:pPr indent="0" marL="0">
              <a:buNone/>
            </a:pPr>
            <a:r>
              <a:rPr lang="en-US" sz="1400" b="1" dirty="0">
                <a:solidFill>
                  <a:srgbClr val="1B6B52"/>
                </a:solidFill>
                <a:latin typeface="Cambria" pitchFamily="34" charset="0"/>
                <a:ea typeface="Cambria" pitchFamily="34" charset="-122"/>
                <a:cs typeface="Cambria" pitchFamily="34" charset="-120"/>
              </a:rPr>
              <a:t>Services</a:t>
            </a:r>
            <a:endParaRPr lang="en-US" sz="1400" dirty="0"/>
          </a:p>
        </p:txBody>
      </p:sp>
      <p:sp>
        <p:nvSpPr>
          <p:cNvPr id="16" name="Text 14"/>
          <p:cNvSpPr/>
          <p:nvPr/>
        </p:nvSpPr>
        <p:spPr>
          <a:xfrm>
            <a:off x="950976" y="3657600"/>
            <a:ext cx="4023360" cy="256032"/>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Ingestion · dedupe · reconciliation · budgets · coach</a:t>
            </a:r>
            <a:endParaRPr lang="en-US" sz="1050" dirty="0"/>
          </a:p>
        </p:txBody>
      </p:sp>
      <p:sp>
        <p:nvSpPr>
          <p:cNvPr id="17" name="Text 15"/>
          <p:cNvSpPr/>
          <p:nvPr/>
        </p:nvSpPr>
        <p:spPr>
          <a:xfrm>
            <a:off x="5138928" y="3419856"/>
            <a:ext cx="3931920" cy="457200"/>
          </a:xfrm>
          <a:prstGeom prst="rect">
            <a:avLst/>
          </a:prstGeom>
          <a:noFill/>
          <a:ln/>
        </p:spPr>
        <p:txBody>
          <a:bodyPr wrap="square" lIns="0" tIns="0" rIns="0" bIns="0" rtlCol="0" anchor="ctr"/>
          <a:lstStyle/>
          <a:p>
            <a:pPr indent="0" marL="0">
              <a:lnSpc>
                <a:spcPts val="1450"/>
              </a:lnSpc>
              <a:buNone/>
            </a:pPr>
            <a:r>
              <a:rPr lang="en-US" sz="1150" dirty="0">
                <a:solidFill>
                  <a:srgbClr val="36404F"/>
                </a:solidFill>
                <a:latin typeface="Calibri" pitchFamily="34" charset="0"/>
                <a:ea typeface="Calibri" pitchFamily="34" charset="-122"/>
                <a:cs typeface="Calibri" pitchFamily="34" charset="-120"/>
              </a:rPr>
              <a:t>All the judgment. Returns domain objects, never ORM rows</a:t>
            </a:r>
            <a:endParaRPr lang="en-US" sz="1150" dirty="0"/>
          </a:p>
        </p:txBody>
      </p:sp>
      <p:sp>
        <p:nvSpPr>
          <p:cNvPr id="18" name="Shape 16"/>
          <p:cNvSpPr/>
          <p:nvPr/>
        </p:nvSpPr>
        <p:spPr>
          <a:xfrm>
            <a:off x="658368" y="4151376"/>
            <a:ext cx="8549640" cy="749808"/>
          </a:xfrm>
          <a:prstGeom prst="roundRect">
            <a:avLst>
              <a:gd name="adj" fmla="val 9756"/>
            </a:avLst>
          </a:prstGeom>
          <a:solidFill>
            <a:srgbClr val="FFFFFF"/>
          </a:solidFill>
          <a:ln w="9525">
            <a:solidFill>
              <a:srgbClr val="DCE1E8"/>
            </a:solidFill>
            <a:prstDash val="solid"/>
          </a:ln>
        </p:spPr>
      </p:sp>
      <p:sp>
        <p:nvSpPr>
          <p:cNvPr id="19" name="Text 17"/>
          <p:cNvSpPr/>
          <p:nvPr/>
        </p:nvSpPr>
        <p:spPr>
          <a:xfrm>
            <a:off x="950976" y="4261104"/>
            <a:ext cx="1600200" cy="274320"/>
          </a:xfrm>
          <a:prstGeom prst="rect">
            <a:avLst/>
          </a:prstGeom>
          <a:noFill/>
          <a:ln/>
        </p:spPr>
        <p:txBody>
          <a:bodyPr wrap="square" lIns="0" tIns="0" rIns="0" bIns="0" rtlCol="0" anchor="ctr"/>
          <a:lstStyle/>
          <a:p>
            <a:pPr indent="0" marL="0">
              <a:buNone/>
            </a:pPr>
            <a:r>
              <a:rPr lang="en-US" sz="1400" b="1" dirty="0">
                <a:solidFill>
                  <a:srgbClr val="1B6B52"/>
                </a:solidFill>
                <a:latin typeface="Cambria" pitchFamily="34" charset="0"/>
                <a:ea typeface="Cambria" pitchFamily="34" charset="-122"/>
                <a:cs typeface="Cambria" pitchFamily="34" charset="-120"/>
              </a:rPr>
              <a:t>Repositories</a:t>
            </a:r>
            <a:endParaRPr lang="en-US" sz="1400" dirty="0"/>
          </a:p>
        </p:txBody>
      </p:sp>
      <p:sp>
        <p:nvSpPr>
          <p:cNvPr id="20" name="Text 18"/>
          <p:cNvSpPr/>
          <p:nvPr/>
        </p:nvSpPr>
        <p:spPr>
          <a:xfrm>
            <a:off x="950976" y="4553712"/>
            <a:ext cx="4023360" cy="256032"/>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SQLAlchemy 2 · every method scoped by user_id</a:t>
            </a:r>
            <a:endParaRPr lang="en-US" sz="1050" dirty="0"/>
          </a:p>
        </p:txBody>
      </p:sp>
      <p:sp>
        <p:nvSpPr>
          <p:cNvPr id="21" name="Text 19"/>
          <p:cNvSpPr/>
          <p:nvPr/>
        </p:nvSpPr>
        <p:spPr>
          <a:xfrm>
            <a:off x="5138928" y="4315968"/>
            <a:ext cx="3931920" cy="457200"/>
          </a:xfrm>
          <a:prstGeom prst="rect">
            <a:avLst/>
          </a:prstGeom>
          <a:noFill/>
          <a:ln/>
        </p:spPr>
        <p:txBody>
          <a:bodyPr wrap="square" lIns="0" tIns="0" rIns="0" bIns="0" rtlCol="0" anchor="ctr"/>
          <a:lstStyle/>
          <a:p>
            <a:pPr indent="0" marL="0">
              <a:lnSpc>
                <a:spcPts val="1450"/>
              </a:lnSpc>
              <a:buNone/>
            </a:pPr>
            <a:r>
              <a:rPr lang="en-US" sz="1150" dirty="0">
                <a:solidFill>
                  <a:srgbClr val="36404F"/>
                </a:solidFill>
                <a:latin typeface="Calibri" pitchFamily="34" charset="0"/>
                <a:ea typeface="Calibri" pitchFamily="34" charset="-122"/>
                <a:cs typeface="Calibri" pitchFamily="34" charset="-120"/>
              </a:rPr>
              <a:t>All the SQL. A structural test fails the build if a method forgets the user</a:t>
            </a:r>
            <a:endParaRPr lang="en-US" sz="1150" dirty="0"/>
          </a:p>
        </p:txBody>
      </p:sp>
      <p:sp>
        <p:nvSpPr>
          <p:cNvPr id="22" name="Shape 20"/>
          <p:cNvSpPr/>
          <p:nvPr/>
        </p:nvSpPr>
        <p:spPr>
          <a:xfrm>
            <a:off x="658368" y="5047488"/>
            <a:ext cx="8549640" cy="749808"/>
          </a:xfrm>
          <a:prstGeom prst="roundRect">
            <a:avLst>
              <a:gd name="adj" fmla="val 9756"/>
            </a:avLst>
          </a:prstGeom>
          <a:solidFill>
            <a:srgbClr val="F3F5F8"/>
          </a:solidFill>
          <a:ln w="9525">
            <a:solidFill>
              <a:srgbClr val="DCE1E8"/>
            </a:solidFill>
            <a:prstDash val="solid"/>
          </a:ln>
        </p:spPr>
      </p:sp>
      <p:sp>
        <p:nvSpPr>
          <p:cNvPr id="23" name="Text 21"/>
          <p:cNvSpPr/>
          <p:nvPr/>
        </p:nvSpPr>
        <p:spPr>
          <a:xfrm>
            <a:off x="950976" y="5157216"/>
            <a:ext cx="1600200" cy="274320"/>
          </a:xfrm>
          <a:prstGeom prst="rect">
            <a:avLst/>
          </a:prstGeom>
          <a:noFill/>
          <a:ln/>
        </p:spPr>
        <p:txBody>
          <a:bodyPr wrap="square" lIns="0" tIns="0" rIns="0" bIns="0" rtlCol="0" anchor="ctr"/>
          <a:lstStyle/>
          <a:p>
            <a:pPr indent="0" marL="0">
              <a:buNone/>
            </a:pPr>
            <a:r>
              <a:rPr lang="en-US" sz="1400" b="1" dirty="0">
                <a:solidFill>
                  <a:srgbClr val="1B6B52"/>
                </a:solidFill>
                <a:latin typeface="Cambria" pitchFamily="34" charset="0"/>
                <a:ea typeface="Cambria" pitchFamily="34" charset="-122"/>
                <a:cs typeface="Cambria" pitchFamily="34" charset="-120"/>
              </a:rPr>
              <a:t>Storage</a:t>
            </a:r>
            <a:endParaRPr lang="en-US" sz="1400" dirty="0"/>
          </a:p>
        </p:txBody>
      </p:sp>
      <p:sp>
        <p:nvSpPr>
          <p:cNvPr id="24" name="Text 22"/>
          <p:cNvSpPr/>
          <p:nvPr/>
        </p:nvSpPr>
        <p:spPr>
          <a:xfrm>
            <a:off x="950976" y="5449824"/>
            <a:ext cx="4023360" cy="256032"/>
          </a:xfrm>
          <a:prstGeom prst="rect">
            <a:avLst/>
          </a:prstGeom>
          <a:noFill/>
          <a:ln/>
        </p:spPr>
        <p:txBody>
          <a:bodyPr wrap="square" lIns="0" tIns="0" rIns="0" bIns="0" rtlCol="0" anchor="ctr"/>
          <a:lstStyle/>
          <a:p>
            <a:pPr indent="0" marL="0">
              <a:buNone/>
            </a:pPr>
            <a:r>
              <a:rPr lang="en-US" sz="1050" dirty="0">
                <a:solidFill>
                  <a:srgbClr val="737F91"/>
                </a:solidFill>
                <a:latin typeface="Calibri" pitchFamily="34" charset="0"/>
                <a:ea typeface="Calibri" pitchFamily="34" charset="-122"/>
                <a:cs typeface="Calibri" pitchFamily="34" charset="-120"/>
              </a:rPr>
              <a:t>SQLite today, PostgreSQL-compatible schema · Alembic migrations</a:t>
            </a:r>
            <a:endParaRPr lang="en-US" sz="1050" dirty="0"/>
          </a:p>
        </p:txBody>
      </p:sp>
      <p:sp>
        <p:nvSpPr>
          <p:cNvPr id="25" name="Text 23"/>
          <p:cNvSpPr/>
          <p:nvPr/>
        </p:nvSpPr>
        <p:spPr>
          <a:xfrm>
            <a:off x="5138928" y="5212080"/>
            <a:ext cx="3931920" cy="457200"/>
          </a:xfrm>
          <a:prstGeom prst="rect">
            <a:avLst/>
          </a:prstGeom>
          <a:noFill/>
          <a:ln/>
        </p:spPr>
        <p:txBody>
          <a:bodyPr wrap="square" lIns="0" tIns="0" rIns="0" bIns="0" rtlCol="0" anchor="ctr"/>
          <a:lstStyle/>
          <a:p>
            <a:pPr indent="0" marL="0">
              <a:lnSpc>
                <a:spcPts val="1450"/>
              </a:lnSpc>
              <a:buNone/>
            </a:pPr>
            <a:r>
              <a:rPr lang="en-US" sz="1150" dirty="0">
                <a:solidFill>
                  <a:srgbClr val="36404F"/>
                </a:solidFill>
                <a:latin typeface="Calibri" pitchFamily="34" charset="0"/>
                <a:ea typeface="Calibri" pitchFamily="34" charset="-122"/>
                <a:cs typeface="Calibri" pitchFamily="34" charset="-120"/>
              </a:rPr>
              <a:t>Money is integer cents everywhere, never a float</a:t>
            </a:r>
            <a:endParaRPr lang="en-US" sz="1150" dirty="0"/>
          </a:p>
        </p:txBody>
      </p:sp>
      <p:sp>
        <p:nvSpPr>
          <p:cNvPr id="26" name="Shape 24"/>
          <p:cNvSpPr/>
          <p:nvPr/>
        </p:nvSpPr>
        <p:spPr>
          <a:xfrm>
            <a:off x="9418320" y="1463040"/>
            <a:ext cx="2115007" cy="4526280"/>
          </a:xfrm>
          <a:prstGeom prst="roundRect">
            <a:avLst>
              <a:gd name="adj" fmla="val 3891"/>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7" name="Text 25"/>
          <p:cNvSpPr/>
          <p:nvPr/>
        </p:nvSpPr>
        <p:spPr>
          <a:xfrm>
            <a:off x="9692640" y="1691640"/>
            <a:ext cx="1920240" cy="274320"/>
          </a:xfrm>
          <a:prstGeom prst="rect">
            <a:avLst/>
          </a:prstGeom>
          <a:noFill/>
          <a:ln/>
        </p:spPr>
        <p:txBody>
          <a:bodyPr wrap="square" lIns="0" tIns="0" rIns="0" bIns="0" rtlCol="0" anchor="ctr"/>
          <a:lstStyle/>
          <a:p>
            <a:pPr indent="0" marL="0">
              <a:buNone/>
            </a:pPr>
            <a:r>
              <a:rPr lang="en-US" sz="1400" b="1" dirty="0">
                <a:solidFill>
                  <a:srgbClr val="1B6B52"/>
                </a:solidFill>
                <a:latin typeface="Cambria" pitchFamily="34" charset="0"/>
                <a:ea typeface="Cambria" pitchFamily="34" charset="-122"/>
                <a:cs typeface="Cambria" pitchFamily="34" charset="-120"/>
              </a:rPr>
              <a:t>The AI layer</a:t>
            </a:r>
            <a:endParaRPr lang="en-US" sz="1400" dirty="0"/>
          </a:p>
        </p:txBody>
      </p:sp>
      <p:sp>
        <p:nvSpPr>
          <p:cNvPr id="28" name="Text 26"/>
          <p:cNvSpPr/>
          <p:nvPr/>
        </p:nvSpPr>
        <p:spPr>
          <a:xfrm>
            <a:off x="9692640" y="2011680"/>
            <a:ext cx="1920240" cy="548640"/>
          </a:xfrm>
          <a:prstGeom prst="rect">
            <a:avLst/>
          </a:prstGeom>
          <a:noFill/>
          <a:ln/>
        </p:spPr>
        <p:txBody>
          <a:bodyPr wrap="square" lIns="0" tIns="0" rIns="0" bIns="0" rtlCol="0" anchor="ctr"/>
          <a:lstStyle/>
          <a:p>
            <a:pPr indent="0" marL="0">
              <a:lnSpc>
                <a:spcPts val="1500"/>
              </a:lnSpc>
              <a:buNone/>
            </a:pPr>
            <a:r>
              <a:rPr lang="en-US" sz="1150" dirty="0">
                <a:solidFill>
                  <a:srgbClr val="36404F"/>
                </a:solidFill>
                <a:latin typeface="Calibri" pitchFamily="34" charset="0"/>
                <a:ea typeface="Calibri" pitchFamily="34" charset="-122"/>
                <a:cs typeface="Calibri" pitchFamily="34" charset="-120"/>
              </a:rPr>
              <a:t>Ollama</a:t>
            </a:r>
            <a:endParaRPr lang="en-US" sz="1150" dirty="0"/>
          </a:p>
          <a:p>
            <a:pPr indent="0" marL="0">
              <a:lnSpc>
                <a:spcPts val="1500"/>
              </a:lnSpc>
              <a:buNone/>
            </a:pPr>
            <a:r>
              <a:rPr lang="en-US" sz="1150" dirty="0">
                <a:solidFill>
                  <a:srgbClr val="36404F"/>
                </a:solidFill>
                <a:latin typeface="Calibri" pitchFamily="34" charset="0"/>
                <a:ea typeface="Calibri" pitchFamily="34" charset="-122"/>
                <a:cs typeface="Calibri" pitchFamily="34" charset="-120"/>
              </a:rPr>
              <a:t>qwen2.5 · local</a:t>
            </a:r>
            <a:endParaRPr lang="en-US" sz="1150" dirty="0"/>
          </a:p>
        </p:txBody>
      </p:sp>
      <p:sp>
        <p:nvSpPr>
          <p:cNvPr id="29" name="Shape 27"/>
          <p:cNvSpPr/>
          <p:nvPr/>
        </p:nvSpPr>
        <p:spPr>
          <a:xfrm>
            <a:off x="9692640" y="2697480"/>
            <a:ext cx="1920240" cy="1371600"/>
          </a:xfrm>
          <a:prstGeom prst="roundRect">
            <a:avLst>
              <a:gd name="adj" fmla="val 5333"/>
            </a:avLst>
          </a:prstGeom>
          <a:solidFill>
            <a:srgbClr val="FFFFFF"/>
          </a:solidFill>
          <a:ln w="12700">
            <a:solidFill>
              <a:srgbClr val="1B6B52"/>
            </a:solidFill>
            <a:prstDash val="solid"/>
          </a:ln>
        </p:spPr>
      </p:sp>
      <p:sp>
        <p:nvSpPr>
          <p:cNvPr id="30" name="Text 28"/>
          <p:cNvSpPr/>
          <p:nvPr/>
        </p:nvSpPr>
        <p:spPr>
          <a:xfrm>
            <a:off x="9692640" y="2880360"/>
            <a:ext cx="1920240" cy="548640"/>
          </a:xfrm>
          <a:prstGeom prst="rect">
            <a:avLst/>
          </a:prstGeom>
          <a:noFill/>
          <a:ln/>
        </p:spPr>
        <p:txBody>
          <a:bodyPr wrap="square" lIns="0" tIns="0" rIns="0" bIns="0" rtlCol="0" anchor="ctr"/>
          <a:lstStyle/>
          <a:p>
            <a:pPr algn="ctr" indent="0" marL="0">
              <a:lnSpc>
                <a:spcPts val="1900"/>
              </a:lnSpc>
              <a:buNone/>
            </a:pPr>
            <a:r>
              <a:rPr lang="en-US" sz="1500" b="1" dirty="0">
                <a:solidFill>
                  <a:srgbClr val="1B6B52"/>
                </a:solidFill>
                <a:latin typeface="Cambria" pitchFamily="34" charset="0"/>
                <a:ea typeface="Cambria" pitchFamily="34" charset="-122"/>
                <a:cs typeface="Cambria" pitchFamily="34" charset="-120"/>
              </a:rPr>
              <a:t>127.0.0.1</a:t>
            </a:r>
            <a:endParaRPr lang="en-US" sz="1500" dirty="0"/>
          </a:p>
          <a:p>
            <a:pPr algn="ctr" indent="0" marL="0">
              <a:lnSpc>
                <a:spcPts val="1900"/>
              </a:lnSpc>
              <a:buNone/>
            </a:pPr>
            <a:r>
              <a:rPr lang="en-US" sz="1500" b="1" dirty="0">
                <a:solidFill>
                  <a:srgbClr val="1B6B52"/>
                </a:solidFill>
                <a:latin typeface="Cambria" pitchFamily="34" charset="0"/>
                <a:ea typeface="Cambria" pitchFamily="34" charset="-122"/>
                <a:cs typeface="Cambria" pitchFamily="34" charset="-120"/>
              </a:rPr>
              <a:t>only</a:t>
            </a:r>
            <a:endParaRPr lang="en-US" sz="1500" dirty="0"/>
          </a:p>
        </p:txBody>
      </p:sp>
      <p:sp>
        <p:nvSpPr>
          <p:cNvPr id="31" name="Text 29"/>
          <p:cNvSpPr/>
          <p:nvPr/>
        </p:nvSpPr>
        <p:spPr>
          <a:xfrm>
            <a:off x="9692640" y="3474720"/>
            <a:ext cx="1920240" cy="548640"/>
          </a:xfrm>
          <a:prstGeom prst="rect">
            <a:avLst/>
          </a:prstGeom>
          <a:noFill/>
          <a:ln/>
        </p:spPr>
        <p:txBody>
          <a:bodyPr wrap="square" lIns="0" tIns="0" rIns="0" bIns="0" rtlCol="0" anchor="ctr"/>
          <a:lstStyle/>
          <a:p>
            <a:pPr algn="ctr" indent="0" marL="0">
              <a:lnSpc>
                <a:spcPts val="1300"/>
              </a:lnSpc>
              <a:buNone/>
            </a:pPr>
            <a:r>
              <a:rPr lang="en-US" sz="1050" dirty="0">
                <a:solidFill>
                  <a:srgbClr val="737F91"/>
                </a:solidFill>
                <a:latin typeface="Calibri" pitchFamily="34" charset="0"/>
                <a:ea typeface="Calibri" pitchFamily="34" charset="-122"/>
                <a:cs typeface="Calibri" pitchFamily="34" charset="-120"/>
              </a:rPr>
              <a:t>Enforced at</a:t>
            </a:r>
            <a:endParaRPr lang="en-US" sz="1050" dirty="0"/>
          </a:p>
          <a:p>
            <a:pPr algn="ctr" indent="0" marL="0">
              <a:lnSpc>
                <a:spcPts val="1300"/>
              </a:lnSpc>
              <a:buNone/>
            </a:pPr>
            <a:r>
              <a:rPr lang="en-US" sz="1050" dirty="0">
                <a:solidFill>
                  <a:srgbClr val="737F91"/>
                </a:solidFill>
                <a:latin typeface="Calibri" pitchFamily="34" charset="0"/>
                <a:ea typeface="Calibri" pitchFamily="34" charset="-122"/>
                <a:cs typeface="Calibri" pitchFamily="34" charset="-120"/>
              </a:rPr>
              <a:t>start-up, not</a:t>
            </a:r>
            <a:endParaRPr lang="en-US" sz="1050" dirty="0"/>
          </a:p>
          <a:p>
            <a:pPr algn="ctr" indent="0" marL="0">
              <a:lnSpc>
                <a:spcPts val="1300"/>
              </a:lnSpc>
              <a:buNone/>
            </a:pPr>
            <a:r>
              <a:rPr lang="en-US" sz="1050" dirty="0">
                <a:solidFill>
                  <a:srgbClr val="737F91"/>
                </a:solidFill>
                <a:latin typeface="Calibri" pitchFamily="34" charset="0"/>
                <a:ea typeface="Calibri" pitchFamily="34" charset="-122"/>
                <a:cs typeface="Calibri" pitchFamily="34" charset="-120"/>
              </a:rPr>
              <a:t>by configuration</a:t>
            </a:r>
            <a:endParaRPr lang="en-US" sz="1050" dirty="0"/>
          </a:p>
        </p:txBody>
      </p:sp>
      <p:sp>
        <p:nvSpPr>
          <p:cNvPr id="32" name="Text 30"/>
          <p:cNvSpPr/>
          <p:nvPr/>
        </p:nvSpPr>
        <p:spPr>
          <a:xfrm>
            <a:off x="9692640" y="4297680"/>
            <a:ext cx="1920240" cy="731520"/>
          </a:xfrm>
          <a:prstGeom prst="rect">
            <a:avLst/>
          </a:prstGeom>
          <a:noFill/>
          <a:ln/>
        </p:spPr>
        <p:txBody>
          <a:bodyPr wrap="square" lIns="0" tIns="0" rIns="0" bIns="0" rtlCol="0" anchor="ctr"/>
          <a:lstStyle/>
          <a:p>
            <a:pPr indent="0" marL="0">
              <a:lnSpc>
                <a:spcPts val="1600"/>
              </a:lnSpc>
              <a:buNone/>
            </a:pPr>
            <a:r>
              <a:rPr lang="en-US" sz="1250" b="1" i="1" dirty="0">
                <a:solidFill>
                  <a:srgbClr val="1B6B52"/>
                </a:solidFill>
                <a:latin typeface="Cambria" pitchFamily="34" charset="0"/>
                <a:ea typeface="Cambria" pitchFamily="34" charset="-122"/>
                <a:cs typeface="Cambria" pitchFamily="34" charset="-120"/>
              </a:rPr>
              <a:t>Judgment in the model.</a:t>
            </a:r>
            <a:endParaRPr lang="en-US" sz="1250" dirty="0"/>
          </a:p>
          <a:p>
            <a:pPr indent="0" marL="0">
              <a:lnSpc>
                <a:spcPts val="1600"/>
              </a:lnSpc>
              <a:buNone/>
            </a:pPr>
            <a:r>
              <a:rPr lang="en-US" sz="1250" b="1" i="1" dirty="0">
                <a:solidFill>
                  <a:srgbClr val="1B6B52"/>
                </a:solidFill>
                <a:latin typeface="Cambria" pitchFamily="34" charset="0"/>
                <a:ea typeface="Cambria" pitchFamily="34" charset="-122"/>
                <a:cs typeface="Cambria" pitchFamily="34" charset="-120"/>
              </a:rPr>
              <a:t>Guarantees in code.</a:t>
            </a:r>
            <a:endParaRPr lang="en-US" sz="1250" dirty="0"/>
          </a:p>
        </p:txBody>
      </p:sp>
      <p:sp>
        <p:nvSpPr>
          <p:cNvPr id="33" name="Text 31"/>
          <p:cNvSpPr/>
          <p:nvPr/>
        </p:nvSpPr>
        <p:spPr>
          <a:xfrm>
            <a:off x="9692640" y="5029200"/>
            <a:ext cx="1920240" cy="868680"/>
          </a:xfrm>
          <a:prstGeom prst="rect">
            <a:avLst/>
          </a:prstGeom>
          <a:noFill/>
          <a:ln/>
        </p:spPr>
        <p:txBody>
          <a:bodyPr wrap="square" lIns="0" tIns="0" rIns="0" bIns="0" rtlCol="0" anchor="ctr"/>
          <a:lstStyle/>
          <a:p>
            <a:pPr indent="0" marL="0">
              <a:lnSpc>
                <a:spcPts val="1300"/>
              </a:lnSpc>
              <a:buNone/>
            </a:pPr>
            <a:r>
              <a:rPr lang="en-US" sz="1050" dirty="0">
                <a:solidFill>
                  <a:srgbClr val="36404F"/>
                </a:solidFill>
                <a:latin typeface="Calibri" pitchFamily="34" charset="0"/>
                <a:ea typeface="Calibri" pitchFamily="34" charset="-122"/>
                <a:cs typeface="Calibri" pitchFamily="34" charset="-120"/>
              </a:rPr>
              <a:t>Totals, confidence ceilings and category identifiers are computed in Python after the model answers.</a:t>
            </a:r>
            <a:endParaRPr lang="en-US" sz="1050" dirty="0"/>
          </a:p>
        </p:txBody>
      </p:sp>
      <p:sp>
        <p:nvSpPr>
          <p:cNvPr id="34" name="Text 32"/>
          <p:cNvSpPr/>
          <p:nvPr/>
        </p:nvSpPr>
        <p:spPr>
          <a:xfrm>
            <a:off x="658368" y="6291072"/>
            <a:ext cx="10874959" cy="274320"/>
          </a:xfrm>
          <a:prstGeom prst="rect">
            <a:avLst/>
          </a:prstGeom>
          <a:noFill/>
          <a:ln/>
        </p:spPr>
        <p:txBody>
          <a:bodyPr wrap="square" lIns="0" tIns="0" rIns="0" bIns="0" rtlCol="0" anchor="ctr"/>
          <a:lstStyle/>
          <a:p>
            <a:pPr indent="0" marL="0">
              <a:buNone/>
            </a:pPr>
            <a:r>
              <a:rPr lang="en-US" sz="1000" i="1" dirty="0">
                <a:solidFill>
                  <a:srgbClr val="737F91"/>
                </a:solidFill>
                <a:latin typeface="Calibri" pitchFamily="34" charset="0"/>
                <a:ea typeface="Calibri" pitchFamily="34" charset="-122"/>
                <a:cs typeface="Calibri" pitchFamily="34" charset="-120"/>
              </a:rPr>
              <a:t>Layering rule: routers do no business logic, services do no SQL, repositories do no HTTP.</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THE HARD PART</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Five formats in, one ledger out</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sp>
        <p:nvSpPr>
          <p:cNvPr id="6" name="Shape 4"/>
          <p:cNvSpPr/>
          <p:nvPr/>
        </p:nvSpPr>
        <p:spPr>
          <a:xfrm>
            <a:off x="658368" y="1463040"/>
            <a:ext cx="2029968" cy="1691640"/>
          </a:xfrm>
          <a:prstGeom prst="roundRect">
            <a:avLst>
              <a:gd name="adj" fmla="val 4865"/>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859536" y="1627632"/>
            <a:ext cx="1645920" cy="274320"/>
          </a:xfrm>
          <a:prstGeom prst="rect">
            <a:avLst/>
          </a:prstGeom>
          <a:noFill/>
          <a:ln/>
        </p:spPr>
        <p:txBody>
          <a:bodyPr wrap="square" lIns="0" tIns="0" rIns="0" bIns="0" rtlCol="0" anchor="ctr"/>
          <a:lstStyle/>
          <a:p>
            <a:pPr indent="0" marL="0">
              <a:buNone/>
            </a:pPr>
            <a:r>
              <a:rPr lang="en-US" sz="1350" b="1" dirty="0">
                <a:solidFill>
                  <a:srgbClr val="141A24"/>
                </a:solidFill>
                <a:latin typeface="Cambria" pitchFamily="34" charset="0"/>
                <a:ea typeface="Cambria" pitchFamily="34" charset="-122"/>
                <a:cs typeface="Cambria" pitchFamily="34" charset="-120"/>
              </a:rPr>
              <a:t>American Bank</a:t>
            </a:r>
            <a:endParaRPr lang="en-US" sz="1350" dirty="0"/>
          </a:p>
        </p:txBody>
      </p:sp>
      <p:sp>
        <p:nvSpPr>
          <p:cNvPr id="8" name="Text 6"/>
          <p:cNvSpPr/>
          <p:nvPr/>
        </p:nvSpPr>
        <p:spPr>
          <a:xfrm>
            <a:off x="859536" y="1901952"/>
            <a:ext cx="1645920" cy="237744"/>
          </a:xfrm>
          <a:prstGeom prst="rect">
            <a:avLst/>
          </a:prstGeom>
          <a:noFill/>
          <a:ln/>
        </p:spPr>
        <p:txBody>
          <a:bodyPr wrap="square" lIns="0" tIns="0" rIns="0" bIns="0" rtlCol="0" anchor="ctr"/>
          <a:lstStyle/>
          <a:p>
            <a:pPr indent="0" marL="0">
              <a:buNone/>
            </a:pPr>
            <a:r>
              <a:rPr lang="en-US" sz="1050" b="1" dirty="0">
                <a:solidFill>
                  <a:srgbClr val="1B6B52"/>
                </a:solidFill>
                <a:latin typeface="Calibri" pitchFamily="34" charset="0"/>
                <a:ea typeface="Calibri" pitchFamily="34" charset="-122"/>
                <a:cs typeface="Calibri" pitchFamily="34" charset="-120"/>
              </a:rPr>
              <a:t>MM/DD/YY</a:t>
            </a:r>
            <a:endParaRPr lang="en-US" sz="1050" dirty="0"/>
          </a:p>
        </p:txBody>
      </p:sp>
      <p:sp>
        <p:nvSpPr>
          <p:cNvPr id="9" name="Text 7"/>
          <p:cNvSpPr/>
          <p:nvPr/>
        </p:nvSpPr>
        <p:spPr>
          <a:xfrm>
            <a:off x="859536" y="2194560"/>
            <a:ext cx="1645920" cy="777240"/>
          </a:xfrm>
          <a:prstGeom prst="rect">
            <a:avLst/>
          </a:prstGeom>
          <a:noFill/>
          <a:ln/>
        </p:spPr>
        <p:txBody>
          <a:bodyPr wrap="square" lIns="0" tIns="0" rIns="0" bIns="0" rtlCol="0" anchor="ctr"/>
          <a:lstStyle/>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Date, description,</a:t>
            </a:r>
            <a:endParaRPr lang="en-US" sz="1050" dirty="0"/>
          </a:p>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amount, balance</a:t>
            </a:r>
            <a:endParaRPr lang="en-US" sz="1050" dirty="0"/>
          </a:p>
        </p:txBody>
      </p:sp>
      <p:sp>
        <p:nvSpPr>
          <p:cNvPr id="10" name="Shape 8"/>
          <p:cNvSpPr/>
          <p:nvPr/>
        </p:nvSpPr>
        <p:spPr>
          <a:xfrm>
            <a:off x="2871216" y="1463040"/>
            <a:ext cx="2029968" cy="1691640"/>
          </a:xfrm>
          <a:prstGeom prst="roundRect">
            <a:avLst>
              <a:gd name="adj" fmla="val 4865"/>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1" name="Text 9"/>
          <p:cNvSpPr/>
          <p:nvPr/>
        </p:nvSpPr>
        <p:spPr>
          <a:xfrm>
            <a:off x="3072384" y="1627632"/>
            <a:ext cx="1645920" cy="274320"/>
          </a:xfrm>
          <a:prstGeom prst="rect">
            <a:avLst/>
          </a:prstGeom>
          <a:noFill/>
          <a:ln/>
        </p:spPr>
        <p:txBody>
          <a:bodyPr wrap="square" lIns="0" tIns="0" rIns="0" bIns="0" rtlCol="0" anchor="ctr"/>
          <a:lstStyle/>
          <a:p>
            <a:pPr indent="0" marL="0">
              <a:buNone/>
            </a:pPr>
            <a:r>
              <a:rPr lang="en-US" sz="1350" b="1" dirty="0">
                <a:solidFill>
                  <a:srgbClr val="141A24"/>
                </a:solidFill>
                <a:latin typeface="Cambria" pitchFamily="34" charset="0"/>
                <a:ea typeface="Cambria" pitchFamily="34" charset="-122"/>
                <a:cs typeface="Cambria" pitchFamily="34" charset="-120"/>
              </a:rPr>
              <a:t>Chase</a:t>
            </a:r>
            <a:endParaRPr lang="en-US" sz="1350" dirty="0"/>
          </a:p>
        </p:txBody>
      </p:sp>
      <p:sp>
        <p:nvSpPr>
          <p:cNvPr id="12" name="Text 10"/>
          <p:cNvSpPr/>
          <p:nvPr/>
        </p:nvSpPr>
        <p:spPr>
          <a:xfrm>
            <a:off x="3072384" y="1901952"/>
            <a:ext cx="1645920" cy="237744"/>
          </a:xfrm>
          <a:prstGeom prst="rect">
            <a:avLst/>
          </a:prstGeom>
          <a:noFill/>
          <a:ln/>
        </p:spPr>
        <p:txBody>
          <a:bodyPr wrap="square" lIns="0" tIns="0" rIns="0" bIns="0" rtlCol="0" anchor="ctr"/>
          <a:lstStyle/>
          <a:p>
            <a:pPr indent="0" marL="0">
              <a:buNone/>
            </a:pPr>
            <a:r>
              <a:rPr lang="en-US" sz="1050" b="1" dirty="0">
                <a:solidFill>
                  <a:srgbClr val="1B6B52"/>
                </a:solidFill>
                <a:latin typeface="Calibri" pitchFamily="34" charset="0"/>
                <a:ea typeface="Calibri" pitchFamily="34" charset="-122"/>
                <a:cs typeface="Calibri" pitchFamily="34" charset="-120"/>
              </a:rPr>
              <a:t>Mon DD, YYYY</a:t>
            </a:r>
            <a:endParaRPr lang="en-US" sz="1050" dirty="0"/>
          </a:p>
        </p:txBody>
      </p:sp>
      <p:sp>
        <p:nvSpPr>
          <p:cNvPr id="13" name="Text 11"/>
          <p:cNvSpPr/>
          <p:nvPr/>
        </p:nvSpPr>
        <p:spPr>
          <a:xfrm>
            <a:off x="3072384" y="2194560"/>
            <a:ext cx="1645920" cy="777240"/>
          </a:xfrm>
          <a:prstGeom prst="rect">
            <a:avLst/>
          </a:prstGeom>
          <a:noFill/>
          <a:ln/>
        </p:spPr>
        <p:txBody>
          <a:bodyPr wrap="square" lIns="0" tIns="0" rIns="0" bIns="0" rtlCol="0" anchor="ctr"/>
          <a:lstStyle/>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Card purchases print</a:t>
            </a:r>
            <a:endParaRPr lang="en-US" sz="1050" dirty="0"/>
          </a:p>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positive, so signs flip</a:t>
            </a:r>
            <a:endParaRPr lang="en-US" sz="1050" dirty="0"/>
          </a:p>
        </p:txBody>
      </p:sp>
      <p:sp>
        <p:nvSpPr>
          <p:cNvPr id="14" name="Shape 12"/>
          <p:cNvSpPr/>
          <p:nvPr/>
        </p:nvSpPr>
        <p:spPr>
          <a:xfrm>
            <a:off x="5084064" y="1463040"/>
            <a:ext cx="2029968" cy="1691640"/>
          </a:xfrm>
          <a:prstGeom prst="roundRect">
            <a:avLst>
              <a:gd name="adj" fmla="val 4865"/>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5" name="Text 13"/>
          <p:cNvSpPr/>
          <p:nvPr/>
        </p:nvSpPr>
        <p:spPr>
          <a:xfrm>
            <a:off x="5285232" y="1627632"/>
            <a:ext cx="1645920" cy="274320"/>
          </a:xfrm>
          <a:prstGeom prst="rect">
            <a:avLst/>
          </a:prstGeom>
          <a:noFill/>
          <a:ln/>
        </p:spPr>
        <p:txBody>
          <a:bodyPr wrap="square" lIns="0" tIns="0" rIns="0" bIns="0" rtlCol="0" anchor="ctr"/>
          <a:lstStyle/>
          <a:p>
            <a:pPr indent="0" marL="0">
              <a:buNone/>
            </a:pPr>
            <a:r>
              <a:rPr lang="en-US" sz="1350" b="1" dirty="0">
                <a:solidFill>
                  <a:srgbClr val="141A24"/>
                </a:solidFill>
                <a:latin typeface="Cambria" pitchFamily="34" charset="0"/>
                <a:ea typeface="Cambria" pitchFamily="34" charset="-122"/>
                <a:cs typeface="Cambria" pitchFamily="34" charset="-120"/>
              </a:rPr>
              <a:t>Discover</a:t>
            </a:r>
            <a:endParaRPr lang="en-US" sz="1350" dirty="0"/>
          </a:p>
        </p:txBody>
      </p:sp>
      <p:sp>
        <p:nvSpPr>
          <p:cNvPr id="16" name="Text 14"/>
          <p:cNvSpPr/>
          <p:nvPr/>
        </p:nvSpPr>
        <p:spPr>
          <a:xfrm>
            <a:off x="5285232" y="1901952"/>
            <a:ext cx="1645920" cy="237744"/>
          </a:xfrm>
          <a:prstGeom prst="rect">
            <a:avLst/>
          </a:prstGeom>
          <a:noFill/>
          <a:ln/>
        </p:spPr>
        <p:txBody>
          <a:bodyPr wrap="square" lIns="0" tIns="0" rIns="0" bIns="0" rtlCol="0" anchor="ctr"/>
          <a:lstStyle/>
          <a:p>
            <a:pPr indent="0" marL="0">
              <a:buNone/>
            </a:pPr>
            <a:r>
              <a:rPr lang="en-US" sz="1050" b="1" dirty="0">
                <a:solidFill>
                  <a:srgbClr val="1B6B52"/>
                </a:solidFill>
                <a:latin typeface="Calibri" pitchFamily="34" charset="0"/>
                <a:ea typeface="Calibri" pitchFamily="34" charset="-122"/>
                <a:cs typeface="Calibri" pitchFamily="34" charset="-120"/>
              </a:rPr>
              <a:t>MM/DD/YYYY</a:t>
            </a:r>
            <a:endParaRPr lang="en-US" sz="1050" dirty="0"/>
          </a:p>
        </p:txBody>
      </p:sp>
      <p:sp>
        <p:nvSpPr>
          <p:cNvPr id="17" name="Text 15"/>
          <p:cNvSpPr/>
          <p:nvPr/>
        </p:nvSpPr>
        <p:spPr>
          <a:xfrm>
            <a:off x="5285232" y="2194560"/>
            <a:ext cx="1645920" cy="777240"/>
          </a:xfrm>
          <a:prstGeom prst="rect">
            <a:avLst/>
          </a:prstGeom>
          <a:noFill/>
          <a:ln/>
        </p:spPr>
        <p:txBody>
          <a:bodyPr wrap="square" lIns="0" tIns="0" rIns="0" bIns="0" rtlCol="0" anchor="ctr"/>
          <a:lstStyle/>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Transaction and post</a:t>
            </a:r>
            <a:endParaRPr lang="en-US" sz="1050" dirty="0"/>
          </a:p>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dates in separate columns</a:t>
            </a:r>
            <a:endParaRPr lang="en-US" sz="1050" dirty="0"/>
          </a:p>
        </p:txBody>
      </p:sp>
      <p:sp>
        <p:nvSpPr>
          <p:cNvPr id="18" name="Shape 16"/>
          <p:cNvSpPr/>
          <p:nvPr/>
        </p:nvSpPr>
        <p:spPr>
          <a:xfrm>
            <a:off x="7296912" y="1463040"/>
            <a:ext cx="2029968" cy="1691640"/>
          </a:xfrm>
          <a:prstGeom prst="roundRect">
            <a:avLst>
              <a:gd name="adj" fmla="val 4865"/>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Text 17"/>
          <p:cNvSpPr/>
          <p:nvPr/>
        </p:nvSpPr>
        <p:spPr>
          <a:xfrm>
            <a:off x="7498080" y="1627632"/>
            <a:ext cx="1645920" cy="274320"/>
          </a:xfrm>
          <a:prstGeom prst="rect">
            <a:avLst/>
          </a:prstGeom>
          <a:noFill/>
          <a:ln/>
        </p:spPr>
        <p:txBody>
          <a:bodyPr wrap="square" lIns="0" tIns="0" rIns="0" bIns="0" rtlCol="0" anchor="ctr"/>
          <a:lstStyle/>
          <a:p>
            <a:pPr indent="0" marL="0">
              <a:buNone/>
            </a:pPr>
            <a:r>
              <a:rPr lang="en-US" sz="1350" b="1" dirty="0">
                <a:solidFill>
                  <a:srgbClr val="141A24"/>
                </a:solidFill>
                <a:latin typeface="Cambria" pitchFamily="34" charset="0"/>
                <a:ea typeface="Cambria" pitchFamily="34" charset="-122"/>
                <a:cs typeface="Cambria" pitchFamily="34" charset="-120"/>
              </a:rPr>
              <a:t>Ally</a:t>
            </a:r>
            <a:endParaRPr lang="en-US" sz="1350" dirty="0"/>
          </a:p>
        </p:txBody>
      </p:sp>
      <p:sp>
        <p:nvSpPr>
          <p:cNvPr id="20" name="Text 18"/>
          <p:cNvSpPr/>
          <p:nvPr/>
        </p:nvSpPr>
        <p:spPr>
          <a:xfrm>
            <a:off x="7498080" y="1901952"/>
            <a:ext cx="1645920" cy="237744"/>
          </a:xfrm>
          <a:prstGeom prst="rect">
            <a:avLst/>
          </a:prstGeom>
          <a:noFill/>
          <a:ln/>
        </p:spPr>
        <p:txBody>
          <a:bodyPr wrap="square" lIns="0" tIns="0" rIns="0" bIns="0" rtlCol="0" anchor="ctr"/>
          <a:lstStyle/>
          <a:p>
            <a:pPr indent="0" marL="0">
              <a:buNone/>
            </a:pPr>
            <a:r>
              <a:rPr lang="en-US" sz="1050" b="1" dirty="0">
                <a:solidFill>
                  <a:srgbClr val="1B6B52"/>
                </a:solidFill>
                <a:latin typeface="Calibri" pitchFamily="34" charset="0"/>
                <a:ea typeface="Calibri" pitchFamily="34" charset="-122"/>
                <a:cs typeface="Calibri" pitchFamily="34" charset="-120"/>
              </a:rPr>
              <a:t>ISO 8601</a:t>
            </a:r>
            <a:endParaRPr lang="en-US" sz="1050" dirty="0"/>
          </a:p>
        </p:txBody>
      </p:sp>
      <p:sp>
        <p:nvSpPr>
          <p:cNvPr id="21" name="Text 19"/>
          <p:cNvSpPr/>
          <p:nvPr/>
        </p:nvSpPr>
        <p:spPr>
          <a:xfrm>
            <a:off x="7498080" y="2194560"/>
            <a:ext cx="1645920" cy="777240"/>
          </a:xfrm>
          <a:prstGeom prst="rect">
            <a:avLst/>
          </a:prstGeom>
          <a:noFill/>
          <a:ln/>
        </p:spPr>
        <p:txBody>
          <a:bodyPr wrap="square" lIns="0" tIns="0" rIns="0" bIns="0" rtlCol="0" anchor="ctr"/>
          <a:lstStyle/>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Unsigned columns — direction</a:t>
            </a:r>
            <a:endParaRPr lang="en-US" sz="1050" dirty="0"/>
          </a:p>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lives in the running balance</a:t>
            </a:r>
            <a:endParaRPr lang="en-US" sz="1050" dirty="0"/>
          </a:p>
        </p:txBody>
      </p:sp>
      <p:sp>
        <p:nvSpPr>
          <p:cNvPr id="22" name="Shape 20"/>
          <p:cNvSpPr/>
          <p:nvPr/>
        </p:nvSpPr>
        <p:spPr>
          <a:xfrm>
            <a:off x="9509760" y="1463040"/>
            <a:ext cx="2029968" cy="1691640"/>
          </a:xfrm>
          <a:prstGeom prst="roundRect">
            <a:avLst>
              <a:gd name="adj" fmla="val 4865"/>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3" name="Text 21"/>
          <p:cNvSpPr/>
          <p:nvPr/>
        </p:nvSpPr>
        <p:spPr>
          <a:xfrm>
            <a:off x="9710928" y="1627632"/>
            <a:ext cx="1645920" cy="274320"/>
          </a:xfrm>
          <a:prstGeom prst="rect">
            <a:avLst/>
          </a:prstGeom>
          <a:noFill/>
          <a:ln/>
        </p:spPr>
        <p:txBody>
          <a:bodyPr wrap="square" lIns="0" tIns="0" rIns="0" bIns="0" rtlCol="0" anchor="ctr"/>
          <a:lstStyle/>
          <a:p>
            <a:pPr indent="0" marL="0">
              <a:buNone/>
            </a:pPr>
            <a:r>
              <a:rPr lang="en-US" sz="1350" b="1" dirty="0">
                <a:solidFill>
                  <a:srgbClr val="141A24"/>
                </a:solidFill>
                <a:latin typeface="Cambria" pitchFamily="34" charset="0"/>
                <a:ea typeface="Cambria" pitchFamily="34" charset="-122"/>
                <a:cs typeface="Cambria" pitchFamily="34" charset="-120"/>
              </a:rPr>
              <a:t>Capital One</a:t>
            </a:r>
            <a:endParaRPr lang="en-US" sz="1350" dirty="0"/>
          </a:p>
        </p:txBody>
      </p:sp>
      <p:sp>
        <p:nvSpPr>
          <p:cNvPr id="24" name="Text 22"/>
          <p:cNvSpPr/>
          <p:nvPr/>
        </p:nvSpPr>
        <p:spPr>
          <a:xfrm>
            <a:off x="9710928" y="1901952"/>
            <a:ext cx="1645920" cy="237744"/>
          </a:xfrm>
          <a:prstGeom prst="rect">
            <a:avLst/>
          </a:prstGeom>
          <a:noFill/>
          <a:ln/>
        </p:spPr>
        <p:txBody>
          <a:bodyPr wrap="square" lIns="0" tIns="0" rIns="0" bIns="0" rtlCol="0" anchor="ctr"/>
          <a:lstStyle/>
          <a:p>
            <a:pPr indent="0" marL="0">
              <a:buNone/>
            </a:pPr>
            <a:r>
              <a:rPr lang="en-US" sz="1050" b="1" dirty="0">
                <a:solidFill>
                  <a:srgbClr val="1B6B52"/>
                </a:solidFill>
                <a:latin typeface="Calibri" pitchFamily="34" charset="0"/>
                <a:ea typeface="Calibri" pitchFamily="34" charset="-122"/>
                <a:cs typeface="Calibri" pitchFamily="34" charset="-120"/>
              </a:rPr>
              <a:t>Mon DD, no year</a:t>
            </a:r>
            <a:endParaRPr lang="en-US" sz="1050" dirty="0"/>
          </a:p>
        </p:txBody>
      </p:sp>
      <p:sp>
        <p:nvSpPr>
          <p:cNvPr id="25" name="Text 23"/>
          <p:cNvSpPr/>
          <p:nvPr/>
        </p:nvSpPr>
        <p:spPr>
          <a:xfrm>
            <a:off x="9710928" y="2194560"/>
            <a:ext cx="1645920" cy="777240"/>
          </a:xfrm>
          <a:prstGeom prst="rect">
            <a:avLst/>
          </a:prstGeom>
          <a:noFill/>
          <a:ln/>
        </p:spPr>
        <p:txBody>
          <a:bodyPr wrap="square" lIns="0" tIns="0" rIns="0" bIns="0" rtlCol="0" anchor="ctr"/>
          <a:lstStyle/>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Year comes from the</a:t>
            </a:r>
            <a:endParaRPr lang="en-US" sz="1050" dirty="0"/>
          </a:p>
          <a:p>
            <a:pPr indent="0" marL="0">
              <a:lnSpc>
                <a:spcPts val="1300"/>
              </a:lnSpc>
              <a:buNone/>
            </a:pPr>
            <a:r>
              <a:rPr lang="en-US" sz="1050" dirty="0">
                <a:solidFill>
                  <a:srgbClr val="737F91"/>
                </a:solidFill>
                <a:latin typeface="Calibri" pitchFamily="34" charset="0"/>
                <a:ea typeface="Calibri" pitchFamily="34" charset="-122"/>
                <a:cs typeface="Calibri" pitchFamily="34" charset="-120"/>
              </a:rPr>
              <a:t>billing period header</a:t>
            </a:r>
            <a:endParaRPr lang="en-US" sz="1050" dirty="0"/>
          </a:p>
        </p:txBody>
      </p:sp>
      <p:sp>
        <p:nvSpPr>
          <p:cNvPr id="26" name="Text 24"/>
          <p:cNvSpPr/>
          <p:nvPr/>
        </p:nvSpPr>
        <p:spPr>
          <a:xfrm>
            <a:off x="658368" y="3246120"/>
            <a:ext cx="5486400" cy="274320"/>
          </a:xfrm>
          <a:prstGeom prst="rect">
            <a:avLst/>
          </a:prstGeom>
          <a:noFill/>
          <a:ln/>
        </p:spPr>
        <p:txBody>
          <a:bodyPr wrap="square" lIns="0" tIns="0" rIns="0" bIns="0" rtlCol="0" anchor="ctr"/>
          <a:lstStyle/>
          <a:p>
            <a:pPr indent="0" marL="0">
              <a:buNone/>
            </a:pPr>
            <a:r>
              <a:rPr lang="en-US" sz="1150" i="1" dirty="0">
                <a:solidFill>
                  <a:srgbClr val="737F91"/>
                </a:solidFill>
                <a:latin typeface="Calibri" pitchFamily="34" charset="0"/>
                <a:ea typeface="Calibri" pitchFamily="34" charset="-122"/>
                <a:cs typeface="Calibri" pitchFamily="34" charset="-120"/>
              </a:rPr>
              <a:t>Plus CSV exports from four platforms and monthly OFX files.</a:t>
            </a:r>
            <a:endParaRPr lang="en-US" sz="1150" dirty="0"/>
          </a:p>
        </p:txBody>
      </p:sp>
      <p:sp>
        <p:nvSpPr>
          <p:cNvPr id="27" name="Shape 25"/>
          <p:cNvSpPr/>
          <p:nvPr/>
        </p:nvSpPr>
        <p:spPr>
          <a:xfrm>
            <a:off x="658368" y="3657600"/>
            <a:ext cx="5532120" cy="2148840"/>
          </a:xfrm>
          <a:prstGeom prst="roundRect">
            <a:avLst>
              <a:gd name="adj" fmla="val 3830"/>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8" name="Text 26"/>
          <p:cNvSpPr/>
          <p:nvPr/>
        </p:nvSpPr>
        <p:spPr>
          <a:xfrm>
            <a:off x="978408" y="3886200"/>
            <a:ext cx="493776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Deduplication is where correctness is won or lost</a:t>
            </a:r>
            <a:endParaRPr lang="en-US" sz="1450" dirty="0"/>
          </a:p>
        </p:txBody>
      </p:sp>
      <p:sp>
        <p:nvSpPr>
          <p:cNvPr id="29" name="Text 27"/>
          <p:cNvSpPr/>
          <p:nvPr/>
        </p:nvSpPr>
        <p:spPr>
          <a:xfrm>
            <a:off x="978408" y="4206240"/>
            <a:ext cx="4937760" cy="109728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The same purchase arrives from the feed and from a statement, dated a day or three apart, described differently. Match too eagerly and a real transaction disappears from someone's ledger. Match too cautiously and every purchase shows twice.</a:t>
            </a:r>
            <a:endParaRPr lang="en-US" sz="1250" dirty="0"/>
          </a:p>
        </p:txBody>
      </p:sp>
      <p:sp>
        <p:nvSpPr>
          <p:cNvPr id="30" name="Text 28"/>
          <p:cNvSpPr/>
          <p:nvPr/>
        </p:nvSpPr>
        <p:spPr>
          <a:xfrm>
            <a:off x="978408" y="5230368"/>
            <a:ext cx="4937760" cy="457200"/>
          </a:xfrm>
          <a:prstGeom prst="rect">
            <a:avLst/>
          </a:prstGeom>
          <a:noFill/>
          <a:ln/>
        </p:spPr>
        <p:txBody>
          <a:bodyPr wrap="square" lIns="0" tIns="0" rIns="0" bIns="0" rtlCol="0" anchor="ctr"/>
          <a:lstStyle/>
          <a:p>
            <a:pPr indent="0" marL="0">
              <a:lnSpc>
                <a:spcPts val="1500"/>
              </a:lnSpc>
              <a:buNone/>
            </a:pPr>
            <a:r>
              <a:rPr lang="en-US" sz="1200" b="1" dirty="0">
                <a:solidFill>
                  <a:srgbClr val="141A24"/>
                </a:solidFill>
                <a:latin typeface="Calibri" pitchFamily="34" charset="0"/>
                <a:ea typeface="Calibri" pitchFamily="34" charset="-122"/>
                <a:cs typeface="Calibri" pitchFamily="34" charset="-120"/>
              </a:rPr>
              <a:t>Two layers: an occurrence-aware hash, then a one-to-one assignment pass over amount-exact candidates within three days.</a:t>
            </a:r>
            <a:endParaRPr lang="en-US" sz="1200" dirty="0"/>
          </a:p>
        </p:txBody>
      </p:sp>
      <p:sp>
        <p:nvSpPr>
          <p:cNvPr id="31" name="Shape 29"/>
          <p:cNvSpPr/>
          <p:nvPr/>
        </p:nvSpPr>
        <p:spPr>
          <a:xfrm>
            <a:off x="6537960" y="3657600"/>
            <a:ext cx="4995367" cy="2148840"/>
          </a:xfrm>
          <a:prstGeom prst="roundRect">
            <a:avLst>
              <a:gd name="adj" fmla="val 3830"/>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32" name="Text 30"/>
          <p:cNvSpPr/>
          <p:nvPr/>
        </p:nvSpPr>
        <p:spPr>
          <a:xfrm>
            <a:off x="6858000" y="3886200"/>
            <a:ext cx="4663440" cy="274320"/>
          </a:xfrm>
          <a:prstGeom prst="rect">
            <a:avLst/>
          </a:prstGeom>
          <a:noFill/>
          <a:ln/>
        </p:spPr>
        <p:txBody>
          <a:bodyPr wrap="square" lIns="0" tIns="0" rIns="0" bIns="0" rtlCol="0" anchor="ctr"/>
          <a:lstStyle/>
          <a:p>
            <a:pPr indent="0" marL="0">
              <a:buNone/>
            </a:pPr>
            <a:r>
              <a:rPr lang="en-US" sz="1200" b="1" spc="80" kern="0" dirty="0">
                <a:solidFill>
                  <a:srgbClr val="1B6B52"/>
                </a:solidFill>
                <a:latin typeface="Calibri" pitchFamily="34" charset="0"/>
                <a:ea typeface="Calibri" pitchFamily="34" charset="-122"/>
                <a:cs typeface="Calibri" pitchFamily="34" charset="-120"/>
              </a:rPr>
              <a:t>The proof</a:t>
            </a:r>
            <a:endParaRPr lang="en-US" sz="1200" dirty="0"/>
          </a:p>
        </p:txBody>
      </p:sp>
      <p:sp>
        <p:nvSpPr>
          <p:cNvPr id="33" name="Text 31"/>
          <p:cNvSpPr/>
          <p:nvPr/>
        </p:nvSpPr>
        <p:spPr>
          <a:xfrm>
            <a:off x="6858000" y="4114800"/>
            <a:ext cx="1463040" cy="713232"/>
          </a:xfrm>
          <a:prstGeom prst="rect">
            <a:avLst/>
          </a:prstGeom>
          <a:noFill/>
          <a:ln/>
        </p:spPr>
        <p:txBody>
          <a:bodyPr wrap="square" lIns="0" tIns="0" rIns="0" bIns="0" rtlCol="0" anchor="ctr"/>
          <a:lstStyle/>
          <a:p>
            <a:pPr indent="0" marL="0">
              <a:buNone/>
            </a:pPr>
            <a:r>
              <a:rPr lang="en-US" sz="4200" b="1" dirty="0">
                <a:solidFill>
                  <a:srgbClr val="1B6B52"/>
                </a:solidFill>
                <a:latin typeface="Cambria" pitchFamily="34" charset="0"/>
                <a:ea typeface="Cambria" pitchFamily="34" charset="-122"/>
                <a:cs typeface="Cambria" pitchFamily="34" charset="-120"/>
              </a:rPr>
              <a:t>153</a:t>
            </a:r>
            <a:endParaRPr lang="en-US" sz="4200" dirty="0"/>
          </a:p>
        </p:txBody>
      </p:sp>
      <p:sp>
        <p:nvSpPr>
          <p:cNvPr id="34" name="Text 32"/>
          <p:cNvSpPr/>
          <p:nvPr/>
        </p:nvSpPr>
        <p:spPr>
          <a:xfrm>
            <a:off x="8366760" y="4224528"/>
            <a:ext cx="3108960" cy="50292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documents imported</a:t>
            </a:r>
            <a:endParaRPr lang="en-US" sz="1200" dirty="0"/>
          </a:p>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into seeded profiles</a:t>
            </a:r>
            <a:endParaRPr lang="en-US" sz="1200" dirty="0"/>
          </a:p>
        </p:txBody>
      </p:sp>
      <p:sp>
        <p:nvSpPr>
          <p:cNvPr id="35" name="Text 33"/>
          <p:cNvSpPr/>
          <p:nvPr/>
        </p:nvSpPr>
        <p:spPr>
          <a:xfrm>
            <a:off x="6858000" y="4828032"/>
            <a:ext cx="1463040" cy="713232"/>
          </a:xfrm>
          <a:prstGeom prst="rect">
            <a:avLst/>
          </a:prstGeom>
          <a:noFill/>
          <a:ln/>
        </p:spPr>
        <p:txBody>
          <a:bodyPr wrap="square" lIns="0" tIns="0" rIns="0" bIns="0" rtlCol="0" anchor="ctr"/>
          <a:lstStyle/>
          <a:p>
            <a:pPr indent="0" marL="0">
              <a:buNone/>
            </a:pPr>
            <a:r>
              <a:rPr lang="en-US" sz="4200" b="1" dirty="0">
                <a:solidFill>
                  <a:srgbClr val="141A24"/>
                </a:solidFill>
                <a:latin typeface="Cambria" pitchFamily="34" charset="0"/>
                <a:ea typeface="Cambria" pitchFamily="34" charset="-122"/>
                <a:cs typeface="Cambria" pitchFamily="34" charset="-120"/>
              </a:rPr>
              <a:t>1</a:t>
            </a:r>
            <a:endParaRPr lang="en-US" sz="4200" dirty="0"/>
          </a:p>
        </p:txBody>
      </p:sp>
      <p:sp>
        <p:nvSpPr>
          <p:cNvPr id="36" name="Text 34"/>
          <p:cNvSpPr/>
          <p:nvPr/>
        </p:nvSpPr>
        <p:spPr>
          <a:xfrm>
            <a:off x="8366760" y="4864608"/>
            <a:ext cx="3108960" cy="68580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new row created — every</a:t>
            </a:r>
            <a:endParaRPr lang="en-US" sz="1200" dirty="0"/>
          </a:p>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other line matched what</a:t>
            </a:r>
            <a:endParaRPr lang="en-US" sz="1200" dirty="0"/>
          </a:p>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the feed already had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THE APPLICATION</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Eight screens, and what each one is for</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pic>
        <p:nvPicPr>
          <p:cNvPr id="6" name="Image 0" descr="/workspace/meridian/docs/screenshots/dev/m8-dashboard-live.png">    </p:cNvPr>
          <p:cNvPicPr>
            <a:picLocks noChangeAspect="1"/>
          </p:cNvPicPr>
          <p:nvPr/>
        </p:nvPicPr>
        <p:blipFill>
          <a:blip r:embed="rId1"/>
          <a:stretch>
            <a:fillRect/>
          </a:stretch>
        </p:blipFill>
        <p:spPr>
          <a:xfrm>
            <a:off x="658368" y="1463040"/>
            <a:ext cx="3520440" cy="2359152"/>
          </a:xfrm>
          <a:prstGeom prst="rect">
            <a:avLst/>
          </a:prstGeom>
        </p:spPr>
      </p:pic>
      <p:sp>
        <p:nvSpPr>
          <p:cNvPr id="7" name="Text 4"/>
          <p:cNvSpPr/>
          <p:nvPr/>
        </p:nvSpPr>
        <p:spPr>
          <a:xfrm>
            <a:off x="658368" y="4114800"/>
            <a:ext cx="352044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Dashboard</a:t>
            </a:r>
            <a:endParaRPr lang="en-US" sz="1500" dirty="0"/>
          </a:p>
        </p:txBody>
      </p:sp>
      <p:sp>
        <p:nvSpPr>
          <p:cNvPr id="8" name="Text 5"/>
          <p:cNvSpPr/>
          <p:nvPr/>
        </p:nvSpPr>
        <p:spPr>
          <a:xfrm>
            <a:off x="658368" y="4425696"/>
            <a:ext cx="3520440" cy="73152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Spending power, not just a balance: liquid funds minus what is already committed</a:t>
            </a:r>
            <a:endParaRPr lang="en-US" sz="1150" dirty="0"/>
          </a:p>
        </p:txBody>
      </p:sp>
      <p:pic>
        <p:nvPicPr>
          <p:cNvPr id="9" name="Image 1" descr="/workspace/meridian/docs/screenshots/dev/m10-reconciliation.png">    </p:cNvPr>
          <p:cNvPicPr>
            <a:picLocks noChangeAspect="1"/>
          </p:cNvPicPr>
          <p:nvPr/>
        </p:nvPicPr>
        <p:blipFill>
          <a:blip r:embed="rId2"/>
          <a:stretch>
            <a:fillRect/>
          </a:stretch>
        </p:blipFill>
        <p:spPr>
          <a:xfrm>
            <a:off x="4361688" y="1463040"/>
            <a:ext cx="3520440" cy="2359152"/>
          </a:xfrm>
          <a:prstGeom prst="rect">
            <a:avLst/>
          </a:prstGeom>
        </p:spPr>
      </p:pic>
      <p:sp>
        <p:nvSpPr>
          <p:cNvPr id="10" name="Text 6"/>
          <p:cNvSpPr/>
          <p:nvPr/>
        </p:nvSpPr>
        <p:spPr>
          <a:xfrm>
            <a:off x="4361688" y="4114800"/>
            <a:ext cx="352044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Reconciliation</a:t>
            </a:r>
            <a:endParaRPr lang="en-US" sz="1500" dirty="0"/>
          </a:p>
        </p:txBody>
      </p:sp>
      <p:sp>
        <p:nvSpPr>
          <p:cNvPr id="11" name="Text 7"/>
          <p:cNvSpPr/>
          <p:nvPr/>
        </p:nvSpPr>
        <p:spPr>
          <a:xfrm>
            <a:off x="4361688" y="4425696"/>
            <a:ext cx="3520440" cy="73152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Every statement period, its status, and the arithmetic that does not close</a:t>
            </a:r>
            <a:endParaRPr lang="en-US" sz="1150" dirty="0"/>
          </a:p>
        </p:txBody>
      </p:sp>
      <p:pic>
        <p:nvPicPr>
          <p:cNvPr id="12" name="Image 2" descr="/workspace/meridian/docs/screenshots/dev/m12-budgets.png">    </p:cNvPr>
          <p:cNvPicPr>
            <a:picLocks noChangeAspect="1"/>
          </p:cNvPicPr>
          <p:nvPr/>
        </p:nvPicPr>
        <p:blipFill>
          <a:blip r:embed="rId3"/>
          <a:stretch>
            <a:fillRect/>
          </a:stretch>
        </p:blipFill>
        <p:spPr>
          <a:xfrm>
            <a:off x="8065008" y="1463040"/>
            <a:ext cx="3520440" cy="2514600"/>
          </a:xfrm>
          <a:prstGeom prst="rect">
            <a:avLst/>
          </a:prstGeom>
        </p:spPr>
      </p:pic>
      <p:sp>
        <p:nvSpPr>
          <p:cNvPr id="13" name="Text 8"/>
          <p:cNvSpPr/>
          <p:nvPr/>
        </p:nvSpPr>
        <p:spPr>
          <a:xfrm>
            <a:off x="8065008" y="4114800"/>
            <a:ext cx="352044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Budgets</a:t>
            </a:r>
            <a:endParaRPr lang="en-US" sz="1500" dirty="0"/>
          </a:p>
        </p:txBody>
      </p:sp>
      <p:sp>
        <p:nvSpPr>
          <p:cNvPr id="14" name="Text 9"/>
          <p:cNvSpPr/>
          <p:nvPr/>
        </p:nvSpPr>
        <p:spPr>
          <a:xfrm>
            <a:off x="8065008" y="4425696"/>
            <a:ext cx="3520440" cy="73152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Targets against real spending, with a simulator for changing one and seeing the effect</a:t>
            </a:r>
            <a:endParaRPr lang="en-US" sz="1150" dirty="0"/>
          </a:p>
        </p:txBody>
      </p:sp>
      <p:sp>
        <p:nvSpPr>
          <p:cNvPr id="15" name="Shape 10"/>
          <p:cNvSpPr/>
          <p:nvPr/>
        </p:nvSpPr>
        <p:spPr>
          <a:xfrm>
            <a:off x="658368" y="5212080"/>
            <a:ext cx="10874959" cy="868680"/>
          </a:xfrm>
          <a:prstGeom prst="roundRect">
            <a:avLst>
              <a:gd name="adj" fmla="val 9474"/>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6" name="Text 11"/>
          <p:cNvSpPr/>
          <p:nvPr/>
        </p:nvSpPr>
        <p:spPr>
          <a:xfrm>
            <a:off x="1024128" y="5376672"/>
            <a:ext cx="10424160" cy="548640"/>
          </a:xfrm>
          <a:prstGeom prst="rect">
            <a:avLst/>
          </a:prstGeom>
          <a:noFill/>
          <a:ln/>
        </p:spPr>
        <p:txBody>
          <a:bodyPr wrap="square" lIns="0" tIns="0" rIns="0" bIns="0" rtlCol="0" anchor="ctr"/>
          <a:lstStyle/>
          <a:p>
            <a:pPr indent="0" marL="0">
              <a:lnSpc>
                <a:spcPts val="1600"/>
              </a:lnSpc>
              <a:buNone/>
            </a:pPr>
            <a:r>
              <a:rPr lang="en-US" sz="1250" dirty="0">
                <a:solidFill>
                  <a:srgbClr val="36404F"/>
                </a:solidFill>
                <a:latin typeface="Calibri" pitchFamily="34" charset="0"/>
                <a:ea typeface="Calibri" pitchFamily="34" charset="-122"/>
                <a:cs typeface="Calibri" pitchFamily="34" charset="-120"/>
              </a:rPr>
              <a:t>Plus Accounts, Transactions, Documents, Review and Coach — and the Coach says plainly when the local model is missing rather than pretending to answer.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TESTING &amp; SECURITY</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205 backend tests, and what they defend</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graphicFrame>
        <p:nvGraphicFramePr>
          <p:cNvPr id="6" name="Chart 0" descr=""/>
          <p:cNvGraphicFramePr/>
          <p:nvPr/>
        </p:nvGraphicFramePr>
        <p:xfrm>
          <a:off x="658368" y="1463040"/>
          <a:ext cx="6035040" cy="29260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58368" y="4434840"/>
            <a:ext cx="6035040" cy="274320"/>
          </a:xfrm>
          <a:prstGeom prst="rect">
            <a:avLst/>
          </a:prstGeom>
          <a:noFill/>
          <a:ln/>
        </p:spPr>
        <p:txBody>
          <a:bodyPr wrap="square" lIns="0" tIns="0" rIns="0" bIns="0" rtlCol="0" anchor="ctr"/>
          <a:lstStyle/>
          <a:p>
            <a:pPr indent="0" marL="0">
              <a:buNone/>
            </a:pPr>
            <a:r>
              <a:rPr lang="en-US" sz="1150" i="1" dirty="0">
                <a:solidFill>
                  <a:srgbClr val="737F91"/>
                </a:solidFill>
                <a:latin typeface="Calibri" pitchFamily="34" charset="0"/>
                <a:ea typeface="Calibri" pitchFamily="34" charset="-122"/>
                <a:cs typeface="Calibri" pitchFamily="34" charset="-120"/>
              </a:rPr>
              <a:t>Plus 13 frontend tests and a TypeScript build gate in CI.</a:t>
            </a:r>
            <a:endParaRPr lang="en-US" sz="1150" dirty="0"/>
          </a:p>
        </p:txBody>
      </p:sp>
      <p:sp>
        <p:nvSpPr>
          <p:cNvPr id="8" name="Shape 5"/>
          <p:cNvSpPr/>
          <p:nvPr/>
        </p:nvSpPr>
        <p:spPr>
          <a:xfrm>
            <a:off x="6858000" y="1463040"/>
            <a:ext cx="4675327" cy="2103120"/>
          </a:xfrm>
          <a:prstGeom prst="roundRect">
            <a:avLst>
              <a:gd name="adj" fmla="val 3913"/>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9" name="Text 6"/>
          <p:cNvSpPr/>
          <p:nvPr/>
        </p:nvSpPr>
        <p:spPr>
          <a:xfrm>
            <a:off x="7178040" y="1691640"/>
            <a:ext cx="429768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Tests that exist because of a real defect</a:t>
            </a:r>
            <a:endParaRPr lang="en-US" sz="1450" dirty="0"/>
          </a:p>
        </p:txBody>
      </p:sp>
      <p:sp>
        <p:nvSpPr>
          <p:cNvPr id="10" name="Text 7"/>
          <p:cNvSpPr/>
          <p:nvPr/>
        </p:nvSpPr>
        <p:spPr>
          <a:xfrm>
            <a:off x="7178040" y="2029968"/>
            <a:ext cx="4297680" cy="14630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A poisoned MIME map, so a bad registry cannot break the bundle</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index.html must never be cached, or a rebuild renders blank</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Absolute SQLite paths, after one silently became relative</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Login throttling, from the security audit</a:t>
            </a:r>
            <a:endParaRPr lang="en-US" sz="1150" dirty="0"/>
          </a:p>
        </p:txBody>
      </p:sp>
      <p:sp>
        <p:nvSpPr>
          <p:cNvPr id="11" name="Shape 8"/>
          <p:cNvSpPr/>
          <p:nvPr/>
        </p:nvSpPr>
        <p:spPr>
          <a:xfrm>
            <a:off x="6858000" y="3703320"/>
            <a:ext cx="4675327" cy="2103120"/>
          </a:xfrm>
          <a:prstGeom prst="roundRect">
            <a:avLst>
              <a:gd name="adj" fmla="val 3913"/>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2" name="Text 9"/>
          <p:cNvSpPr/>
          <p:nvPr/>
        </p:nvSpPr>
        <p:spPr>
          <a:xfrm>
            <a:off x="7178040" y="3931920"/>
            <a:ext cx="429768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Security posture</a:t>
            </a:r>
            <a:endParaRPr lang="en-US" sz="1450" dirty="0"/>
          </a:p>
        </p:txBody>
      </p:sp>
      <p:sp>
        <p:nvSpPr>
          <p:cNvPr id="13" name="Text 10"/>
          <p:cNvSpPr/>
          <p:nvPr/>
        </p:nvSpPr>
        <p:spPr>
          <a:xfrm>
            <a:off x="7178040" y="4270248"/>
            <a:ext cx="4297680" cy="14630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Argon2id hashing; JWT in an HttpOnly SameSite=Strict cookie</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Every query scoped by user_id, enforced structurally</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Uploads capped and type-checked; errors leak nothing</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No secrets in the repository; config from the environment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WORKSHOP 6 · DEPLOYMENT</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A container that costs nothing while idle</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sp>
        <p:nvSpPr>
          <p:cNvPr id="6" name="Shape 4"/>
          <p:cNvSpPr/>
          <p:nvPr/>
        </p:nvSpPr>
        <p:spPr>
          <a:xfrm>
            <a:off x="658368" y="1554480"/>
            <a:ext cx="2468880" cy="1051560"/>
          </a:xfrm>
          <a:prstGeom prst="roundRect">
            <a:avLst>
              <a:gd name="adj" fmla="val 7826"/>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Shape 5"/>
          <p:cNvSpPr/>
          <p:nvPr/>
        </p:nvSpPr>
        <p:spPr>
          <a:xfrm>
            <a:off x="886968" y="1737360"/>
            <a:ext cx="292608" cy="292608"/>
          </a:xfrm>
          <a:prstGeom prst="ellipse">
            <a:avLst/>
          </a:prstGeom>
          <a:solidFill>
            <a:srgbClr val="1B6B52"/>
          </a:solidFill>
          <a:ln w="12700">
            <a:solidFill>
              <a:srgbClr val="1B6B52"/>
            </a:solidFill>
            <a:prstDash val="solid"/>
          </a:ln>
        </p:spPr>
      </p:sp>
      <p:sp>
        <p:nvSpPr>
          <p:cNvPr id="8" name="Text 6"/>
          <p:cNvSpPr/>
          <p:nvPr/>
        </p:nvSpPr>
        <p:spPr>
          <a:xfrm>
            <a:off x="886968" y="17373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719072"/>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Push</a:t>
            </a:r>
            <a:endParaRPr lang="en-US" sz="1500" dirty="0"/>
          </a:p>
        </p:txBody>
      </p:sp>
      <p:sp>
        <p:nvSpPr>
          <p:cNvPr id="10" name="Text 8"/>
          <p:cNvSpPr/>
          <p:nvPr/>
        </p:nvSpPr>
        <p:spPr>
          <a:xfrm>
            <a:off x="886968" y="2103120"/>
            <a:ext cx="2011680" cy="41148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GitHub</a:t>
            </a:r>
            <a:endParaRPr lang="en-US" sz="1150" dirty="0"/>
          </a:p>
        </p:txBody>
      </p:sp>
      <p:sp>
        <p:nvSpPr>
          <p:cNvPr id="11" name="Shape 9"/>
          <p:cNvSpPr/>
          <p:nvPr/>
        </p:nvSpPr>
        <p:spPr>
          <a:xfrm>
            <a:off x="3218688" y="2011680"/>
            <a:ext cx="320040" cy="146304"/>
          </a:xfrm>
          <a:prstGeom prst="rightArrow">
            <a:avLst/>
          </a:prstGeom>
          <a:solidFill>
            <a:srgbClr val="DCE1E8"/>
          </a:solidFill>
          <a:ln w="12700">
            <a:solidFill>
              <a:srgbClr val="DCE1E8"/>
            </a:solidFill>
            <a:prstDash val="solid"/>
          </a:ln>
        </p:spPr>
      </p:sp>
      <p:sp>
        <p:nvSpPr>
          <p:cNvPr id="12" name="Shape 10"/>
          <p:cNvSpPr/>
          <p:nvPr/>
        </p:nvSpPr>
        <p:spPr>
          <a:xfrm>
            <a:off x="3630168" y="1554480"/>
            <a:ext cx="2468880" cy="1051560"/>
          </a:xfrm>
          <a:prstGeom prst="roundRect">
            <a:avLst>
              <a:gd name="adj" fmla="val 7826"/>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3" name="Shape 11"/>
          <p:cNvSpPr/>
          <p:nvPr/>
        </p:nvSpPr>
        <p:spPr>
          <a:xfrm>
            <a:off x="3858768" y="1737360"/>
            <a:ext cx="292608" cy="292608"/>
          </a:xfrm>
          <a:prstGeom prst="ellipse">
            <a:avLst/>
          </a:prstGeom>
          <a:solidFill>
            <a:srgbClr val="1B6B52"/>
          </a:solidFill>
          <a:ln w="12700">
            <a:solidFill>
              <a:srgbClr val="1B6B52"/>
            </a:solidFill>
            <a:prstDash val="solid"/>
          </a:ln>
        </p:spPr>
      </p:sp>
      <p:sp>
        <p:nvSpPr>
          <p:cNvPr id="14" name="Text 12"/>
          <p:cNvSpPr/>
          <p:nvPr/>
        </p:nvSpPr>
        <p:spPr>
          <a:xfrm>
            <a:off x="3858768" y="17373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251960" y="1719072"/>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Build</a:t>
            </a:r>
            <a:endParaRPr lang="en-US" sz="1500" dirty="0"/>
          </a:p>
        </p:txBody>
      </p:sp>
      <p:sp>
        <p:nvSpPr>
          <p:cNvPr id="16" name="Text 14"/>
          <p:cNvSpPr/>
          <p:nvPr/>
        </p:nvSpPr>
        <p:spPr>
          <a:xfrm>
            <a:off x="3858768" y="2103120"/>
            <a:ext cx="2011680" cy="41148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Cloud Build reads the Dockerfile</a:t>
            </a:r>
            <a:endParaRPr lang="en-US" sz="1150" dirty="0"/>
          </a:p>
        </p:txBody>
      </p:sp>
      <p:sp>
        <p:nvSpPr>
          <p:cNvPr id="17" name="Shape 15"/>
          <p:cNvSpPr/>
          <p:nvPr/>
        </p:nvSpPr>
        <p:spPr>
          <a:xfrm>
            <a:off x="6190488" y="2011680"/>
            <a:ext cx="320040" cy="146304"/>
          </a:xfrm>
          <a:prstGeom prst="rightArrow">
            <a:avLst/>
          </a:prstGeom>
          <a:solidFill>
            <a:srgbClr val="DCE1E8"/>
          </a:solidFill>
          <a:ln w="12700">
            <a:solidFill>
              <a:srgbClr val="DCE1E8"/>
            </a:solidFill>
            <a:prstDash val="solid"/>
          </a:ln>
        </p:spPr>
      </p:sp>
      <p:sp>
        <p:nvSpPr>
          <p:cNvPr id="18" name="Shape 16"/>
          <p:cNvSpPr/>
          <p:nvPr/>
        </p:nvSpPr>
        <p:spPr>
          <a:xfrm>
            <a:off x="6601968" y="1554480"/>
            <a:ext cx="2468880" cy="1051560"/>
          </a:xfrm>
          <a:prstGeom prst="roundRect">
            <a:avLst>
              <a:gd name="adj" fmla="val 7826"/>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Shape 17"/>
          <p:cNvSpPr/>
          <p:nvPr/>
        </p:nvSpPr>
        <p:spPr>
          <a:xfrm>
            <a:off x="6830568" y="1737360"/>
            <a:ext cx="292608" cy="292608"/>
          </a:xfrm>
          <a:prstGeom prst="ellipse">
            <a:avLst/>
          </a:prstGeom>
          <a:solidFill>
            <a:srgbClr val="1B6B52"/>
          </a:solidFill>
          <a:ln w="12700">
            <a:solidFill>
              <a:srgbClr val="1B6B52"/>
            </a:solidFill>
            <a:prstDash val="solid"/>
          </a:ln>
        </p:spPr>
      </p:sp>
      <p:sp>
        <p:nvSpPr>
          <p:cNvPr id="20" name="Text 18"/>
          <p:cNvSpPr/>
          <p:nvPr/>
        </p:nvSpPr>
        <p:spPr>
          <a:xfrm>
            <a:off x="6830568" y="17373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7223760" y="1719072"/>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Store</a:t>
            </a:r>
            <a:endParaRPr lang="en-US" sz="1500" dirty="0"/>
          </a:p>
        </p:txBody>
      </p:sp>
      <p:sp>
        <p:nvSpPr>
          <p:cNvPr id="22" name="Text 20"/>
          <p:cNvSpPr/>
          <p:nvPr/>
        </p:nvSpPr>
        <p:spPr>
          <a:xfrm>
            <a:off x="6830568" y="2103120"/>
            <a:ext cx="2011680" cy="41148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Artifact Registry</a:t>
            </a:r>
            <a:endParaRPr lang="en-US" sz="1150" dirty="0"/>
          </a:p>
        </p:txBody>
      </p:sp>
      <p:sp>
        <p:nvSpPr>
          <p:cNvPr id="23" name="Shape 21"/>
          <p:cNvSpPr/>
          <p:nvPr/>
        </p:nvSpPr>
        <p:spPr>
          <a:xfrm>
            <a:off x="9162288" y="2011680"/>
            <a:ext cx="320040" cy="146304"/>
          </a:xfrm>
          <a:prstGeom prst="rightArrow">
            <a:avLst/>
          </a:prstGeom>
          <a:solidFill>
            <a:srgbClr val="DCE1E8"/>
          </a:solidFill>
          <a:ln w="12700">
            <a:solidFill>
              <a:srgbClr val="DCE1E8"/>
            </a:solidFill>
            <a:prstDash val="solid"/>
          </a:ln>
        </p:spPr>
      </p:sp>
      <p:sp>
        <p:nvSpPr>
          <p:cNvPr id="24" name="Shape 22"/>
          <p:cNvSpPr/>
          <p:nvPr/>
        </p:nvSpPr>
        <p:spPr>
          <a:xfrm>
            <a:off x="9573768" y="1554480"/>
            <a:ext cx="2468880" cy="1051560"/>
          </a:xfrm>
          <a:prstGeom prst="roundRect">
            <a:avLst>
              <a:gd name="adj" fmla="val 7826"/>
            </a:avLst>
          </a:prstGeom>
          <a:solidFill>
            <a:srgbClr val="E3F0EA"/>
          </a:solidFill>
          <a:ln w="13970">
            <a:solidFill>
              <a:srgbClr val="1B6B52"/>
            </a:solidFill>
            <a:prstDash val="solid"/>
          </a:ln>
          <a:effectLst>
            <a:outerShdw sx="100000" sy="100000" kx="0" ky="0" algn="bl" rotWithShape="0" blurRad="152400" dist="25400" dir="5400000">
              <a:srgbClr val="8C97A8">
                <a:alpha val="18000"/>
              </a:srgbClr>
            </a:outerShdw>
          </a:effectLst>
        </p:spPr>
      </p:sp>
      <p:sp>
        <p:nvSpPr>
          <p:cNvPr id="25" name="Shape 23"/>
          <p:cNvSpPr/>
          <p:nvPr/>
        </p:nvSpPr>
        <p:spPr>
          <a:xfrm>
            <a:off x="9802368" y="1737360"/>
            <a:ext cx="292608" cy="292608"/>
          </a:xfrm>
          <a:prstGeom prst="ellipse">
            <a:avLst/>
          </a:prstGeom>
          <a:solidFill>
            <a:srgbClr val="1B6B52"/>
          </a:solidFill>
          <a:ln w="12700">
            <a:solidFill>
              <a:srgbClr val="1B6B52"/>
            </a:solidFill>
            <a:prstDash val="solid"/>
          </a:ln>
        </p:spPr>
      </p:sp>
      <p:sp>
        <p:nvSpPr>
          <p:cNvPr id="26" name="Text 24"/>
          <p:cNvSpPr/>
          <p:nvPr/>
        </p:nvSpPr>
        <p:spPr>
          <a:xfrm>
            <a:off x="9802368" y="17373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0195560" y="1719072"/>
            <a:ext cx="1645920" cy="292608"/>
          </a:xfrm>
          <a:prstGeom prst="rect">
            <a:avLst/>
          </a:prstGeom>
          <a:noFill/>
          <a:ln/>
        </p:spPr>
        <p:txBody>
          <a:bodyPr wrap="square" lIns="0" tIns="0" rIns="0" bIns="0" rtlCol="0" anchor="ctr"/>
          <a:lstStyle/>
          <a:p>
            <a:pPr indent="0" marL="0">
              <a:buNone/>
            </a:pPr>
            <a:r>
              <a:rPr lang="en-US" sz="1500" b="1" dirty="0">
                <a:solidFill>
                  <a:srgbClr val="141A24"/>
                </a:solidFill>
                <a:latin typeface="Cambria" pitchFamily="34" charset="0"/>
                <a:ea typeface="Cambria" pitchFamily="34" charset="-122"/>
                <a:cs typeface="Cambria" pitchFamily="34" charset="-120"/>
              </a:rPr>
              <a:t>Run</a:t>
            </a:r>
            <a:endParaRPr lang="en-US" sz="1500" dirty="0"/>
          </a:p>
        </p:txBody>
      </p:sp>
      <p:sp>
        <p:nvSpPr>
          <p:cNvPr id="28" name="Text 26"/>
          <p:cNvSpPr/>
          <p:nvPr/>
        </p:nvSpPr>
        <p:spPr>
          <a:xfrm>
            <a:off x="9802368" y="2103120"/>
            <a:ext cx="2011680" cy="411480"/>
          </a:xfrm>
          <a:prstGeom prst="rect">
            <a:avLst/>
          </a:prstGeom>
          <a:noFill/>
          <a:ln/>
        </p:spPr>
        <p:txBody>
          <a:bodyPr wrap="square" lIns="0" tIns="0" rIns="0" bIns="0" rtlCol="0" anchor="ctr"/>
          <a:lstStyle/>
          <a:p>
            <a:pPr indent="0" marL="0">
              <a:lnSpc>
                <a:spcPts val="1400"/>
              </a:lnSpc>
              <a:buNone/>
            </a:pPr>
            <a:r>
              <a:rPr lang="en-US" sz="1150" dirty="0">
                <a:solidFill>
                  <a:srgbClr val="737F91"/>
                </a:solidFill>
                <a:latin typeface="Calibri" pitchFamily="34" charset="0"/>
                <a:ea typeface="Calibri" pitchFamily="34" charset="-122"/>
                <a:cs typeface="Calibri" pitchFamily="34" charset="-120"/>
              </a:rPr>
              <a:t>Cloud Run, scale to zero</a:t>
            </a:r>
            <a:endParaRPr lang="en-US" sz="1150" dirty="0"/>
          </a:p>
        </p:txBody>
      </p:sp>
      <p:graphicFrame>
        <p:nvGraphicFramePr>
          <p:cNvPr id="29" name="Chart 0" descr=""/>
          <p:cNvGraphicFramePr/>
          <p:nvPr/>
        </p:nvGraphicFramePr>
        <p:xfrm>
          <a:off x="658368" y="2926080"/>
          <a:ext cx="5394960" cy="2148840"/>
        </p:xfrm>
        <a:graphic xmlns:a="http://schemas.openxmlformats.org/drawingml/2006/main">
          <a:graphicData uri="http://schemas.openxmlformats.org/drawingml/2006/chart">
            <c:chart xmlns:c="http://schemas.openxmlformats.org/drawingml/2006/chart" r:id="rId1"/>
          </a:graphicData>
        </a:graphic>
      </p:graphicFrame>
      <p:sp>
        <p:nvSpPr>
          <p:cNvPr id="30" name="Text 27"/>
          <p:cNvSpPr/>
          <p:nvPr/>
        </p:nvSpPr>
        <p:spPr>
          <a:xfrm>
            <a:off x="658368" y="5120640"/>
            <a:ext cx="5394960" cy="548640"/>
          </a:xfrm>
          <a:prstGeom prst="rect">
            <a:avLst/>
          </a:prstGeom>
          <a:noFill/>
          <a:ln/>
        </p:spPr>
        <p:txBody>
          <a:bodyPr wrap="square" lIns="0" tIns="0" rIns="0" bIns="0" rtlCol="0" anchor="ctr"/>
          <a:lstStyle/>
          <a:p>
            <a:pPr indent="0" marL="0">
              <a:lnSpc>
                <a:spcPts val="1500"/>
              </a:lnSpc>
              <a:buNone/>
            </a:pPr>
            <a:r>
              <a:rPr lang="en-US" sz="1150" dirty="0">
                <a:solidFill>
                  <a:srgbClr val="737F91"/>
                </a:solidFill>
                <a:latin typeface="Calibri" pitchFamily="34" charset="0"/>
                <a:ea typeface="Calibri" pitchFamily="34" charset="-122"/>
                <a:cs typeface="Calibri" pitchFamily="34" charset="-120"/>
              </a:rPr>
              <a:t>Migrating and seeding 3,350 transactions ran on every scale-from-zero. The same work now happens once, at image build time.</a:t>
            </a:r>
            <a:endParaRPr lang="en-US" sz="1150" dirty="0"/>
          </a:p>
        </p:txBody>
      </p:sp>
      <p:sp>
        <p:nvSpPr>
          <p:cNvPr id="31" name="Shape 28"/>
          <p:cNvSpPr/>
          <p:nvPr/>
        </p:nvSpPr>
        <p:spPr>
          <a:xfrm>
            <a:off x="6400800" y="2926080"/>
            <a:ext cx="5132527" cy="1280160"/>
          </a:xfrm>
          <a:prstGeom prst="roundRect">
            <a:avLst>
              <a:gd name="adj" fmla="val 6429"/>
            </a:avLst>
          </a:prstGeom>
          <a:solidFill>
            <a:srgbClr val="1F2836"/>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32" name="Text 29"/>
          <p:cNvSpPr/>
          <p:nvPr/>
        </p:nvSpPr>
        <p:spPr>
          <a:xfrm>
            <a:off x="6720840" y="3108960"/>
            <a:ext cx="4754880" cy="256032"/>
          </a:xfrm>
          <a:prstGeom prst="rect">
            <a:avLst/>
          </a:prstGeom>
          <a:noFill/>
          <a:ln/>
        </p:spPr>
        <p:txBody>
          <a:bodyPr wrap="square" lIns="0" tIns="0" rIns="0" bIns="0" rtlCol="0" anchor="ctr"/>
          <a:lstStyle/>
          <a:p>
            <a:pPr indent="0" marL="0">
              <a:buNone/>
            </a:pPr>
            <a:r>
              <a:rPr lang="en-US" sz="1200" b="1" spc="100" kern="0" dirty="0">
                <a:solidFill>
                  <a:srgbClr val="9AA6B8"/>
                </a:solidFill>
                <a:latin typeface="Calibri" pitchFamily="34" charset="0"/>
                <a:ea typeface="Calibri" pitchFamily="34" charset="-122"/>
                <a:cs typeface="Calibri" pitchFamily="34" charset="-120"/>
              </a:rPr>
              <a:t>Live now</a:t>
            </a:r>
            <a:endParaRPr lang="en-US" sz="1200" dirty="0"/>
          </a:p>
        </p:txBody>
      </p:sp>
      <p:sp>
        <p:nvSpPr>
          <p:cNvPr id="33" name="Text 30"/>
          <p:cNvSpPr/>
          <p:nvPr/>
        </p:nvSpPr>
        <p:spPr>
          <a:xfrm>
            <a:off x="6720840" y="3383280"/>
            <a:ext cx="4846320" cy="320040"/>
          </a:xfrm>
          <a:prstGeom prst="rect">
            <a:avLst/>
          </a:prstGeom>
          <a:noFill/>
          <a:ln/>
        </p:spPr>
        <p:txBody>
          <a:bodyPr wrap="square" lIns="0" tIns="0" rIns="0" bIns="0" rtlCol="0" anchor="ctr"/>
          <a:lstStyle/>
          <a:p>
            <a:pPr indent="0" marL="0">
              <a:buNone/>
            </a:pPr>
            <a:r>
              <a:rPr lang="en-US" sz="1450" b="1" dirty="0">
                <a:solidFill>
                  <a:srgbClr val="5FBF9B"/>
                </a:solidFill>
                <a:latin typeface="Calibri" pitchFamily="34" charset="0"/>
                <a:ea typeface="Calibri" pitchFamily="34" charset="-122"/>
                <a:cs typeface="Calibri" pitchFamily="34" charset="-120"/>
              </a:rPr>
              <a:t>meridian-792468836580.us-central1.run.app</a:t>
            </a:r>
            <a:endParaRPr lang="en-US" sz="1450" dirty="0"/>
          </a:p>
        </p:txBody>
      </p:sp>
      <p:sp>
        <p:nvSpPr>
          <p:cNvPr id="34" name="Text 31"/>
          <p:cNvSpPr/>
          <p:nvPr/>
        </p:nvSpPr>
        <p:spPr>
          <a:xfrm>
            <a:off x="6720840" y="3730752"/>
            <a:ext cx="4754880" cy="274320"/>
          </a:xfrm>
          <a:prstGeom prst="rect">
            <a:avLst/>
          </a:prstGeom>
          <a:noFill/>
          <a:ln/>
        </p:spPr>
        <p:txBody>
          <a:bodyPr wrap="square" lIns="0" tIns="0" rIns="0" bIns="0" rtlCol="0" anchor="ctr"/>
          <a:lstStyle/>
          <a:p>
            <a:pPr indent="0" marL="0">
              <a:buNone/>
            </a:pPr>
            <a:r>
              <a:rPr lang="en-US" sz="1150" dirty="0">
                <a:solidFill>
                  <a:srgbClr val="C6CFDC"/>
                </a:solidFill>
                <a:latin typeface="Calibri" pitchFamily="34" charset="0"/>
                <a:ea typeface="Calibri" pitchFamily="34" charset="-122"/>
                <a:cs typeface="Calibri" pitchFamily="34" charset="-120"/>
              </a:rPr>
              <a:t>Both demo profiles sign in with one click.</a:t>
            </a:r>
            <a:endParaRPr lang="en-US" sz="1150" dirty="0"/>
          </a:p>
        </p:txBody>
      </p:sp>
      <p:sp>
        <p:nvSpPr>
          <p:cNvPr id="35" name="Shape 32"/>
          <p:cNvSpPr/>
          <p:nvPr/>
        </p:nvSpPr>
        <p:spPr>
          <a:xfrm>
            <a:off x="6400800" y="4343400"/>
            <a:ext cx="5132527" cy="1463040"/>
          </a:xfrm>
          <a:prstGeom prst="roundRect">
            <a:avLst>
              <a:gd name="adj" fmla="val 5625"/>
            </a:avLst>
          </a:prstGeom>
          <a:solidFill>
            <a:srgbClr val="FBF7F0"/>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36" name="Text 33"/>
          <p:cNvSpPr/>
          <p:nvPr/>
        </p:nvSpPr>
        <p:spPr>
          <a:xfrm>
            <a:off x="6720840" y="4526280"/>
            <a:ext cx="4754880" cy="274320"/>
          </a:xfrm>
          <a:prstGeom prst="rect">
            <a:avLst/>
          </a:prstGeom>
          <a:noFill/>
          <a:ln/>
        </p:spPr>
        <p:txBody>
          <a:bodyPr wrap="square" lIns="0" tIns="0" rIns="0" bIns="0" rtlCol="0" anchor="ctr"/>
          <a:lstStyle/>
          <a:p>
            <a:pPr indent="0" marL="0">
              <a:buNone/>
            </a:pPr>
            <a:r>
              <a:rPr lang="en-US" sz="1450" b="1" dirty="0">
                <a:solidFill>
                  <a:srgbClr val="9A6B1E"/>
                </a:solidFill>
                <a:latin typeface="Calibri" pitchFamily="34" charset="0"/>
                <a:ea typeface="Calibri" pitchFamily="34" charset="-122"/>
                <a:cs typeface="Calibri" pitchFamily="34" charset="-120"/>
              </a:rPr>
              <a:t>Two limits, stated rather than hidden</a:t>
            </a:r>
            <a:endParaRPr lang="en-US" sz="1450" dirty="0"/>
          </a:p>
        </p:txBody>
      </p:sp>
      <p:sp>
        <p:nvSpPr>
          <p:cNvPr id="37" name="Text 34"/>
          <p:cNvSpPr/>
          <p:nvPr/>
        </p:nvSpPr>
        <p:spPr>
          <a:xfrm>
            <a:off x="6720840" y="4828032"/>
            <a:ext cx="4754880" cy="9601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The database is a file in the container, so live edits reset on restart</a:t>
            </a:r>
            <a:endParaRPr lang="en-US" sz="1150" dirty="0"/>
          </a:p>
          <a:p>
            <a:pPr marL="342900" indent="-342900">
              <a:lnSpc>
                <a:spcPts val="1600"/>
              </a:lnSpc>
              <a:spcAft>
                <a:spcPts val="600"/>
              </a:spcAft>
              <a:buSzPct val="100000"/>
              <a:buChar char="•"/>
            </a:pPr>
            <a:r>
              <a:rPr lang="en-US" sz="1150" dirty="0">
                <a:solidFill>
                  <a:srgbClr val="36404F"/>
                </a:solidFill>
                <a:latin typeface="Calibri" pitchFamily="34" charset="0"/>
                <a:ea typeface="Calibri" pitchFamily="34" charset="-122"/>
                <a:cs typeface="Calibri" pitchFamily="34" charset="-120"/>
              </a:rPr>
              <a:t>AI features are off on the public URL — a container has no local model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APP 2 · WORKSHOP 6 · FEEDBACK &amp; ITERATION</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The demo was working. It just looked broken.</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sp>
        <p:nvSpPr>
          <p:cNvPr id="6" name="Shape 4"/>
          <p:cNvSpPr/>
          <p:nvPr/>
        </p:nvSpPr>
        <p:spPr>
          <a:xfrm>
            <a:off x="658368" y="1463040"/>
            <a:ext cx="5029200" cy="1371600"/>
          </a:xfrm>
          <a:prstGeom prst="roundRect">
            <a:avLst>
              <a:gd name="adj" fmla="val 6000"/>
            </a:avLst>
          </a:prstGeom>
          <a:solidFill>
            <a:srgbClr val="1F2836"/>
          </a:solidFill>
          <a:ln/>
        </p:spPr>
      </p:sp>
      <p:sp>
        <p:nvSpPr>
          <p:cNvPr id="7" name="Text 5"/>
          <p:cNvSpPr/>
          <p:nvPr/>
        </p:nvSpPr>
        <p:spPr>
          <a:xfrm>
            <a:off x="978408" y="1645920"/>
            <a:ext cx="4389120" cy="1005840"/>
          </a:xfrm>
          <a:prstGeom prst="rect">
            <a:avLst/>
          </a:prstGeom>
          <a:noFill/>
          <a:ln/>
        </p:spPr>
        <p:txBody>
          <a:bodyPr wrap="square" lIns="0" tIns="0" rIns="0" bIns="0" rtlCol="0" anchor="ctr"/>
          <a:lstStyle/>
          <a:p>
            <a:pPr indent="0" marL="0">
              <a:lnSpc>
                <a:spcPts val="1900"/>
              </a:lnSpc>
              <a:buNone/>
            </a:pPr>
            <a:r>
              <a:rPr lang="en-US" sz="1400" i="1" dirty="0">
                <a:solidFill>
                  <a:srgbClr val="FFFFFF"/>
                </a:solidFill>
                <a:latin typeface="Cambria" pitchFamily="34" charset="0"/>
                <a:ea typeface="Cambria" pitchFamily="34" charset="-122"/>
                <a:cs typeface="Cambria" pitchFamily="34" charset="-120"/>
              </a:rPr>
              <a:t>“My downloaded version does not have the same outputs as the screenshots you show.”</a:t>
            </a:r>
            <a:endParaRPr lang="en-US" sz="1400" dirty="0"/>
          </a:p>
        </p:txBody>
      </p:sp>
      <p:sp>
        <p:nvSpPr>
          <p:cNvPr id="8" name="Text 6"/>
          <p:cNvSpPr/>
          <p:nvPr/>
        </p:nvSpPr>
        <p:spPr>
          <a:xfrm>
            <a:off x="658368" y="2971800"/>
            <a:ext cx="5029200" cy="1188720"/>
          </a:xfrm>
          <a:prstGeom prst="rect">
            <a:avLst/>
          </a:prstGeom>
          <a:noFill/>
          <a:ln/>
        </p:spPr>
        <p:txBody>
          <a:bodyPr wrap="square" lIns="0" tIns="0" rIns="0" bIns="0" rtlCol="0" anchor="t"/>
          <a:lstStyle/>
          <a:p>
            <a:pPr indent="0" marL="0">
              <a:lnSpc>
                <a:spcPts val="1800"/>
              </a:lnSpc>
              <a:buNone/>
            </a:pPr>
            <a:r>
              <a:rPr lang="en-US" sz="1300" dirty="0">
                <a:solidFill>
                  <a:srgbClr val="36404F"/>
                </a:solidFill>
                <a:latin typeface="Calibri" pitchFamily="34" charset="0"/>
                <a:ea typeface="Calibri" pitchFamily="34" charset="-122"/>
                <a:cs typeface="Calibri" pitchFamily="34" charset="-120"/>
              </a:rPr>
              <a:t>Correct, and my fault. The demo profiles were seeded with account data only, so Documents, Reconciliation and Budgets opened empty. Three of eight screens looked unimplemented, which is the opposite of what a demo is for.</a:t>
            </a:r>
            <a:endParaRPr lang="en-US" sz="1300" dirty="0"/>
          </a:p>
        </p:txBody>
      </p:sp>
      <p:sp>
        <p:nvSpPr>
          <p:cNvPr id="9" name="Shape 7"/>
          <p:cNvSpPr/>
          <p:nvPr/>
        </p:nvSpPr>
        <p:spPr>
          <a:xfrm>
            <a:off x="6263640" y="1463040"/>
            <a:ext cx="5269687" cy="2880360"/>
          </a:xfrm>
          <a:prstGeom prst="roundRect">
            <a:avLst>
              <a:gd name="adj" fmla="val 2857"/>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0" name="Text 8"/>
          <p:cNvSpPr/>
          <p:nvPr/>
        </p:nvSpPr>
        <p:spPr>
          <a:xfrm>
            <a:off x="6583680" y="1691640"/>
            <a:ext cx="493776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What shipped in response</a:t>
            </a:r>
            <a:endParaRPr lang="en-US" sz="1450" dirty="0"/>
          </a:p>
        </p:txBody>
      </p:sp>
      <p:sp>
        <p:nvSpPr>
          <p:cNvPr id="11" name="Text 9"/>
          <p:cNvSpPr/>
          <p:nvPr/>
        </p:nvSpPr>
        <p:spPr>
          <a:xfrm>
            <a:off x="6583680" y="2103120"/>
            <a:ext cx="2286000" cy="274320"/>
          </a:xfrm>
          <a:prstGeom prst="rect">
            <a:avLst/>
          </a:prstGeom>
          <a:noFill/>
          <a:ln/>
        </p:spPr>
        <p:txBody>
          <a:bodyPr wrap="square" lIns="0" tIns="0" rIns="0" bIns="0" rtlCol="0" anchor="ctr"/>
          <a:lstStyle/>
          <a:p>
            <a:pPr indent="0" marL="0">
              <a:buNone/>
            </a:pPr>
            <a:r>
              <a:rPr lang="en-US" sz="1250" dirty="0">
                <a:solidFill>
                  <a:srgbClr val="36404F"/>
                </a:solidFill>
                <a:latin typeface="Calibri" pitchFamily="34" charset="0"/>
                <a:ea typeface="Calibri" pitchFamily="34" charset="-122"/>
                <a:cs typeface="Calibri" pitchFamily="34" charset="-120"/>
              </a:rPr>
              <a:t>Documents</a:t>
            </a:r>
            <a:endParaRPr lang="en-US" sz="1250" dirty="0"/>
          </a:p>
        </p:txBody>
      </p:sp>
      <p:sp>
        <p:nvSpPr>
          <p:cNvPr id="12" name="Text 10"/>
          <p:cNvSpPr/>
          <p:nvPr/>
        </p:nvSpPr>
        <p:spPr>
          <a:xfrm>
            <a:off x="8961120" y="2103120"/>
            <a:ext cx="548640" cy="274320"/>
          </a:xfrm>
          <a:prstGeom prst="rect">
            <a:avLst/>
          </a:prstGeom>
          <a:noFill/>
          <a:ln/>
        </p:spPr>
        <p:txBody>
          <a:bodyPr wrap="square" lIns="0" tIns="0" rIns="0" bIns="0" rtlCol="0" anchor="ctr"/>
          <a:lstStyle/>
          <a:p>
            <a:pPr algn="r" indent="0" marL="0">
              <a:buNone/>
            </a:pPr>
            <a:r>
              <a:rPr lang="en-US" sz="1250" b="1" dirty="0">
                <a:solidFill>
                  <a:srgbClr val="737F91"/>
                </a:solidFill>
                <a:latin typeface="Calibri" pitchFamily="34" charset="0"/>
                <a:ea typeface="Calibri" pitchFamily="34" charset="-122"/>
                <a:cs typeface="Calibri" pitchFamily="34" charset="-120"/>
              </a:rPr>
              <a:t>0</a:t>
            </a:r>
            <a:endParaRPr lang="en-US" sz="1250" dirty="0"/>
          </a:p>
        </p:txBody>
      </p:sp>
      <p:sp>
        <p:nvSpPr>
          <p:cNvPr id="13" name="Shape 11"/>
          <p:cNvSpPr/>
          <p:nvPr/>
        </p:nvSpPr>
        <p:spPr>
          <a:xfrm>
            <a:off x="9646920" y="2176272"/>
            <a:ext cx="320040" cy="146304"/>
          </a:xfrm>
          <a:prstGeom prst="rightArrow">
            <a:avLst/>
          </a:prstGeom>
          <a:solidFill>
            <a:srgbClr val="1B6B52"/>
          </a:solidFill>
          <a:ln w="12700">
            <a:solidFill>
              <a:srgbClr val="1B6B52"/>
            </a:solidFill>
            <a:prstDash val="solid"/>
          </a:ln>
        </p:spPr>
      </p:sp>
      <p:sp>
        <p:nvSpPr>
          <p:cNvPr id="14" name="Text 12"/>
          <p:cNvSpPr/>
          <p:nvPr/>
        </p:nvSpPr>
        <p:spPr>
          <a:xfrm>
            <a:off x="10104120" y="2103120"/>
            <a:ext cx="1371600" cy="274320"/>
          </a:xfrm>
          <a:prstGeom prst="rect">
            <a:avLst/>
          </a:prstGeom>
          <a:noFill/>
          <a:ln/>
        </p:spPr>
        <p:txBody>
          <a:bodyPr wrap="square" lIns="0" tIns="0" rIns="0" bIns="0" rtlCol="0" anchor="ctr"/>
          <a:lstStyle/>
          <a:p>
            <a:pPr indent="0" marL="0">
              <a:buNone/>
            </a:pPr>
            <a:r>
              <a:rPr lang="en-US" sz="1250" b="1" dirty="0">
                <a:solidFill>
                  <a:srgbClr val="1B6B52"/>
                </a:solidFill>
                <a:latin typeface="Calibri" pitchFamily="34" charset="0"/>
                <a:ea typeface="Calibri" pitchFamily="34" charset="-122"/>
                <a:cs typeface="Calibri" pitchFamily="34" charset="-120"/>
              </a:rPr>
              <a:t>117 and 36</a:t>
            </a:r>
            <a:endParaRPr lang="en-US" sz="1250" dirty="0"/>
          </a:p>
        </p:txBody>
      </p:sp>
      <p:sp>
        <p:nvSpPr>
          <p:cNvPr id="15" name="Text 13"/>
          <p:cNvSpPr/>
          <p:nvPr/>
        </p:nvSpPr>
        <p:spPr>
          <a:xfrm>
            <a:off x="6583680" y="2578608"/>
            <a:ext cx="2286000" cy="274320"/>
          </a:xfrm>
          <a:prstGeom prst="rect">
            <a:avLst/>
          </a:prstGeom>
          <a:noFill/>
          <a:ln/>
        </p:spPr>
        <p:txBody>
          <a:bodyPr wrap="square" lIns="0" tIns="0" rIns="0" bIns="0" rtlCol="0" anchor="ctr"/>
          <a:lstStyle/>
          <a:p>
            <a:pPr indent="0" marL="0">
              <a:buNone/>
            </a:pPr>
            <a:r>
              <a:rPr lang="en-US" sz="1250" dirty="0">
                <a:solidFill>
                  <a:srgbClr val="36404F"/>
                </a:solidFill>
                <a:latin typeface="Calibri" pitchFamily="34" charset="0"/>
                <a:ea typeface="Calibri" pitchFamily="34" charset="-122"/>
                <a:cs typeface="Calibri" pitchFamily="34" charset="-120"/>
              </a:rPr>
              <a:t>Reconciled periods</a:t>
            </a:r>
            <a:endParaRPr lang="en-US" sz="1250" dirty="0"/>
          </a:p>
        </p:txBody>
      </p:sp>
      <p:sp>
        <p:nvSpPr>
          <p:cNvPr id="16" name="Text 14"/>
          <p:cNvSpPr/>
          <p:nvPr/>
        </p:nvSpPr>
        <p:spPr>
          <a:xfrm>
            <a:off x="8961120" y="2578608"/>
            <a:ext cx="548640" cy="274320"/>
          </a:xfrm>
          <a:prstGeom prst="rect">
            <a:avLst/>
          </a:prstGeom>
          <a:noFill/>
          <a:ln/>
        </p:spPr>
        <p:txBody>
          <a:bodyPr wrap="square" lIns="0" tIns="0" rIns="0" bIns="0" rtlCol="0" anchor="ctr"/>
          <a:lstStyle/>
          <a:p>
            <a:pPr algn="r" indent="0" marL="0">
              <a:buNone/>
            </a:pPr>
            <a:r>
              <a:rPr lang="en-US" sz="1250" b="1" dirty="0">
                <a:solidFill>
                  <a:srgbClr val="737F91"/>
                </a:solidFill>
                <a:latin typeface="Calibri" pitchFamily="34" charset="0"/>
                <a:ea typeface="Calibri" pitchFamily="34" charset="-122"/>
                <a:cs typeface="Calibri" pitchFamily="34" charset="-120"/>
              </a:rPr>
              <a:t>0</a:t>
            </a:r>
            <a:endParaRPr lang="en-US" sz="1250" dirty="0"/>
          </a:p>
        </p:txBody>
      </p:sp>
      <p:sp>
        <p:nvSpPr>
          <p:cNvPr id="17" name="Shape 15"/>
          <p:cNvSpPr/>
          <p:nvPr/>
        </p:nvSpPr>
        <p:spPr>
          <a:xfrm>
            <a:off x="9646920" y="2651760"/>
            <a:ext cx="320040" cy="146304"/>
          </a:xfrm>
          <a:prstGeom prst="rightArrow">
            <a:avLst/>
          </a:prstGeom>
          <a:solidFill>
            <a:srgbClr val="1B6B52"/>
          </a:solidFill>
          <a:ln w="12700">
            <a:solidFill>
              <a:srgbClr val="1B6B52"/>
            </a:solidFill>
            <a:prstDash val="solid"/>
          </a:ln>
        </p:spPr>
      </p:sp>
      <p:sp>
        <p:nvSpPr>
          <p:cNvPr id="18" name="Text 16"/>
          <p:cNvSpPr/>
          <p:nvPr/>
        </p:nvSpPr>
        <p:spPr>
          <a:xfrm>
            <a:off x="10104120" y="2578608"/>
            <a:ext cx="1371600" cy="274320"/>
          </a:xfrm>
          <a:prstGeom prst="rect">
            <a:avLst/>
          </a:prstGeom>
          <a:noFill/>
          <a:ln/>
        </p:spPr>
        <p:txBody>
          <a:bodyPr wrap="square" lIns="0" tIns="0" rIns="0" bIns="0" rtlCol="0" anchor="ctr"/>
          <a:lstStyle/>
          <a:p>
            <a:pPr indent="0" marL="0">
              <a:buNone/>
            </a:pPr>
            <a:r>
              <a:rPr lang="en-US" sz="1250" b="1" dirty="0">
                <a:solidFill>
                  <a:srgbClr val="1B6B52"/>
                </a:solidFill>
                <a:latin typeface="Calibri" pitchFamily="34" charset="0"/>
                <a:ea typeface="Calibri" pitchFamily="34" charset="-122"/>
                <a:cs typeface="Calibri" pitchFamily="34" charset="-120"/>
              </a:rPr>
              <a:t>79 and 36</a:t>
            </a:r>
            <a:endParaRPr lang="en-US" sz="1250" dirty="0"/>
          </a:p>
        </p:txBody>
      </p:sp>
      <p:sp>
        <p:nvSpPr>
          <p:cNvPr id="19" name="Text 17"/>
          <p:cNvSpPr/>
          <p:nvPr/>
        </p:nvSpPr>
        <p:spPr>
          <a:xfrm>
            <a:off x="6583680" y="3054096"/>
            <a:ext cx="2286000" cy="274320"/>
          </a:xfrm>
          <a:prstGeom prst="rect">
            <a:avLst/>
          </a:prstGeom>
          <a:noFill/>
          <a:ln/>
        </p:spPr>
        <p:txBody>
          <a:bodyPr wrap="square" lIns="0" tIns="0" rIns="0" bIns="0" rtlCol="0" anchor="ctr"/>
          <a:lstStyle/>
          <a:p>
            <a:pPr indent="0" marL="0">
              <a:buNone/>
            </a:pPr>
            <a:r>
              <a:rPr lang="en-US" sz="1250" dirty="0">
                <a:solidFill>
                  <a:srgbClr val="36404F"/>
                </a:solidFill>
                <a:latin typeface="Calibri" pitchFamily="34" charset="0"/>
                <a:ea typeface="Calibri" pitchFamily="34" charset="-122"/>
                <a:cs typeface="Calibri" pitchFamily="34" charset="-120"/>
              </a:rPr>
              <a:t>Budget targets</a:t>
            </a:r>
            <a:endParaRPr lang="en-US" sz="1250" dirty="0"/>
          </a:p>
        </p:txBody>
      </p:sp>
      <p:sp>
        <p:nvSpPr>
          <p:cNvPr id="20" name="Text 18"/>
          <p:cNvSpPr/>
          <p:nvPr/>
        </p:nvSpPr>
        <p:spPr>
          <a:xfrm>
            <a:off x="8961120" y="3054096"/>
            <a:ext cx="548640" cy="274320"/>
          </a:xfrm>
          <a:prstGeom prst="rect">
            <a:avLst/>
          </a:prstGeom>
          <a:noFill/>
          <a:ln/>
        </p:spPr>
        <p:txBody>
          <a:bodyPr wrap="square" lIns="0" tIns="0" rIns="0" bIns="0" rtlCol="0" anchor="ctr"/>
          <a:lstStyle/>
          <a:p>
            <a:pPr algn="r" indent="0" marL="0">
              <a:buNone/>
            </a:pPr>
            <a:r>
              <a:rPr lang="en-US" sz="1250" b="1" dirty="0">
                <a:solidFill>
                  <a:srgbClr val="737F91"/>
                </a:solidFill>
                <a:latin typeface="Calibri" pitchFamily="34" charset="0"/>
                <a:ea typeface="Calibri" pitchFamily="34" charset="-122"/>
                <a:cs typeface="Calibri" pitchFamily="34" charset="-120"/>
              </a:rPr>
              <a:t>0</a:t>
            </a:r>
            <a:endParaRPr lang="en-US" sz="1250" dirty="0"/>
          </a:p>
        </p:txBody>
      </p:sp>
      <p:sp>
        <p:nvSpPr>
          <p:cNvPr id="21" name="Shape 19"/>
          <p:cNvSpPr/>
          <p:nvPr/>
        </p:nvSpPr>
        <p:spPr>
          <a:xfrm>
            <a:off x="9646920" y="3127248"/>
            <a:ext cx="320040" cy="146304"/>
          </a:xfrm>
          <a:prstGeom prst="rightArrow">
            <a:avLst/>
          </a:prstGeom>
          <a:solidFill>
            <a:srgbClr val="1B6B52"/>
          </a:solidFill>
          <a:ln w="12700">
            <a:solidFill>
              <a:srgbClr val="1B6B52"/>
            </a:solidFill>
            <a:prstDash val="solid"/>
          </a:ln>
        </p:spPr>
      </p:sp>
      <p:sp>
        <p:nvSpPr>
          <p:cNvPr id="22" name="Text 20"/>
          <p:cNvSpPr/>
          <p:nvPr/>
        </p:nvSpPr>
        <p:spPr>
          <a:xfrm>
            <a:off x="10104120" y="3054096"/>
            <a:ext cx="1371600" cy="274320"/>
          </a:xfrm>
          <a:prstGeom prst="rect">
            <a:avLst/>
          </a:prstGeom>
          <a:noFill/>
          <a:ln/>
        </p:spPr>
        <p:txBody>
          <a:bodyPr wrap="square" lIns="0" tIns="0" rIns="0" bIns="0" rtlCol="0" anchor="ctr"/>
          <a:lstStyle/>
          <a:p>
            <a:pPr indent="0" marL="0">
              <a:buNone/>
            </a:pPr>
            <a:r>
              <a:rPr lang="en-US" sz="1250" b="1" dirty="0">
                <a:solidFill>
                  <a:srgbClr val="1B6B52"/>
                </a:solidFill>
                <a:latin typeface="Calibri" pitchFamily="34" charset="0"/>
                <a:ea typeface="Calibri" pitchFamily="34" charset="-122"/>
                <a:cs typeface="Calibri" pitchFamily="34" charset="-120"/>
              </a:rPr>
              <a:t>6 and 6</a:t>
            </a:r>
            <a:endParaRPr lang="en-US" sz="1250" dirty="0"/>
          </a:p>
        </p:txBody>
      </p:sp>
      <p:sp>
        <p:nvSpPr>
          <p:cNvPr id="23" name="Text 21"/>
          <p:cNvSpPr/>
          <p:nvPr/>
        </p:nvSpPr>
        <p:spPr>
          <a:xfrm>
            <a:off x="6583680" y="3529584"/>
            <a:ext cx="2286000" cy="274320"/>
          </a:xfrm>
          <a:prstGeom prst="rect">
            <a:avLst/>
          </a:prstGeom>
          <a:noFill/>
          <a:ln/>
        </p:spPr>
        <p:txBody>
          <a:bodyPr wrap="square" lIns="0" tIns="0" rIns="0" bIns="0" rtlCol="0" anchor="ctr"/>
          <a:lstStyle/>
          <a:p>
            <a:pPr indent="0" marL="0">
              <a:buNone/>
            </a:pPr>
            <a:r>
              <a:rPr lang="en-US" sz="1250" dirty="0">
                <a:solidFill>
                  <a:srgbClr val="36404F"/>
                </a:solidFill>
                <a:latin typeface="Calibri" pitchFamily="34" charset="0"/>
                <a:ea typeface="Calibri" pitchFamily="34" charset="-122"/>
                <a:cs typeface="Calibri" pitchFamily="34" charset="-120"/>
              </a:rPr>
              <a:t>Review queue</a:t>
            </a:r>
            <a:endParaRPr lang="en-US" sz="1250" dirty="0"/>
          </a:p>
        </p:txBody>
      </p:sp>
      <p:sp>
        <p:nvSpPr>
          <p:cNvPr id="24" name="Text 22"/>
          <p:cNvSpPr/>
          <p:nvPr/>
        </p:nvSpPr>
        <p:spPr>
          <a:xfrm>
            <a:off x="8961120" y="3529584"/>
            <a:ext cx="548640" cy="274320"/>
          </a:xfrm>
          <a:prstGeom prst="rect">
            <a:avLst/>
          </a:prstGeom>
          <a:noFill/>
          <a:ln/>
        </p:spPr>
        <p:txBody>
          <a:bodyPr wrap="square" lIns="0" tIns="0" rIns="0" bIns="0" rtlCol="0" anchor="ctr"/>
          <a:lstStyle/>
          <a:p>
            <a:pPr algn="r" indent="0" marL="0">
              <a:buNone/>
            </a:pPr>
            <a:r>
              <a:rPr lang="en-US" sz="1250" b="1" dirty="0">
                <a:solidFill>
                  <a:srgbClr val="737F91"/>
                </a:solidFill>
                <a:latin typeface="Calibri" pitchFamily="34" charset="0"/>
                <a:ea typeface="Calibri" pitchFamily="34" charset="-122"/>
                <a:cs typeface="Calibri" pitchFamily="34" charset="-120"/>
              </a:rPr>
              <a:t>0</a:t>
            </a:r>
            <a:endParaRPr lang="en-US" sz="1250" dirty="0"/>
          </a:p>
        </p:txBody>
      </p:sp>
      <p:sp>
        <p:nvSpPr>
          <p:cNvPr id="25" name="Shape 23"/>
          <p:cNvSpPr/>
          <p:nvPr/>
        </p:nvSpPr>
        <p:spPr>
          <a:xfrm>
            <a:off x="9646920" y="3602736"/>
            <a:ext cx="320040" cy="146304"/>
          </a:xfrm>
          <a:prstGeom prst="rightArrow">
            <a:avLst/>
          </a:prstGeom>
          <a:solidFill>
            <a:srgbClr val="1B6B52"/>
          </a:solidFill>
          <a:ln w="12700">
            <a:solidFill>
              <a:srgbClr val="1B6B52"/>
            </a:solidFill>
            <a:prstDash val="solid"/>
          </a:ln>
        </p:spPr>
      </p:sp>
      <p:sp>
        <p:nvSpPr>
          <p:cNvPr id="26" name="Text 24"/>
          <p:cNvSpPr/>
          <p:nvPr/>
        </p:nvSpPr>
        <p:spPr>
          <a:xfrm>
            <a:off x="10104120" y="3529584"/>
            <a:ext cx="1371600" cy="274320"/>
          </a:xfrm>
          <a:prstGeom prst="rect">
            <a:avLst/>
          </a:prstGeom>
          <a:noFill/>
          <a:ln/>
        </p:spPr>
        <p:txBody>
          <a:bodyPr wrap="square" lIns="0" tIns="0" rIns="0" bIns="0" rtlCol="0" anchor="ctr"/>
          <a:lstStyle/>
          <a:p>
            <a:pPr indent="0" marL="0">
              <a:buNone/>
            </a:pPr>
            <a:r>
              <a:rPr lang="en-US" sz="1250" b="1" dirty="0">
                <a:solidFill>
                  <a:srgbClr val="1B6B52"/>
                </a:solidFill>
                <a:latin typeface="Calibri" pitchFamily="34" charset="0"/>
                <a:ea typeface="Calibri" pitchFamily="34" charset="-122"/>
                <a:cs typeface="Calibri" pitchFamily="34" charset="-120"/>
              </a:rPr>
              <a:t>309 waiting</a:t>
            </a:r>
            <a:endParaRPr lang="en-US" sz="1250" dirty="0"/>
          </a:p>
        </p:txBody>
      </p:sp>
      <p:sp>
        <p:nvSpPr>
          <p:cNvPr id="27" name="Text 25"/>
          <p:cNvSpPr/>
          <p:nvPr/>
        </p:nvSpPr>
        <p:spPr>
          <a:xfrm>
            <a:off x="6583680" y="3858768"/>
            <a:ext cx="4937760" cy="411480"/>
          </a:xfrm>
          <a:prstGeom prst="rect">
            <a:avLst/>
          </a:prstGeom>
          <a:noFill/>
          <a:ln/>
        </p:spPr>
        <p:txBody>
          <a:bodyPr wrap="square" lIns="0" tIns="0" rIns="0" bIns="0" rtlCol="0" anchor="ctr"/>
          <a:lstStyle/>
          <a:p>
            <a:pPr indent="0" marL="0">
              <a:lnSpc>
                <a:spcPts val="1400"/>
              </a:lnSpc>
              <a:buNone/>
            </a:pPr>
            <a:r>
              <a:rPr lang="en-US" sz="1100" i="1" dirty="0">
                <a:solidFill>
                  <a:srgbClr val="36404F"/>
                </a:solidFill>
                <a:latin typeface="Calibri" pitchFamily="34" charset="0"/>
                <a:ea typeface="Calibri" pitchFamily="34" charset="-122"/>
                <a:cs typeface="Calibri" pitchFamily="34" charset="-120"/>
              </a:rPr>
              <a:t>Seeding now runs the whole pipeline, and the finished result is built into the image and the download.</a:t>
            </a:r>
            <a:endParaRPr lang="en-US" sz="1100" dirty="0"/>
          </a:p>
        </p:txBody>
      </p:sp>
      <p:sp>
        <p:nvSpPr>
          <p:cNvPr id="28" name="Shape 26"/>
          <p:cNvSpPr/>
          <p:nvPr/>
        </p:nvSpPr>
        <p:spPr>
          <a:xfrm>
            <a:off x="658368" y="4343400"/>
            <a:ext cx="10874959" cy="1463040"/>
          </a:xfrm>
          <a:prstGeom prst="roundRect">
            <a:avLst>
              <a:gd name="adj" fmla="val 5625"/>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9" name="Text 27"/>
          <p:cNvSpPr/>
          <p:nvPr/>
        </p:nvSpPr>
        <p:spPr>
          <a:xfrm>
            <a:off x="1024128" y="4526280"/>
            <a:ext cx="731520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Deliberately still empty: 309 transactions in the review queue</a:t>
            </a:r>
            <a:endParaRPr lang="en-US" sz="1450" dirty="0"/>
          </a:p>
        </p:txBody>
      </p:sp>
      <p:sp>
        <p:nvSpPr>
          <p:cNvPr id="30" name="Text 28"/>
          <p:cNvSpPr/>
          <p:nvPr/>
        </p:nvSpPr>
        <p:spPr>
          <a:xfrm>
            <a:off x="1024128" y="4846320"/>
            <a:ext cx="10424160" cy="82296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Those are the cryptic descriptors — SQ *BLUE STEM, TST* MERIDIAN 04 — that exist to be triaged. Pre-filling them from the generator's own answer key would have deleted the feature they were built to demonstrate. The one-click demo sign-in shipped in the same pass.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9AA6B8"/>
                </a:solidFill>
                <a:latin typeface="Calibri" pitchFamily="34" charset="0"/>
                <a:ea typeface="Calibri" pitchFamily="34" charset="-122"/>
                <a:cs typeface="Calibri" pitchFamily="34" charset="-120"/>
              </a:rPr>
              <a:t>AI'S ROLE</a:t>
            </a:r>
            <a:endParaRPr lang="en-US" sz="1100" dirty="0"/>
          </a:p>
        </p:txBody>
      </p:sp>
      <p:sp>
        <p:nvSpPr>
          <p:cNvPr id="3" name="Text 1"/>
          <p:cNvSpPr/>
          <p:nvPr/>
        </p:nvSpPr>
        <p:spPr>
          <a:xfrm>
            <a:off x="658368" y="621792"/>
            <a:ext cx="10874959"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How the AI was actually used</a:t>
            </a:r>
            <a:endParaRPr lang="en-US" sz="3200" dirty="0"/>
          </a:p>
        </p:txBody>
      </p:sp>
      <p:sp>
        <p:nvSpPr>
          <p:cNvPr id="4" name="Shape 2"/>
          <p:cNvSpPr/>
          <p:nvPr/>
        </p:nvSpPr>
        <p:spPr>
          <a:xfrm>
            <a:off x="658368" y="1554480"/>
            <a:ext cx="3566160" cy="3931920"/>
          </a:xfrm>
          <a:prstGeom prst="roundRect">
            <a:avLst>
              <a:gd name="adj" fmla="val 2564"/>
            </a:avLst>
          </a:prstGeom>
          <a:solidFill>
            <a:srgbClr val="1F2836"/>
          </a:solidFill>
          <a:ln w="9525">
            <a:solidFill>
              <a:srgbClr val="2E3A4B"/>
            </a:solidFill>
            <a:prstDash val="solid"/>
          </a:ln>
        </p:spPr>
      </p:sp>
      <p:sp>
        <p:nvSpPr>
          <p:cNvPr id="5" name="Shape 3"/>
          <p:cNvSpPr/>
          <p:nvPr/>
        </p:nvSpPr>
        <p:spPr>
          <a:xfrm>
            <a:off x="978408" y="1810512"/>
            <a:ext cx="329184" cy="329184"/>
          </a:xfrm>
          <a:prstGeom prst="ellipse">
            <a:avLst/>
          </a:prstGeom>
          <a:solidFill>
            <a:srgbClr val="C8791B"/>
          </a:solidFill>
          <a:ln w="12700">
            <a:solidFill>
              <a:srgbClr val="C8791B"/>
            </a:solidFill>
            <a:prstDash val="solid"/>
          </a:ln>
        </p:spPr>
      </p:sp>
      <p:sp>
        <p:nvSpPr>
          <p:cNvPr id="6" name="Text 4"/>
          <p:cNvSpPr/>
          <p:nvPr/>
        </p:nvSpPr>
        <p:spPr>
          <a:xfrm>
            <a:off x="978408" y="1810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78408" y="2286000"/>
            <a:ext cx="2926080" cy="77724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Write the brief before the code</a:t>
            </a:r>
            <a:endParaRPr lang="en-US" sz="1600" dirty="0"/>
          </a:p>
        </p:txBody>
      </p:sp>
      <p:sp>
        <p:nvSpPr>
          <p:cNvPr id="8" name="Text 6"/>
          <p:cNvSpPr/>
          <p:nvPr/>
        </p:nvSpPr>
        <p:spPr>
          <a:xfrm>
            <a:off x="978408" y="3127248"/>
            <a:ext cx="2926080" cy="1234440"/>
          </a:xfrm>
          <a:prstGeom prst="rect">
            <a:avLst/>
          </a:prstGeom>
          <a:noFill/>
          <a:ln/>
        </p:spPr>
        <p:txBody>
          <a:bodyPr wrap="square" lIns="0" tIns="0" rIns="0" bIns="0" rtlCol="0" anchor="ctr"/>
          <a:lstStyle/>
          <a:p>
            <a:pPr indent="0" marL="0">
              <a:lnSpc>
                <a:spcPts val="1600"/>
              </a:lnSpc>
              <a:buNone/>
            </a:pPr>
            <a:r>
              <a:rPr lang="en-US" sz="1200" dirty="0">
                <a:solidFill>
                  <a:srgbClr val="C6CFDC"/>
                </a:solidFill>
                <a:latin typeface="Calibri" pitchFamily="34" charset="0"/>
                <a:ea typeface="Calibri" pitchFamily="34" charset="-122"/>
                <a:cs typeface="Calibri" pitchFamily="34" charset="-120"/>
              </a:rPr>
              <a:t>The second project started with a written build plan and fifteen milestones, produced and argued over before a single file existed. Every later prompt could refer to it.</a:t>
            </a:r>
            <a:endParaRPr lang="en-US" sz="1200" dirty="0"/>
          </a:p>
        </p:txBody>
      </p:sp>
      <p:sp>
        <p:nvSpPr>
          <p:cNvPr id="9" name="Shape 7"/>
          <p:cNvSpPr/>
          <p:nvPr/>
        </p:nvSpPr>
        <p:spPr>
          <a:xfrm>
            <a:off x="978408" y="4434840"/>
            <a:ext cx="2926080" cy="0"/>
          </a:xfrm>
          <a:prstGeom prst="line">
            <a:avLst/>
          </a:prstGeom>
          <a:noFill/>
          <a:ln w="12700">
            <a:solidFill>
              <a:srgbClr val="3C4A5E"/>
            </a:solidFill>
            <a:prstDash val="solid"/>
          </a:ln>
        </p:spPr>
      </p:sp>
      <p:sp>
        <p:nvSpPr>
          <p:cNvPr id="10" name="Text 8"/>
          <p:cNvSpPr/>
          <p:nvPr/>
        </p:nvSpPr>
        <p:spPr>
          <a:xfrm>
            <a:off x="978408" y="4572000"/>
            <a:ext cx="2926080" cy="822960"/>
          </a:xfrm>
          <a:prstGeom prst="rect">
            <a:avLst/>
          </a:prstGeom>
          <a:noFill/>
          <a:ln/>
        </p:spPr>
        <p:txBody>
          <a:bodyPr wrap="square" lIns="0" tIns="0" rIns="0" bIns="0" rtlCol="0" anchor="ctr"/>
          <a:lstStyle/>
          <a:p>
            <a:pPr indent="0" marL="0">
              <a:lnSpc>
                <a:spcPts val="1500"/>
              </a:lnSpc>
              <a:buNone/>
            </a:pPr>
            <a:r>
              <a:rPr lang="en-US" sz="1150" i="1" dirty="0">
                <a:solidFill>
                  <a:srgbClr val="9AA6B8"/>
                </a:solidFill>
                <a:latin typeface="Calibri" pitchFamily="34" charset="0"/>
                <a:ea typeface="Calibri" pitchFamily="34" charset="-122"/>
                <a:cs typeface="Calibri" pitchFamily="34" charset="-120"/>
              </a:rPr>
              <a:t>Prevented the drift that costs the most time: rewriting something because the shape was wrong.</a:t>
            </a:r>
            <a:endParaRPr lang="en-US" sz="1150" dirty="0"/>
          </a:p>
        </p:txBody>
      </p:sp>
      <p:sp>
        <p:nvSpPr>
          <p:cNvPr id="11" name="Shape 9"/>
          <p:cNvSpPr/>
          <p:nvPr/>
        </p:nvSpPr>
        <p:spPr>
          <a:xfrm>
            <a:off x="4453128" y="1554480"/>
            <a:ext cx="3566160" cy="3931920"/>
          </a:xfrm>
          <a:prstGeom prst="roundRect">
            <a:avLst>
              <a:gd name="adj" fmla="val 2564"/>
            </a:avLst>
          </a:prstGeom>
          <a:solidFill>
            <a:srgbClr val="1F2836"/>
          </a:solidFill>
          <a:ln w="9525">
            <a:solidFill>
              <a:srgbClr val="2E3A4B"/>
            </a:solidFill>
            <a:prstDash val="solid"/>
          </a:ln>
        </p:spPr>
      </p:sp>
      <p:sp>
        <p:nvSpPr>
          <p:cNvPr id="12" name="Shape 10"/>
          <p:cNvSpPr/>
          <p:nvPr/>
        </p:nvSpPr>
        <p:spPr>
          <a:xfrm>
            <a:off x="4773168" y="1810512"/>
            <a:ext cx="329184" cy="329184"/>
          </a:xfrm>
          <a:prstGeom prst="ellipse">
            <a:avLst/>
          </a:prstGeom>
          <a:solidFill>
            <a:srgbClr val="1B6B52"/>
          </a:solidFill>
          <a:ln w="12700">
            <a:solidFill>
              <a:srgbClr val="1B6B52"/>
            </a:solidFill>
            <a:prstDash val="solid"/>
          </a:ln>
        </p:spPr>
      </p:sp>
      <p:sp>
        <p:nvSpPr>
          <p:cNvPr id="13" name="Text 11"/>
          <p:cNvSpPr/>
          <p:nvPr/>
        </p:nvSpPr>
        <p:spPr>
          <a:xfrm>
            <a:off x="4773168" y="1810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773168" y="2286000"/>
            <a:ext cx="2926080" cy="77724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Judgment in the model, guarantees in code</a:t>
            </a:r>
            <a:endParaRPr lang="en-US" sz="1600" dirty="0"/>
          </a:p>
        </p:txBody>
      </p:sp>
      <p:sp>
        <p:nvSpPr>
          <p:cNvPr id="15" name="Text 13"/>
          <p:cNvSpPr/>
          <p:nvPr/>
        </p:nvSpPr>
        <p:spPr>
          <a:xfrm>
            <a:off x="4773168" y="3127248"/>
            <a:ext cx="2926080" cy="1234440"/>
          </a:xfrm>
          <a:prstGeom prst="rect">
            <a:avLst/>
          </a:prstGeom>
          <a:noFill/>
          <a:ln/>
        </p:spPr>
        <p:txBody>
          <a:bodyPr wrap="square" lIns="0" tIns="0" rIns="0" bIns="0" rtlCol="0" anchor="ctr"/>
          <a:lstStyle/>
          <a:p>
            <a:pPr indent="0" marL="0">
              <a:lnSpc>
                <a:spcPts val="1600"/>
              </a:lnSpc>
              <a:buNone/>
            </a:pPr>
            <a:r>
              <a:rPr lang="en-US" sz="1200" dirty="0">
                <a:solidFill>
                  <a:srgbClr val="C6CFDC"/>
                </a:solidFill>
                <a:latin typeface="Calibri" pitchFamily="34" charset="0"/>
                <a:ea typeface="Calibri" pitchFamily="34" charset="-122"/>
                <a:cs typeface="Calibri" pitchFamily="34" charset="-120"/>
              </a:rPr>
              <a:t>The model proposes categories and phrasing. Totals, confidence ceilings and identifiers are computed in Python afterwards.</a:t>
            </a:r>
            <a:endParaRPr lang="en-US" sz="1200" dirty="0"/>
          </a:p>
        </p:txBody>
      </p:sp>
      <p:sp>
        <p:nvSpPr>
          <p:cNvPr id="16" name="Shape 14"/>
          <p:cNvSpPr/>
          <p:nvPr/>
        </p:nvSpPr>
        <p:spPr>
          <a:xfrm>
            <a:off x="4773168" y="4434840"/>
            <a:ext cx="2926080" cy="0"/>
          </a:xfrm>
          <a:prstGeom prst="line">
            <a:avLst/>
          </a:prstGeom>
          <a:noFill/>
          <a:ln w="12700">
            <a:solidFill>
              <a:srgbClr val="3C4A5E"/>
            </a:solidFill>
            <a:prstDash val="solid"/>
          </a:ln>
        </p:spPr>
      </p:sp>
      <p:sp>
        <p:nvSpPr>
          <p:cNvPr id="17" name="Text 15"/>
          <p:cNvSpPr/>
          <p:nvPr/>
        </p:nvSpPr>
        <p:spPr>
          <a:xfrm>
            <a:off x="4773168" y="4572000"/>
            <a:ext cx="2926080" cy="822960"/>
          </a:xfrm>
          <a:prstGeom prst="rect">
            <a:avLst/>
          </a:prstGeom>
          <a:noFill/>
          <a:ln/>
        </p:spPr>
        <p:txBody>
          <a:bodyPr wrap="square" lIns="0" tIns="0" rIns="0" bIns="0" rtlCol="0" anchor="ctr"/>
          <a:lstStyle/>
          <a:p>
            <a:pPr indent="0" marL="0">
              <a:lnSpc>
                <a:spcPts val="1500"/>
              </a:lnSpc>
              <a:buNone/>
            </a:pPr>
            <a:r>
              <a:rPr lang="en-US" sz="1150" i="1" dirty="0">
                <a:solidFill>
                  <a:srgbClr val="9AA6B8"/>
                </a:solidFill>
                <a:latin typeface="Calibri" pitchFamily="34" charset="0"/>
                <a:ea typeface="Calibri" pitchFamily="34" charset="-122"/>
                <a:cs typeface="Calibri" pitchFamily="34" charset="-120"/>
              </a:rPr>
              <a:t>A 3B model was overconfident about cryptic descriptors. The fix was a deterministic cap in code, not a sterner prompt.</a:t>
            </a:r>
            <a:endParaRPr lang="en-US" sz="1150" dirty="0"/>
          </a:p>
        </p:txBody>
      </p:sp>
      <p:sp>
        <p:nvSpPr>
          <p:cNvPr id="18" name="Shape 16"/>
          <p:cNvSpPr/>
          <p:nvPr/>
        </p:nvSpPr>
        <p:spPr>
          <a:xfrm>
            <a:off x="8247888" y="1554480"/>
            <a:ext cx="3566160" cy="3931920"/>
          </a:xfrm>
          <a:prstGeom prst="roundRect">
            <a:avLst>
              <a:gd name="adj" fmla="val 2564"/>
            </a:avLst>
          </a:prstGeom>
          <a:solidFill>
            <a:srgbClr val="1F2836"/>
          </a:solidFill>
          <a:ln w="9525">
            <a:solidFill>
              <a:srgbClr val="2E3A4B"/>
            </a:solidFill>
            <a:prstDash val="solid"/>
          </a:ln>
        </p:spPr>
      </p:sp>
      <p:sp>
        <p:nvSpPr>
          <p:cNvPr id="19" name="Shape 17"/>
          <p:cNvSpPr/>
          <p:nvPr/>
        </p:nvSpPr>
        <p:spPr>
          <a:xfrm>
            <a:off x="8567928" y="1810512"/>
            <a:ext cx="329184" cy="329184"/>
          </a:xfrm>
          <a:prstGeom prst="ellipse">
            <a:avLst/>
          </a:prstGeom>
          <a:solidFill>
            <a:srgbClr val="C8791B"/>
          </a:solidFill>
          <a:ln w="12700">
            <a:solidFill>
              <a:srgbClr val="C8791B"/>
            </a:solidFill>
            <a:prstDash val="solid"/>
          </a:ln>
        </p:spPr>
      </p:sp>
      <p:sp>
        <p:nvSpPr>
          <p:cNvPr id="20" name="Text 18"/>
          <p:cNvSpPr/>
          <p:nvPr/>
        </p:nvSpPr>
        <p:spPr>
          <a:xfrm>
            <a:off x="8567928" y="1810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567928" y="2286000"/>
            <a:ext cx="2926080" cy="77724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Log the decision, not just the change</a:t>
            </a:r>
            <a:endParaRPr lang="en-US" sz="1600" dirty="0"/>
          </a:p>
        </p:txBody>
      </p:sp>
      <p:sp>
        <p:nvSpPr>
          <p:cNvPr id="22" name="Text 20"/>
          <p:cNvSpPr/>
          <p:nvPr/>
        </p:nvSpPr>
        <p:spPr>
          <a:xfrm>
            <a:off x="8567928" y="3127248"/>
            <a:ext cx="2926080" cy="1234440"/>
          </a:xfrm>
          <a:prstGeom prst="rect">
            <a:avLst/>
          </a:prstGeom>
          <a:noFill/>
          <a:ln/>
        </p:spPr>
        <p:txBody>
          <a:bodyPr wrap="square" lIns="0" tIns="0" rIns="0" bIns="0" rtlCol="0" anchor="ctr"/>
          <a:lstStyle/>
          <a:p>
            <a:pPr indent="0" marL="0">
              <a:lnSpc>
                <a:spcPts val="1600"/>
              </a:lnSpc>
              <a:buNone/>
            </a:pPr>
            <a:r>
              <a:rPr lang="en-US" sz="1200" dirty="0">
                <a:solidFill>
                  <a:srgbClr val="C6CFDC"/>
                </a:solidFill>
                <a:latin typeface="Calibri" pitchFamily="34" charset="0"/>
                <a:ea typeface="Calibri" pitchFamily="34" charset="-122"/>
                <a:cs typeface="Calibri" pitchFamily="34" charset="-120"/>
              </a:rPr>
              <a:t>Thirty numbered decision records, each with the reasoning and the rejected alternative.</a:t>
            </a:r>
            <a:endParaRPr lang="en-US" sz="1200" dirty="0"/>
          </a:p>
        </p:txBody>
      </p:sp>
      <p:sp>
        <p:nvSpPr>
          <p:cNvPr id="23" name="Shape 21"/>
          <p:cNvSpPr/>
          <p:nvPr/>
        </p:nvSpPr>
        <p:spPr>
          <a:xfrm>
            <a:off x="8567928" y="4434840"/>
            <a:ext cx="2926080" cy="0"/>
          </a:xfrm>
          <a:prstGeom prst="line">
            <a:avLst/>
          </a:prstGeom>
          <a:noFill/>
          <a:ln w="12700">
            <a:solidFill>
              <a:srgbClr val="3C4A5E"/>
            </a:solidFill>
            <a:prstDash val="solid"/>
          </a:ln>
        </p:spPr>
      </p:sp>
      <p:sp>
        <p:nvSpPr>
          <p:cNvPr id="24" name="Text 22"/>
          <p:cNvSpPr/>
          <p:nvPr/>
        </p:nvSpPr>
        <p:spPr>
          <a:xfrm>
            <a:off x="8567928" y="4572000"/>
            <a:ext cx="2926080" cy="822960"/>
          </a:xfrm>
          <a:prstGeom prst="rect">
            <a:avLst/>
          </a:prstGeom>
          <a:noFill/>
          <a:ln/>
        </p:spPr>
        <p:txBody>
          <a:bodyPr wrap="square" lIns="0" tIns="0" rIns="0" bIns="0" rtlCol="0" anchor="ctr"/>
          <a:lstStyle/>
          <a:p>
            <a:pPr indent="0" marL="0">
              <a:lnSpc>
                <a:spcPts val="1500"/>
              </a:lnSpc>
              <a:buNone/>
            </a:pPr>
            <a:r>
              <a:rPr lang="en-US" sz="1150" i="1" dirty="0">
                <a:solidFill>
                  <a:srgbClr val="9AA6B8"/>
                </a:solidFill>
                <a:latin typeface="Calibri" pitchFamily="34" charset="0"/>
                <a:ea typeface="Calibri" pitchFamily="34" charset="-122"/>
                <a:cs typeface="Calibri" pitchFamily="34" charset="-120"/>
              </a:rPr>
              <a:t>Made it possible to answer 'why is it like this' months later, and to hand context to a fresh session.</a:t>
            </a:r>
            <a:endParaRPr lang="en-US" sz="1150" dirty="0"/>
          </a:p>
        </p:txBody>
      </p:sp>
      <p:sp>
        <p:nvSpPr>
          <p:cNvPr id="25" name="Text 23"/>
          <p:cNvSpPr/>
          <p:nvPr/>
        </p:nvSpPr>
        <p:spPr>
          <a:xfrm>
            <a:off x="658368" y="5760720"/>
            <a:ext cx="10874959" cy="548640"/>
          </a:xfrm>
          <a:prstGeom prst="rect">
            <a:avLst/>
          </a:prstGeom>
          <a:noFill/>
          <a:ln/>
        </p:spPr>
        <p:txBody>
          <a:bodyPr wrap="square" lIns="0" tIns="0" rIns="0" bIns="0" rtlCol="0" anchor="ctr"/>
          <a:lstStyle/>
          <a:p>
            <a:pPr indent="0" marL="0">
              <a:lnSpc>
                <a:spcPts val="1500"/>
              </a:lnSpc>
              <a:buNone/>
            </a:pPr>
            <a:r>
              <a:rPr lang="en-US" sz="1150" dirty="0">
                <a:solidFill>
                  <a:srgbClr val="9AA6B8"/>
                </a:solidFill>
                <a:latin typeface="Calibri" pitchFamily="34" charset="0"/>
                <a:ea typeface="Calibri" pitchFamily="34" charset="-122"/>
                <a:cs typeface="Calibri" pitchFamily="34" charset="-120"/>
              </a:rPr>
              <a:t>Tools: Claude Artifacts for the first prototype · Claude Code in the terminal for both builds · Playwright for browser testing · a local qwen2.5 through Ollama as the application's own model</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LESSONS LEARNED</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What changed between the first and the second</a:t>
            </a:r>
            <a:endParaRPr lang="en-US" sz="3200" dirty="0"/>
          </a:p>
        </p:txBody>
      </p:sp>
      <p:sp>
        <p:nvSpPr>
          <p:cNvPr id="4" name="Text 2"/>
          <p:cNvSpPr/>
          <p:nvPr/>
        </p:nvSpPr>
        <p:spPr>
          <a:xfrm>
            <a:off x="4480560" y="1371600"/>
            <a:ext cx="3291840" cy="274320"/>
          </a:xfrm>
          <a:prstGeom prst="rect">
            <a:avLst/>
          </a:prstGeom>
          <a:noFill/>
          <a:ln/>
        </p:spPr>
        <p:txBody>
          <a:bodyPr wrap="square" lIns="0" tIns="0" rIns="0" bIns="0" rtlCol="0" anchor="ctr"/>
          <a:lstStyle/>
          <a:p>
            <a:pPr indent="0" marL="0">
              <a:buNone/>
            </a:pPr>
            <a:r>
              <a:rPr lang="en-US" sz="1250" b="1" dirty="0">
                <a:solidFill>
                  <a:srgbClr val="C8791B"/>
                </a:solidFill>
                <a:latin typeface="Calibri" pitchFamily="34" charset="0"/>
                <a:ea typeface="Calibri" pitchFamily="34" charset="-122"/>
                <a:cs typeface="Calibri" pitchFamily="34" charset="-120"/>
              </a:rPr>
              <a:t>GridPilot AI</a:t>
            </a:r>
            <a:endParaRPr lang="en-US" sz="1250" dirty="0"/>
          </a:p>
        </p:txBody>
      </p:sp>
      <p:sp>
        <p:nvSpPr>
          <p:cNvPr id="5" name="Text 3"/>
          <p:cNvSpPr/>
          <p:nvPr/>
        </p:nvSpPr>
        <p:spPr>
          <a:xfrm>
            <a:off x="8092440" y="1371600"/>
            <a:ext cx="3566160" cy="274320"/>
          </a:xfrm>
          <a:prstGeom prst="rect">
            <a:avLst/>
          </a:prstGeom>
          <a:noFill/>
          <a:ln/>
        </p:spPr>
        <p:txBody>
          <a:bodyPr wrap="square" lIns="0" tIns="0" rIns="0" bIns="0" rtlCol="0" anchor="ctr"/>
          <a:lstStyle/>
          <a:p>
            <a:pPr indent="0" marL="0">
              <a:buNone/>
            </a:pPr>
            <a:r>
              <a:rPr lang="en-US" sz="1250" b="1" dirty="0">
                <a:solidFill>
                  <a:srgbClr val="1B6B52"/>
                </a:solidFill>
                <a:latin typeface="Calibri" pitchFamily="34" charset="0"/>
                <a:ea typeface="Calibri" pitchFamily="34" charset="-122"/>
                <a:cs typeface="Calibri" pitchFamily="34" charset="-120"/>
              </a:rPr>
              <a:t>Meridian Financial</a:t>
            </a:r>
            <a:endParaRPr lang="en-US" sz="1250" dirty="0"/>
          </a:p>
        </p:txBody>
      </p:sp>
      <p:sp>
        <p:nvSpPr>
          <p:cNvPr id="6" name="Shape 4"/>
          <p:cNvSpPr/>
          <p:nvPr/>
        </p:nvSpPr>
        <p:spPr>
          <a:xfrm>
            <a:off x="658368" y="1636776"/>
            <a:ext cx="10874959" cy="658368"/>
          </a:xfrm>
          <a:prstGeom prst="rect">
            <a:avLst/>
          </a:prstGeom>
          <a:solidFill>
            <a:srgbClr val="F3F5F8"/>
          </a:solidFill>
          <a:ln w="12700">
            <a:solidFill>
              <a:srgbClr val="F3F5F8"/>
            </a:solidFill>
            <a:prstDash val="solid"/>
          </a:ln>
        </p:spPr>
      </p:sp>
      <p:sp>
        <p:nvSpPr>
          <p:cNvPr id="7" name="Text 5"/>
          <p:cNvSpPr/>
          <p:nvPr/>
        </p:nvSpPr>
        <p:spPr>
          <a:xfrm>
            <a:off x="886968" y="1764792"/>
            <a:ext cx="3566160" cy="457200"/>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Where the plan lived</a:t>
            </a:r>
            <a:endParaRPr lang="en-US" sz="1250" dirty="0"/>
          </a:p>
        </p:txBody>
      </p:sp>
      <p:sp>
        <p:nvSpPr>
          <p:cNvPr id="8" name="Text 6"/>
          <p:cNvSpPr/>
          <p:nvPr/>
        </p:nvSpPr>
        <p:spPr>
          <a:xfrm>
            <a:off x="4480560" y="1764792"/>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737F91"/>
                </a:solidFill>
                <a:latin typeface="Calibri" pitchFamily="34" charset="0"/>
                <a:ea typeface="Calibri" pitchFamily="34" charset="-122"/>
                <a:cs typeface="Calibri" pitchFamily="34" charset="-120"/>
              </a:rPr>
              <a:t>In the conversation</a:t>
            </a:r>
            <a:endParaRPr lang="en-US" sz="1200" dirty="0"/>
          </a:p>
        </p:txBody>
      </p:sp>
      <p:sp>
        <p:nvSpPr>
          <p:cNvPr id="9" name="Text 7"/>
          <p:cNvSpPr/>
          <p:nvPr/>
        </p:nvSpPr>
        <p:spPr>
          <a:xfrm>
            <a:off x="8092440" y="1764792"/>
            <a:ext cx="3566160" cy="45720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In a written brief, argued before any code</a:t>
            </a:r>
            <a:endParaRPr lang="en-US" sz="1200" dirty="0"/>
          </a:p>
        </p:txBody>
      </p:sp>
      <p:sp>
        <p:nvSpPr>
          <p:cNvPr id="10" name="Text 8"/>
          <p:cNvSpPr/>
          <p:nvPr/>
        </p:nvSpPr>
        <p:spPr>
          <a:xfrm>
            <a:off x="886968" y="2478024"/>
            <a:ext cx="3566160" cy="457200"/>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When deployment was decided</a:t>
            </a:r>
            <a:endParaRPr lang="en-US" sz="1250" dirty="0"/>
          </a:p>
        </p:txBody>
      </p:sp>
      <p:sp>
        <p:nvSpPr>
          <p:cNvPr id="11" name="Text 9"/>
          <p:cNvSpPr/>
          <p:nvPr/>
        </p:nvSpPr>
        <p:spPr>
          <a:xfrm>
            <a:off x="4480560" y="2478024"/>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737F91"/>
                </a:solidFill>
                <a:latin typeface="Calibri" pitchFamily="34" charset="0"/>
                <a:ea typeface="Calibri" pitchFamily="34" charset="-122"/>
                <a:cs typeface="Calibri" pitchFamily="34" charset="-120"/>
              </a:rPr>
              <a:t>After it was built</a:t>
            </a:r>
            <a:endParaRPr lang="en-US" sz="1200" dirty="0"/>
          </a:p>
        </p:txBody>
      </p:sp>
      <p:sp>
        <p:nvSpPr>
          <p:cNvPr id="12" name="Text 10"/>
          <p:cNvSpPr/>
          <p:nvPr/>
        </p:nvSpPr>
        <p:spPr>
          <a:xfrm>
            <a:off x="8092440" y="2478024"/>
            <a:ext cx="3566160" cy="45720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Before the first migration was written</a:t>
            </a:r>
            <a:endParaRPr lang="en-US" sz="1200" dirty="0"/>
          </a:p>
        </p:txBody>
      </p:sp>
      <p:sp>
        <p:nvSpPr>
          <p:cNvPr id="13" name="Shape 11"/>
          <p:cNvSpPr/>
          <p:nvPr/>
        </p:nvSpPr>
        <p:spPr>
          <a:xfrm>
            <a:off x="658368" y="3063240"/>
            <a:ext cx="10874959" cy="658368"/>
          </a:xfrm>
          <a:prstGeom prst="rect">
            <a:avLst/>
          </a:prstGeom>
          <a:solidFill>
            <a:srgbClr val="F3F5F8"/>
          </a:solidFill>
          <a:ln w="12700">
            <a:solidFill>
              <a:srgbClr val="F3F5F8"/>
            </a:solidFill>
            <a:prstDash val="solid"/>
          </a:ln>
        </p:spPr>
      </p:sp>
      <p:sp>
        <p:nvSpPr>
          <p:cNvPr id="14" name="Text 12"/>
          <p:cNvSpPr/>
          <p:nvPr/>
        </p:nvSpPr>
        <p:spPr>
          <a:xfrm>
            <a:off x="886968" y="3191256"/>
            <a:ext cx="3566160" cy="457200"/>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What tests covered</a:t>
            </a:r>
            <a:endParaRPr lang="en-US" sz="1250" dirty="0"/>
          </a:p>
        </p:txBody>
      </p:sp>
      <p:sp>
        <p:nvSpPr>
          <p:cNvPr id="15" name="Text 13"/>
          <p:cNvSpPr/>
          <p:nvPr/>
        </p:nvSpPr>
        <p:spPr>
          <a:xfrm>
            <a:off x="4480560" y="3191256"/>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737F91"/>
                </a:solidFill>
                <a:latin typeface="Calibri" pitchFamily="34" charset="0"/>
                <a:ea typeface="Calibri" pitchFamily="34" charset="-122"/>
                <a:cs typeface="Calibri" pitchFamily="34" charset="-120"/>
              </a:rPr>
              <a:t>The features, in one browser</a:t>
            </a:r>
            <a:endParaRPr lang="en-US" sz="1200" dirty="0"/>
          </a:p>
        </p:txBody>
      </p:sp>
      <p:sp>
        <p:nvSpPr>
          <p:cNvPr id="16" name="Text 14"/>
          <p:cNvSpPr/>
          <p:nvPr/>
        </p:nvSpPr>
        <p:spPr>
          <a:xfrm>
            <a:off x="8092440" y="3191256"/>
            <a:ext cx="3566160" cy="45720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The features, plus the environments that broke them</a:t>
            </a:r>
            <a:endParaRPr lang="en-US" sz="1200" dirty="0"/>
          </a:p>
        </p:txBody>
      </p:sp>
      <p:sp>
        <p:nvSpPr>
          <p:cNvPr id="17" name="Text 15"/>
          <p:cNvSpPr/>
          <p:nvPr/>
        </p:nvSpPr>
        <p:spPr>
          <a:xfrm>
            <a:off x="886968" y="3904488"/>
            <a:ext cx="3566160" cy="457200"/>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How the model was trusted</a:t>
            </a:r>
            <a:endParaRPr lang="en-US" sz="1250" dirty="0"/>
          </a:p>
        </p:txBody>
      </p:sp>
      <p:sp>
        <p:nvSpPr>
          <p:cNvPr id="18" name="Text 16"/>
          <p:cNvSpPr/>
          <p:nvPr/>
        </p:nvSpPr>
        <p:spPr>
          <a:xfrm>
            <a:off x="4480560" y="3904488"/>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737F91"/>
                </a:solidFill>
                <a:latin typeface="Calibri" pitchFamily="34" charset="0"/>
                <a:ea typeface="Calibri" pitchFamily="34" charset="-122"/>
                <a:cs typeface="Calibri" pitchFamily="34" charset="-120"/>
              </a:rPr>
              <a:t>Asked, then checked by eye</a:t>
            </a:r>
            <a:endParaRPr lang="en-US" sz="1200" dirty="0"/>
          </a:p>
        </p:txBody>
      </p:sp>
      <p:sp>
        <p:nvSpPr>
          <p:cNvPr id="19" name="Text 17"/>
          <p:cNvSpPr/>
          <p:nvPr/>
        </p:nvSpPr>
        <p:spPr>
          <a:xfrm>
            <a:off x="8092440" y="3904488"/>
            <a:ext cx="3566160" cy="45720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Constrained in code, tested against a real local model</a:t>
            </a:r>
            <a:endParaRPr lang="en-US" sz="1200" dirty="0"/>
          </a:p>
        </p:txBody>
      </p:sp>
      <p:sp>
        <p:nvSpPr>
          <p:cNvPr id="20" name="Shape 18"/>
          <p:cNvSpPr/>
          <p:nvPr/>
        </p:nvSpPr>
        <p:spPr>
          <a:xfrm>
            <a:off x="658368" y="4489704"/>
            <a:ext cx="10874959" cy="658368"/>
          </a:xfrm>
          <a:prstGeom prst="rect">
            <a:avLst/>
          </a:prstGeom>
          <a:solidFill>
            <a:srgbClr val="F3F5F8"/>
          </a:solidFill>
          <a:ln w="12700">
            <a:solidFill>
              <a:srgbClr val="F3F5F8"/>
            </a:solidFill>
            <a:prstDash val="solid"/>
          </a:ln>
        </p:spPr>
      </p:sp>
      <p:sp>
        <p:nvSpPr>
          <p:cNvPr id="21" name="Text 19"/>
          <p:cNvSpPr/>
          <p:nvPr/>
        </p:nvSpPr>
        <p:spPr>
          <a:xfrm>
            <a:off x="886968" y="4617720"/>
            <a:ext cx="3566160" cy="457200"/>
          </a:xfrm>
          <a:prstGeom prst="rect">
            <a:avLst/>
          </a:prstGeom>
          <a:noFill/>
          <a:ln/>
        </p:spPr>
        <p:txBody>
          <a:bodyPr wrap="square" lIns="0" tIns="0" rIns="0" bIns="0" rtlCol="0" anchor="ctr"/>
          <a:lstStyle/>
          <a:p>
            <a:pPr indent="0" marL="0">
              <a:buNone/>
            </a:pPr>
            <a:r>
              <a:rPr lang="en-US" sz="1250" b="1" dirty="0">
                <a:solidFill>
                  <a:srgbClr val="141A24"/>
                </a:solidFill>
                <a:latin typeface="Calibri" pitchFamily="34" charset="0"/>
                <a:ea typeface="Calibri" pitchFamily="34" charset="-122"/>
                <a:cs typeface="Calibri" pitchFamily="34" charset="-120"/>
              </a:rPr>
              <a:t>What the demo data proved</a:t>
            </a:r>
            <a:endParaRPr lang="en-US" sz="1250" dirty="0"/>
          </a:p>
        </p:txBody>
      </p:sp>
      <p:sp>
        <p:nvSpPr>
          <p:cNvPr id="22" name="Text 20"/>
          <p:cNvSpPr/>
          <p:nvPr/>
        </p:nvSpPr>
        <p:spPr>
          <a:xfrm>
            <a:off x="4480560" y="4617720"/>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737F91"/>
                </a:solidFill>
                <a:latin typeface="Calibri" pitchFamily="34" charset="0"/>
                <a:ea typeface="Calibri" pitchFamily="34" charset="-122"/>
                <a:cs typeface="Calibri" pitchFamily="34" charset="-120"/>
              </a:rPr>
              <a:t>That the app runs</a:t>
            </a:r>
            <a:endParaRPr lang="en-US" sz="1200" dirty="0"/>
          </a:p>
        </p:txBody>
      </p:sp>
      <p:sp>
        <p:nvSpPr>
          <p:cNvPr id="23" name="Text 21"/>
          <p:cNvSpPr/>
          <p:nvPr/>
        </p:nvSpPr>
        <p:spPr>
          <a:xfrm>
            <a:off x="8092440" y="4617720"/>
            <a:ext cx="3566160" cy="457200"/>
          </a:xfrm>
          <a:prstGeom prst="rect">
            <a:avLst/>
          </a:prstGeom>
          <a:noFill/>
          <a:ln/>
        </p:spPr>
        <p:txBody>
          <a:bodyPr wrap="square" lIns="0" tIns="0" rIns="0" bIns="0" rtlCol="0" anchor="ctr"/>
          <a:lstStyle/>
          <a:p>
            <a:pPr indent="0" marL="0">
              <a:lnSpc>
                <a:spcPts val="1500"/>
              </a:lnSpc>
              <a:buNone/>
            </a:pPr>
            <a:r>
              <a:rPr lang="en-US" sz="1200" dirty="0">
                <a:solidFill>
                  <a:srgbClr val="36404F"/>
                </a:solidFill>
                <a:latin typeface="Calibri" pitchFamily="34" charset="0"/>
                <a:ea typeface="Calibri" pitchFamily="34" charset="-122"/>
                <a:cs typeface="Calibri" pitchFamily="34" charset="-120"/>
              </a:rPr>
              <a:t>That the app finds thirteen known anomalies</a:t>
            </a:r>
            <a:endParaRPr lang="en-US" sz="1200" dirty="0"/>
          </a:p>
        </p:txBody>
      </p:sp>
      <p:sp>
        <p:nvSpPr>
          <p:cNvPr id="24" name="Shape 22"/>
          <p:cNvSpPr/>
          <p:nvPr/>
        </p:nvSpPr>
        <p:spPr>
          <a:xfrm>
            <a:off x="658368" y="5394960"/>
            <a:ext cx="10874959" cy="868680"/>
          </a:xfrm>
          <a:prstGeom prst="roundRect">
            <a:avLst>
              <a:gd name="adj" fmla="val 9474"/>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5" name="Text 23"/>
          <p:cNvSpPr/>
          <p:nvPr/>
        </p:nvSpPr>
        <p:spPr>
          <a:xfrm>
            <a:off x="1024128" y="5559552"/>
            <a:ext cx="10424160" cy="548640"/>
          </a:xfrm>
          <a:prstGeom prst="rect">
            <a:avLst/>
          </a:prstGeom>
          <a:noFill/>
          <a:ln/>
        </p:spPr>
        <p:txBody>
          <a:bodyPr wrap="square" lIns="0" tIns="0" rIns="0" bIns="0" rtlCol="0" anchor="ctr"/>
          <a:lstStyle/>
          <a:p>
            <a:pPr indent="0" marL="0">
              <a:lnSpc>
                <a:spcPts val="1800"/>
              </a:lnSpc>
              <a:buNone/>
            </a:pPr>
            <a:r>
              <a:rPr lang="en-US" sz="1350" b="1" dirty="0">
                <a:solidFill>
                  <a:srgbClr val="141A24"/>
                </a:solidFill>
                <a:latin typeface="Cambria" pitchFamily="34" charset="0"/>
                <a:ea typeface="Cambria" pitchFamily="34" charset="-122"/>
                <a:cs typeface="Cambria" pitchFamily="34" charset="-120"/>
              </a:rPr>
              <a:t>The lesson underneath all five: a green test run proves the code is correct in the environment the tests run in. Download, install and deployment are each a different environment.</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VALUE &amp; IMPACT · APP 1</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What GridPilot is worth to a utility</a:t>
            </a:r>
            <a:endParaRPr lang="en-US" sz="3200" dirty="0"/>
          </a:p>
        </p:txBody>
      </p:sp>
      <p:sp>
        <p:nvSpPr>
          <p:cNvPr id="4" name="Shape 2"/>
          <p:cNvSpPr/>
          <p:nvPr/>
        </p:nvSpPr>
        <p:spPr>
          <a:xfrm>
            <a:off x="9384487" y="384048"/>
            <a:ext cx="2148840" cy="329184"/>
          </a:xfrm>
          <a:prstGeom prst="roundRect">
            <a:avLst>
              <a:gd name="adj" fmla="val 50000"/>
            </a:avLst>
          </a:prstGeom>
          <a:solidFill>
            <a:srgbClr val="FBF1E2"/>
          </a:solidFill>
          <a:ln w="9525">
            <a:solidFill>
              <a:srgbClr val="C8791B"/>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C8791B"/>
                </a:solidFill>
                <a:latin typeface="Calibri" pitchFamily="34" charset="0"/>
                <a:ea typeface="Calibri" pitchFamily="34" charset="-122"/>
                <a:cs typeface="Calibri" pitchFamily="34" charset="-120"/>
              </a:rPr>
              <a:t>APP 1  ·  GRIDPILOT AI</a:t>
            </a:r>
            <a:endParaRPr lang="en-US" sz="1000" dirty="0"/>
          </a:p>
        </p:txBody>
      </p:sp>
      <p:sp>
        <p:nvSpPr>
          <p:cNvPr id="6" name="Shape 4"/>
          <p:cNvSpPr/>
          <p:nvPr/>
        </p:nvSpPr>
        <p:spPr>
          <a:xfrm>
            <a:off x="658368" y="1463040"/>
            <a:ext cx="5394960" cy="2194560"/>
          </a:xfrm>
          <a:prstGeom prst="roundRect">
            <a:avLst>
              <a:gd name="adj" fmla="val 3750"/>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978408" y="1691640"/>
            <a:ext cx="475488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Where the time goes today</a:t>
            </a:r>
            <a:endParaRPr lang="en-US" sz="1450" dirty="0"/>
          </a:p>
        </p:txBody>
      </p:sp>
      <p:sp>
        <p:nvSpPr>
          <p:cNvPr id="8" name="Text 6"/>
          <p:cNvSpPr/>
          <p:nvPr/>
        </p:nvSpPr>
        <p:spPr>
          <a:xfrm>
            <a:off x="978408" y="2011680"/>
            <a:ext cx="4754880" cy="128016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An engineer with a standards question opens a shared drive, finds a PDF, checks it is the current revision, and reads to the right table. Ten to fifteen minutes when it goes well. Longer when the answer is in a document they did not know existed.</a:t>
            </a:r>
            <a:endParaRPr lang="en-US" sz="1250" dirty="0"/>
          </a:p>
        </p:txBody>
      </p:sp>
      <p:sp>
        <p:nvSpPr>
          <p:cNvPr id="9" name="Shape 7"/>
          <p:cNvSpPr/>
          <p:nvPr/>
        </p:nvSpPr>
        <p:spPr>
          <a:xfrm>
            <a:off x="6355080" y="1463040"/>
            <a:ext cx="5178247" cy="2194560"/>
          </a:xfrm>
          <a:prstGeom prst="roundRect">
            <a:avLst>
              <a:gd name="adj" fmla="val 3750"/>
            </a:avLst>
          </a:prstGeom>
          <a:solidFill>
            <a:srgbClr val="FBF1E2"/>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0" name="Text 8"/>
          <p:cNvSpPr/>
          <p:nvPr/>
        </p:nvSpPr>
        <p:spPr>
          <a:xfrm>
            <a:off x="6675120" y="1691640"/>
            <a:ext cx="4846320" cy="274320"/>
          </a:xfrm>
          <a:prstGeom prst="rect">
            <a:avLst/>
          </a:prstGeom>
          <a:noFill/>
          <a:ln/>
        </p:spPr>
        <p:txBody>
          <a:bodyPr wrap="square" lIns="0" tIns="0" rIns="0" bIns="0" rtlCol="0" anchor="ctr"/>
          <a:lstStyle/>
          <a:p>
            <a:pPr indent="0" marL="0">
              <a:buNone/>
            </a:pPr>
            <a:r>
              <a:rPr lang="en-US" sz="1450" b="1" dirty="0">
                <a:solidFill>
                  <a:srgbClr val="C8791B"/>
                </a:solidFill>
                <a:latin typeface="Calibri" pitchFamily="34" charset="0"/>
                <a:ea typeface="Calibri" pitchFamily="34" charset="-122"/>
                <a:cs typeface="Calibri" pitchFamily="34" charset="-120"/>
              </a:rPr>
              <a:t>Illustrative annual value</a:t>
            </a:r>
            <a:endParaRPr lang="en-US" sz="1450" dirty="0"/>
          </a:p>
        </p:txBody>
      </p:sp>
      <p:sp>
        <p:nvSpPr>
          <p:cNvPr id="11" name="Text 9"/>
          <p:cNvSpPr/>
          <p:nvPr/>
        </p:nvSpPr>
        <p:spPr>
          <a:xfrm>
            <a:off x="6675120" y="2011680"/>
            <a:ext cx="4846320" cy="777240"/>
          </a:xfrm>
          <a:prstGeom prst="rect">
            <a:avLst/>
          </a:prstGeom>
          <a:noFill/>
          <a:ln/>
        </p:spPr>
        <p:txBody>
          <a:bodyPr wrap="square" lIns="0" tIns="0" rIns="0" bIns="0" rtlCol="0" anchor="ctr"/>
          <a:lstStyle/>
          <a:p>
            <a:pPr indent="0" marL="0">
              <a:lnSpc>
                <a:spcPts val="1900"/>
              </a:lnSpc>
              <a:buNone/>
            </a:pPr>
            <a:r>
              <a:rPr lang="en-US" sz="1350" b="1" dirty="0">
                <a:solidFill>
                  <a:srgbClr val="141A24"/>
                </a:solidFill>
                <a:latin typeface="Calibri" pitchFamily="34" charset="0"/>
                <a:ea typeface="Calibri" pitchFamily="34" charset="-122"/>
                <a:cs typeface="Calibri" pitchFamily="34" charset="-120"/>
              </a:rPr>
              <a:t>200 engineers  ×  2 lookups a week  ×  10 minutes saved  ≈  3,470 hours a year</a:t>
            </a:r>
            <a:endParaRPr lang="en-US" sz="1350" dirty="0"/>
          </a:p>
        </p:txBody>
      </p:sp>
      <p:sp>
        <p:nvSpPr>
          <p:cNvPr id="12" name="Text 10"/>
          <p:cNvSpPr/>
          <p:nvPr/>
        </p:nvSpPr>
        <p:spPr>
          <a:xfrm>
            <a:off x="6675120" y="2834640"/>
            <a:ext cx="4846320" cy="640080"/>
          </a:xfrm>
          <a:prstGeom prst="rect">
            <a:avLst/>
          </a:prstGeom>
          <a:noFill/>
          <a:ln/>
        </p:spPr>
        <p:txBody>
          <a:bodyPr wrap="square" lIns="0" tIns="0" rIns="0" bIns="0" rtlCol="0" anchor="ctr"/>
          <a:lstStyle/>
          <a:p>
            <a:pPr indent="0" marL="0">
              <a:lnSpc>
                <a:spcPts val="1400"/>
              </a:lnSpc>
              <a:buNone/>
            </a:pPr>
            <a:r>
              <a:rPr lang="en-US" sz="1100" i="1" dirty="0">
                <a:solidFill>
                  <a:srgbClr val="737F91"/>
                </a:solidFill>
                <a:latin typeface="Calibri" pitchFamily="34" charset="0"/>
                <a:ea typeface="Calibri" pitchFamily="34" charset="-122"/>
                <a:cs typeface="Calibri" pitchFamily="34" charset="-120"/>
              </a:rPr>
              <a:t>Assumption-based, not measured. The point is the shape: the saving scales with headcount and question volume, and the platform cost does not.</a:t>
            </a:r>
            <a:endParaRPr lang="en-US" sz="1100" dirty="0"/>
          </a:p>
        </p:txBody>
      </p:sp>
      <p:sp>
        <p:nvSpPr>
          <p:cNvPr id="13" name="Shape 11"/>
          <p:cNvSpPr/>
          <p:nvPr/>
        </p:nvSpPr>
        <p:spPr>
          <a:xfrm>
            <a:off x="658368" y="3941064"/>
            <a:ext cx="155448" cy="155448"/>
          </a:xfrm>
          <a:prstGeom prst="ellipse">
            <a:avLst/>
          </a:prstGeom>
          <a:solidFill>
            <a:srgbClr val="C8791B"/>
          </a:solidFill>
          <a:ln/>
        </p:spPr>
      </p:sp>
      <p:sp>
        <p:nvSpPr>
          <p:cNvPr id="14" name="Text 12"/>
          <p:cNvSpPr/>
          <p:nvPr/>
        </p:nvSpPr>
        <p:spPr>
          <a:xfrm>
            <a:off x="950976" y="3886200"/>
            <a:ext cx="4846320" cy="256032"/>
          </a:xfrm>
          <a:prstGeom prst="rect">
            <a:avLst/>
          </a:prstGeom>
          <a:noFill/>
          <a:ln/>
        </p:spPr>
        <p:txBody>
          <a:bodyPr wrap="square" lIns="0" tIns="0" rIns="0" bIns="0" rtlCol="0" anchor="ctr"/>
          <a:lstStyle/>
          <a:p>
            <a:pPr indent="0" marL="0">
              <a:buNone/>
            </a:pPr>
            <a:r>
              <a:rPr lang="en-US" sz="1350" b="1" dirty="0">
                <a:solidFill>
                  <a:srgbClr val="141A24"/>
                </a:solidFill>
                <a:latin typeface="Calibri" pitchFamily="34" charset="0"/>
                <a:ea typeface="Calibri" pitchFamily="34" charset="-122"/>
                <a:cs typeface="Calibri" pitchFamily="34" charset="-120"/>
              </a:rPr>
              <a:t>Compliance risk</a:t>
            </a:r>
            <a:endParaRPr lang="en-US" sz="1350" dirty="0"/>
          </a:p>
        </p:txBody>
      </p:sp>
      <p:sp>
        <p:nvSpPr>
          <p:cNvPr id="15" name="Text 13"/>
          <p:cNvSpPr/>
          <p:nvPr/>
        </p:nvSpPr>
        <p:spPr>
          <a:xfrm>
            <a:off x="950976" y="4160520"/>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737F91"/>
                </a:solidFill>
                <a:latin typeface="Calibri" pitchFamily="34" charset="0"/>
                <a:ea typeface="Calibri" pitchFamily="34" charset="-122"/>
                <a:cs typeface="Calibri" pitchFamily="34" charset="-120"/>
              </a:rPr>
              <a:t>An answer that cites its source is auditable. An answer from memory is not.</a:t>
            </a:r>
            <a:endParaRPr lang="en-US" sz="1150" dirty="0"/>
          </a:p>
        </p:txBody>
      </p:sp>
      <p:sp>
        <p:nvSpPr>
          <p:cNvPr id="16" name="Shape 14"/>
          <p:cNvSpPr/>
          <p:nvPr/>
        </p:nvSpPr>
        <p:spPr>
          <a:xfrm>
            <a:off x="6190488" y="3941064"/>
            <a:ext cx="155448" cy="155448"/>
          </a:xfrm>
          <a:prstGeom prst="ellipse">
            <a:avLst/>
          </a:prstGeom>
          <a:solidFill>
            <a:srgbClr val="C8791B"/>
          </a:solidFill>
          <a:ln/>
        </p:spPr>
      </p:sp>
      <p:sp>
        <p:nvSpPr>
          <p:cNvPr id="17" name="Text 15"/>
          <p:cNvSpPr/>
          <p:nvPr/>
        </p:nvSpPr>
        <p:spPr>
          <a:xfrm>
            <a:off x="6483096" y="3886200"/>
            <a:ext cx="4846320" cy="256032"/>
          </a:xfrm>
          <a:prstGeom prst="rect">
            <a:avLst/>
          </a:prstGeom>
          <a:noFill/>
          <a:ln/>
        </p:spPr>
        <p:txBody>
          <a:bodyPr wrap="square" lIns="0" tIns="0" rIns="0" bIns="0" rtlCol="0" anchor="ctr"/>
          <a:lstStyle/>
          <a:p>
            <a:pPr indent="0" marL="0">
              <a:buNone/>
            </a:pPr>
            <a:r>
              <a:rPr lang="en-US" sz="1350" b="1" dirty="0">
                <a:solidFill>
                  <a:srgbClr val="141A24"/>
                </a:solidFill>
                <a:latin typeface="Calibri" pitchFamily="34" charset="0"/>
                <a:ea typeface="Calibri" pitchFamily="34" charset="-122"/>
                <a:cs typeface="Calibri" pitchFamily="34" charset="-120"/>
              </a:rPr>
              <a:t>Onboarding</a:t>
            </a:r>
            <a:endParaRPr lang="en-US" sz="1350" dirty="0"/>
          </a:p>
        </p:txBody>
      </p:sp>
      <p:sp>
        <p:nvSpPr>
          <p:cNvPr id="18" name="Text 16"/>
          <p:cNvSpPr/>
          <p:nvPr/>
        </p:nvSpPr>
        <p:spPr>
          <a:xfrm>
            <a:off x="6483096" y="4160520"/>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737F91"/>
                </a:solidFill>
                <a:latin typeface="Calibri" pitchFamily="34" charset="0"/>
                <a:ea typeface="Calibri" pitchFamily="34" charset="-122"/>
                <a:cs typeface="Calibri" pitchFamily="34" charset="-120"/>
              </a:rPr>
              <a:t>A new analyst asks the workspace instead of asking a senior engineer.</a:t>
            </a:r>
            <a:endParaRPr lang="en-US" sz="1150" dirty="0"/>
          </a:p>
        </p:txBody>
      </p:sp>
      <p:sp>
        <p:nvSpPr>
          <p:cNvPr id="19" name="Shape 17"/>
          <p:cNvSpPr/>
          <p:nvPr/>
        </p:nvSpPr>
        <p:spPr>
          <a:xfrm>
            <a:off x="658368" y="4992624"/>
            <a:ext cx="155448" cy="155448"/>
          </a:xfrm>
          <a:prstGeom prst="ellipse">
            <a:avLst/>
          </a:prstGeom>
          <a:solidFill>
            <a:srgbClr val="C8791B"/>
          </a:solidFill>
          <a:ln/>
        </p:spPr>
      </p:sp>
      <p:sp>
        <p:nvSpPr>
          <p:cNvPr id="20" name="Text 18"/>
          <p:cNvSpPr/>
          <p:nvPr/>
        </p:nvSpPr>
        <p:spPr>
          <a:xfrm>
            <a:off x="950976" y="4937760"/>
            <a:ext cx="4846320" cy="256032"/>
          </a:xfrm>
          <a:prstGeom prst="rect">
            <a:avLst/>
          </a:prstGeom>
          <a:noFill/>
          <a:ln/>
        </p:spPr>
        <p:txBody>
          <a:bodyPr wrap="square" lIns="0" tIns="0" rIns="0" bIns="0" rtlCol="0" anchor="ctr"/>
          <a:lstStyle/>
          <a:p>
            <a:pPr indent="0" marL="0">
              <a:buNone/>
            </a:pPr>
            <a:r>
              <a:rPr lang="en-US" sz="1350" b="1" dirty="0">
                <a:solidFill>
                  <a:srgbClr val="141A24"/>
                </a:solidFill>
                <a:latin typeface="Calibri" pitchFamily="34" charset="0"/>
                <a:ea typeface="Calibri" pitchFamily="34" charset="-122"/>
                <a:cs typeface="Calibri" pitchFamily="34" charset="-120"/>
              </a:rPr>
              <a:t>Content gaps</a:t>
            </a:r>
            <a:endParaRPr lang="en-US" sz="1350" dirty="0"/>
          </a:p>
        </p:txBody>
      </p:sp>
      <p:sp>
        <p:nvSpPr>
          <p:cNvPr id="21" name="Text 19"/>
          <p:cNvSpPr/>
          <p:nvPr/>
        </p:nvSpPr>
        <p:spPr>
          <a:xfrm>
            <a:off x="950976" y="5212080"/>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737F91"/>
                </a:solidFill>
                <a:latin typeface="Calibri" pitchFamily="34" charset="0"/>
                <a:ea typeface="Calibri" pitchFamily="34" charset="-122"/>
                <a:cs typeface="Calibri" pitchFamily="34" charset="-120"/>
              </a:rPr>
              <a:t>Declined queries are recorded, so the document set improves from evidence.</a:t>
            </a:r>
            <a:endParaRPr lang="en-US" sz="1150" dirty="0"/>
          </a:p>
        </p:txBody>
      </p:sp>
      <p:sp>
        <p:nvSpPr>
          <p:cNvPr id="22" name="Shape 20"/>
          <p:cNvSpPr/>
          <p:nvPr/>
        </p:nvSpPr>
        <p:spPr>
          <a:xfrm>
            <a:off x="6190488" y="4992624"/>
            <a:ext cx="155448" cy="155448"/>
          </a:xfrm>
          <a:prstGeom prst="ellipse">
            <a:avLst/>
          </a:prstGeom>
          <a:solidFill>
            <a:srgbClr val="C8791B"/>
          </a:solidFill>
          <a:ln/>
        </p:spPr>
      </p:sp>
      <p:sp>
        <p:nvSpPr>
          <p:cNvPr id="23" name="Text 21"/>
          <p:cNvSpPr/>
          <p:nvPr/>
        </p:nvSpPr>
        <p:spPr>
          <a:xfrm>
            <a:off x="6483096" y="4937760"/>
            <a:ext cx="4846320" cy="256032"/>
          </a:xfrm>
          <a:prstGeom prst="rect">
            <a:avLst/>
          </a:prstGeom>
          <a:noFill/>
          <a:ln/>
        </p:spPr>
        <p:txBody>
          <a:bodyPr wrap="square" lIns="0" tIns="0" rIns="0" bIns="0" rtlCol="0" anchor="ctr"/>
          <a:lstStyle/>
          <a:p>
            <a:pPr indent="0" marL="0">
              <a:buNone/>
            </a:pPr>
            <a:r>
              <a:rPr lang="en-US" sz="1350" b="1" dirty="0">
                <a:solidFill>
                  <a:srgbClr val="141A24"/>
                </a:solidFill>
                <a:latin typeface="Calibri" pitchFamily="34" charset="0"/>
                <a:ea typeface="Calibri" pitchFamily="34" charset="-122"/>
                <a:cs typeface="Calibri" pitchFamily="34" charset="-120"/>
              </a:rPr>
              <a:t>Field safety</a:t>
            </a:r>
            <a:endParaRPr lang="en-US" sz="1350" dirty="0"/>
          </a:p>
        </p:txBody>
      </p:sp>
      <p:sp>
        <p:nvSpPr>
          <p:cNvPr id="24" name="Text 22"/>
          <p:cNvSpPr/>
          <p:nvPr/>
        </p:nvSpPr>
        <p:spPr>
          <a:xfrm>
            <a:off x="6483096" y="5212080"/>
            <a:ext cx="4846320" cy="548640"/>
          </a:xfrm>
          <a:prstGeom prst="rect">
            <a:avLst/>
          </a:prstGeom>
          <a:noFill/>
          <a:ln/>
        </p:spPr>
        <p:txBody>
          <a:bodyPr wrap="square" lIns="0" tIns="0" rIns="0" bIns="0" rtlCol="0" anchor="ctr"/>
          <a:lstStyle/>
          <a:p>
            <a:pPr indent="0" marL="0">
              <a:lnSpc>
                <a:spcPts val="1500"/>
              </a:lnSpc>
              <a:buNone/>
            </a:pPr>
            <a:r>
              <a:rPr lang="en-US" sz="1150" dirty="0">
                <a:solidFill>
                  <a:srgbClr val="737F91"/>
                </a:solidFill>
                <a:latin typeface="Calibri" pitchFamily="34" charset="0"/>
                <a:ea typeface="Calibri" pitchFamily="34" charset="-122"/>
                <a:cs typeface="Calibri" pitchFamily="34" charset="-120"/>
              </a:rPr>
              <a:t>The right procedure, on a tablet, without a laptop or a phone call.</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737F91"/>
                </a:solidFill>
                <a:latin typeface="Calibri" pitchFamily="34" charset="0"/>
                <a:ea typeface="Calibri" pitchFamily="34" charset="-122"/>
                <a:cs typeface="Calibri" pitchFamily="34" charset="-120"/>
              </a:rPr>
              <a:t>VALUE &amp; IMPACT · APP 2</a:t>
            </a:r>
            <a:endParaRPr lang="en-US" sz="1100" dirty="0"/>
          </a:p>
        </p:txBody>
      </p:sp>
      <p:sp>
        <p:nvSpPr>
          <p:cNvPr id="3" name="Text 1"/>
          <p:cNvSpPr/>
          <p:nvPr/>
        </p:nvSpPr>
        <p:spPr>
          <a:xfrm>
            <a:off x="658368" y="621792"/>
            <a:ext cx="10874959" cy="640080"/>
          </a:xfrm>
          <a:prstGeom prst="rect">
            <a:avLst/>
          </a:prstGeom>
          <a:noFill/>
          <a:ln/>
        </p:spPr>
        <p:txBody>
          <a:bodyPr wrap="square" lIns="0" tIns="0" rIns="0" bIns="0" rtlCol="0" anchor="t"/>
          <a:lstStyle/>
          <a:p>
            <a:pPr indent="0" marL="0">
              <a:buNone/>
            </a:pPr>
            <a:r>
              <a:rPr lang="en-US" sz="3200" b="1" dirty="0">
                <a:solidFill>
                  <a:srgbClr val="141A24"/>
                </a:solidFill>
                <a:latin typeface="Cambria" pitchFamily="34" charset="0"/>
                <a:ea typeface="Cambria" pitchFamily="34" charset="-122"/>
                <a:cs typeface="Cambria" pitchFamily="34" charset="-120"/>
              </a:rPr>
              <a:t>What Meridian is worth to a household</a:t>
            </a:r>
            <a:endParaRPr lang="en-US" sz="3200" dirty="0"/>
          </a:p>
        </p:txBody>
      </p:sp>
      <p:sp>
        <p:nvSpPr>
          <p:cNvPr id="4" name="Shape 2"/>
          <p:cNvSpPr/>
          <p:nvPr/>
        </p:nvSpPr>
        <p:spPr>
          <a:xfrm>
            <a:off x="9384487" y="384048"/>
            <a:ext cx="2148840" cy="329184"/>
          </a:xfrm>
          <a:prstGeom prst="roundRect">
            <a:avLst>
              <a:gd name="adj" fmla="val 50000"/>
            </a:avLst>
          </a:prstGeom>
          <a:solidFill>
            <a:srgbClr val="E3F0EA"/>
          </a:solidFill>
          <a:ln w="9525">
            <a:solidFill>
              <a:srgbClr val="1B6B52"/>
            </a:solidFill>
            <a:prstDash val="solid"/>
          </a:ln>
        </p:spPr>
      </p:sp>
      <p:sp>
        <p:nvSpPr>
          <p:cNvPr id="5" name="Text 3"/>
          <p:cNvSpPr/>
          <p:nvPr/>
        </p:nvSpPr>
        <p:spPr>
          <a:xfrm>
            <a:off x="9384487" y="384048"/>
            <a:ext cx="2148840" cy="329184"/>
          </a:xfrm>
          <a:prstGeom prst="rect">
            <a:avLst/>
          </a:prstGeom>
          <a:noFill/>
          <a:ln/>
        </p:spPr>
        <p:txBody>
          <a:bodyPr wrap="square" lIns="0" tIns="0" rIns="0" bIns="0" rtlCol="0" anchor="ctr"/>
          <a:lstStyle/>
          <a:p>
            <a:pPr algn="ctr" indent="0" marL="0">
              <a:buNone/>
            </a:pPr>
            <a:r>
              <a:rPr lang="en-US" sz="1000" b="1" spc="60" kern="0" dirty="0">
                <a:solidFill>
                  <a:srgbClr val="1B6B52"/>
                </a:solidFill>
                <a:latin typeface="Calibri" pitchFamily="34" charset="0"/>
                <a:ea typeface="Calibri" pitchFamily="34" charset="-122"/>
                <a:cs typeface="Calibri" pitchFamily="34" charset="-120"/>
              </a:rPr>
              <a:t>APP 2  ·  MERIDIAN</a:t>
            </a:r>
            <a:endParaRPr lang="en-US" sz="1000" dirty="0"/>
          </a:p>
        </p:txBody>
      </p:sp>
      <p:sp>
        <p:nvSpPr>
          <p:cNvPr id="6" name="Shape 4"/>
          <p:cNvSpPr/>
          <p:nvPr/>
        </p:nvSpPr>
        <p:spPr>
          <a:xfrm>
            <a:off x="658368" y="1463040"/>
            <a:ext cx="3566160" cy="1508760"/>
          </a:xfrm>
          <a:prstGeom prst="roundRect">
            <a:avLst>
              <a:gd name="adj" fmla="val 5455"/>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7" name="Text 5"/>
          <p:cNvSpPr/>
          <p:nvPr/>
        </p:nvSpPr>
        <p:spPr>
          <a:xfrm>
            <a:off x="978408" y="1591056"/>
            <a:ext cx="2926080" cy="621792"/>
          </a:xfrm>
          <a:prstGeom prst="rect">
            <a:avLst/>
          </a:prstGeom>
          <a:noFill/>
          <a:ln/>
        </p:spPr>
        <p:txBody>
          <a:bodyPr wrap="square" lIns="0" tIns="0" rIns="0" bIns="0" rtlCol="0" anchor="ctr"/>
          <a:lstStyle/>
          <a:p>
            <a:pPr indent="0" marL="0">
              <a:buNone/>
            </a:pPr>
            <a:r>
              <a:rPr lang="en-US" sz="3400" b="1" dirty="0">
                <a:solidFill>
                  <a:srgbClr val="1B6B52"/>
                </a:solidFill>
                <a:latin typeface="Cambria" pitchFamily="34" charset="0"/>
                <a:ea typeface="Cambria" pitchFamily="34" charset="-122"/>
                <a:cs typeface="Cambria" pitchFamily="34" charset="-120"/>
              </a:rPr>
              <a:t>13</a:t>
            </a:r>
            <a:endParaRPr lang="en-US" sz="3400" dirty="0"/>
          </a:p>
        </p:txBody>
      </p:sp>
      <p:sp>
        <p:nvSpPr>
          <p:cNvPr id="8" name="Text 6"/>
          <p:cNvSpPr/>
          <p:nvPr/>
        </p:nvSpPr>
        <p:spPr>
          <a:xfrm>
            <a:off x="978408" y="2176272"/>
            <a:ext cx="292608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anomalies planted</a:t>
            </a:r>
            <a:endParaRPr lang="en-US" sz="1300" dirty="0"/>
          </a:p>
        </p:txBody>
      </p:sp>
      <p:sp>
        <p:nvSpPr>
          <p:cNvPr id="9" name="Text 7"/>
          <p:cNvSpPr/>
          <p:nvPr/>
        </p:nvSpPr>
        <p:spPr>
          <a:xfrm>
            <a:off x="978408" y="2450592"/>
            <a:ext cx="2926080" cy="41148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and every one detected by the app itself</a:t>
            </a:r>
            <a:endParaRPr lang="en-US" sz="1100" dirty="0"/>
          </a:p>
        </p:txBody>
      </p:sp>
      <p:sp>
        <p:nvSpPr>
          <p:cNvPr id="10" name="Shape 8"/>
          <p:cNvSpPr/>
          <p:nvPr/>
        </p:nvSpPr>
        <p:spPr>
          <a:xfrm>
            <a:off x="4453128" y="1463040"/>
            <a:ext cx="3566160" cy="1508760"/>
          </a:xfrm>
          <a:prstGeom prst="roundRect">
            <a:avLst>
              <a:gd name="adj" fmla="val 5455"/>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1" name="Text 9"/>
          <p:cNvSpPr/>
          <p:nvPr/>
        </p:nvSpPr>
        <p:spPr>
          <a:xfrm>
            <a:off x="4773168" y="1591056"/>
            <a:ext cx="2926080" cy="621792"/>
          </a:xfrm>
          <a:prstGeom prst="rect">
            <a:avLst/>
          </a:prstGeom>
          <a:noFill/>
          <a:ln/>
        </p:spPr>
        <p:txBody>
          <a:bodyPr wrap="square" lIns="0" tIns="0" rIns="0" bIns="0" rtlCol="0" anchor="ctr"/>
          <a:lstStyle/>
          <a:p>
            <a:pPr indent="0" marL="0">
              <a:buNone/>
            </a:pPr>
            <a:r>
              <a:rPr lang="en-US" sz="3400" b="1" dirty="0">
                <a:solidFill>
                  <a:srgbClr val="1B6B52"/>
                </a:solidFill>
                <a:latin typeface="Cambria" pitchFamily="34" charset="0"/>
                <a:ea typeface="Cambria" pitchFamily="34" charset="-122"/>
                <a:cs typeface="Cambria" pitchFamily="34" charset="-120"/>
              </a:rPr>
              <a:t>3</a:t>
            </a:r>
            <a:endParaRPr lang="en-US" sz="3400" dirty="0"/>
          </a:p>
        </p:txBody>
      </p:sp>
      <p:sp>
        <p:nvSpPr>
          <p:cNvPr id="12" name="Text 10"/>
          <p:cNvSpPr/>
          <p:nvPr/>
        </p:nvSpPr>
        <p:spPr>
          <a:xfrm>
            <a:off x="4773168" y="2176272"/>
            <a:ext cx="292608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actionable findings</a:t>
            </a:r>
            <a:endParaRPr lang="en-US" sz="1300" dirty="0"/>
          </a:p>
        </p:txBody>
      </p:sp>
      <p:sp>
        <p:nvSpPr>
          <p:cNvPr id="13" name="Text 11"/>
          <p:cNvSpPr/>
          <p:nvPr/>
        </p:nvSpPr>
        <p:spPr>
          <a:xfrm>
            <a:off x="4773168" y="2450592"/>
            <a:ext cx="2926080" cy="41148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across a full year, with zero false positives</a:t>
            </a:r>
            <a:endParaRPr lang="en-US" sz="1100" dirty="0"/>
          </a:p>
        </p:txBody>
      </p:sp>
      <p:sp>
        <p:nvSpPr>
          <p:cNvPr id="14" name="Shape 12"/>
          <p:cNvSpPr/>
          <p:nvPr/>
        </p:nvSpPr>
        <p:spPr>
          <a:xfrm>
            <a:off x="8247888" y="1463040"/>
            <a:ext cx="3566160" cy="1508760"/>
          </a:xfrm>
          <a:prstGeom prst="roundRect">
            <a:avLst>
              <a:gd name="adj" fmla="val 5455"/>
            </a:avLst>
          </a:prstGeom>
          <a:solidFill>
            <a:srgbClr val="E3F0EA"/>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5" name="Text 13"/>
          <p:cNvSpPr/>
          <p:nvPr/>
        </p:nvSpPr>
        <p:spPr>
          <a:xfrm>
            <a:off x="8567928" y="1591056"/>
            <a:ext cx="2926080" cy="621792"/>
          </a:xfrm>
          <a:prstGeom prst="rect">
            <a:avLst/>
          </a:prstGeom>
          <a:noFill/>
          <a:ln/>
        </p:spPr>
        <p:txBody>
          <a:bodyPr wrap="square" lIns="0" tIns="0" rIns="0" bIns="0" rtlCol="0" anchor="ctr"/>
          <a:lstStyle/>
          <a:p>
            <a:pPr indent="0" marL="0">
              <a:buNone/>
            </a:pPr>
            <a:r>
              <a:rPr lang="en-US" sz="3400" b="1" dirty="0">
                <a:solidFill>
                  <a:srgbClr val="1B6B52"/>
                </a:solidFill>
                <a:latin typeface="Cambria" pitchFamily="34" charset="0"/>
                <a:ea typeface="Cambria" pitchFamily="34" charset="-122"/>
                <a:cs typeface="Cambria" pitchFamily="34" charset="-120"/>
              </a:rPr>
              <a:t>79</a:t>
            </a:r>
            <a:endParaRPr lang="en-US" sz="3400" dirty="0"/>
          </a:p>
        </p:txBody>
      </p:sp>
      <p:sp>
        <p:nvSpPr>
          <p:cNvPr id="16" name="Text 14"/>
          <p:cNvSpPr/>
          <p:nvPr/>
        </p:nvSpPr>
        <p:spPr>
          <a:xfrm>
            <a:off x="8567928" y="2176272"/>
            <a:ext cx="2926080" cy="274320"/>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periods reconciled</a:t>
            </a:r>
            <a:endParaRPr lang="en-US" sz="1300" dirty="0"/>
          </a:p>
        </p:txBody>
      </p:sp>
      <p:sp>
        <p:nvSpPr>
          <p:cNvPr id="17" name="Text 15"/>
          <p:cNvSpPr/>
          <p:nvPr/>
        </p:nvSpPr>
        <p:spPr>
          <a:xfrm>
            <a:off x="8567928" y="2450592"/>
            <a:ext cx="2926080" cy="411480"/>
          </a:xfrm>
          <a:prstGeom prst="rect">
            <a:avLst/>
          </a:prstGeom>
          <a:noFill/>
          <a:ln/>
        </p:spPr>
        <p:txBody>
          <a:bodyPr wrap="square" lIns="0" tIns="0" rIns="0" bIns="0" rtlCol="0" anchor="ctr"/>
          <a:lstStyle/>
          <a:p>
            <a:pPr indent="0" marL="0">
              <a:lnSpc>
                <a:spcPts val="1400"/>
              </a:lnSpc>
              <a:buNone/>
            </a:pPr>
            <a:r>
              <a:rPr lang="en-US" sz="1100" dirty="0">
                <a:solidFill>
                  <a:srgbClr val="737F91"/>
                </a:solidFill>
                <a:latin typeface="Calibri" pitchFamily="34" charset="0"/>
                <a:ea typeface="Calibri" pitchFamily="34" charset="-122"/>
                <a:cs typeface="Calibri" pitchFamily="34" charset="-120"/>
              </a:rPr>
              <a:t>in under a minute, unattended</a:t>
            </a:r>
            <a:endParaRPr lang="en-US" sz="1100" dirty="0"/>
          </a:p>
        </p:txBody>
      </p:sp>
      <p:sp>
        <p:nvSpPr>
          <p:cNvPr id="18" name="Shape 16"/>
          <p:cNvSpPr/>
          <p:nvPr/>
        </p:nvSpPr>
        <p:spPr>
          <a:xfrm>
            <a:off x="658368" y="3200400"/>
            <a:ext cx="5394960" cy="2606040"/>
          </a:xfrm>
          <a:prstGeom prst="roundRect">
            <a:avLst>
              <a:gd name="adj" fmla="val 3158"/>
            </a:avLst>
          </a:prstGeom>
          <a:solidFill>
            <a:srgbClr val="F3F5F8"/>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19" name="Text 17"/>
          <p:cNvSpPr/>
          <p:nvPr/>
        </p:nvSpPr>
        <p:spPr>
          <a:xfrm>
            <a:off x="978408" y="3429000"/>
            <a:ext cx="475488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The value is the errors nobody would have found</a:t>
            </a:r>
            <a:endParaRPr lang="en-US" sz="1450" dirty="0"/>
          </a:p>
        </p:txBody>
      </p:sp>
      <p:sp>
        <p:nvSpPr>
          <p:cNvPr id="20" name="Text 18"/>
          <p:cNvSpPr/>
          <p:nvPr/>
        </p:nvSpPr>
        <p:spPr>
          <a:xfrm>
            <a:off x="978408" y="3749040"/>
            <a:ext cx="4754880" cy="1463040"/>
          </a:xfrm>
          <a:prstGeom prst="rect">
            <a:avLst/>
          </a:prstGeom>
          <a:noFill/>
          <a:ln/>
        </p:spPr>
        <p:txBody>
          <a:bodyPr wrap="square" lIns="0" tIns="0" rIns="0" bIns="0" rtlCol="0" anchor="t"/>
          <a:lstStyle/>
          <a:p>
            <a:pPr indent="0" marL="0">
              <a:lnSpc>
                <a:spcPts val="1700"/>
              </a:lnSpc>
              <a:buNone/>
            </a:pPr>
            <a:r>
              <a:rPr lang="en-US" sz="1250" dirty="0">
                <a:solidFill>
                  <a:srgbClr val="36404F"/>
                </a:solidFill>
                <a:latin typeface="Calibri" pitchFamily="34" charset="0"/>
                <a:ea typeface="Calibri" pitchFamily="34" charset="-122"/>
                <a:cs typeface="Calibri" pitchFamily="34" charset="-120"/>
              </a:rPr>
              <a:t>A duplicate restaurant charge two days apart. A cheque that cleared on paper and never reached the account feed, leaving a balance permanently overstated by $230. A hold that never released. Each is small. Each would have sat there for years, because checking by hand costs more than the error.</a:t>
            </a:r>
            <a:endParaRPr lang="en-US" sz="1250" dirty="0"/>
          </a:p>
        </p:txBody>
      </p:sp>
      <p:sp>
        <p:nvSpPr>
          <p:cNvPr id="21" name="Text 19"/>
          <p:cNvSpPr/>
          <p:nvPr/>
        </p:nvSpPr>
        <p:spPr>
          <a:xfrm>
            <a:off x="978408" y="5285232"/>
            <a:ext cx="4754880" cy="457200"/>
          </a:xfrm>
          <a:prstGeom prst="rect">
            <a:avLst/>
          </a:prstGeom>
          <a:noFill/>
          <a:ln/>
        </p:spPr>
        <p:txBody>
          <a:bodyPr wrap="square" lIns="0" tIns="0" rIns="0" bIns="0" rtlCol="0" anchor="ctr"/>
          <a:lstStyle/>
          <a:p>
            <a:pPr indent="0" marL="0">
              <a:buNone/>
            </a:pPr>
            <a:r>
              <a:rPr lang="en-US" sz="1150" i="1" dirty="0">
                <a:solidFill>
                  <a:srgbClr val="1B6B52"/>
                </a:solidFill>
                <a:latin typeface="Calibri" pitchFamily="34" charset="0"/>
                <a:ea typeface="Calibri" pitchFamily="34" charset="-122"/>
                <a:cs typeface="Calibri" pitchFamily="34" charset="-120"/>
              </a:rPr>
              <a:t>An hour of statement-checking a month is the realistic alternative, and almost nobody does it.</a:t>
            </a:r>
            <a:endParaRPr lang="en-US" sz="1150" dirty="0"/>
          </a:p>
        </p:txBody>
      </p:sp>
      <p:sp>
        <p:nvSpPr>
          <p:cNvPr id="22" name="Shape 20"/>
          <p:cNvSpPr/>
          <p:nvPr/>
        </p:nvSpPr>
        <p:spPr>
          <a:xfrm>
            <a:off x="6355080" y="3200400"/>
            <a:ext cx="5178247" cy="2606040"/>
          </a:xfrm>
          <a:prstGeom prst="roundRect">
            <a:avLst>
              <a:gd name="adj" fmla="val 3158"/>
            </a:avLst>
          </a:prstGeom>
          <a:solidFill>
            <a:srgbClr val="FFFFFF"/>
          </a:solidFill>
          <a:ln w="9525">
            <a:solidFill>
              <a:srgbClr val="DCE1E8"/>
            </a:solidFill>
            <a:prstDash val="solid"/>
          </a:ln>
          <a:effectLst>
            <a:outerShdw sx="100000" sy="100000" kx="0" ky="0" algn="bl" rotWithShape="0" blurRad="152400" dist="25400" dir="5400000">
              <a:srgbClr val="8C97A8">
                <a:alpha val="18000"/>
              </a:srgbClr>
            </a:outerShdw>
          </a:effectLst>
        </p:spPr>
      </p:sp>
      <p:sp>
        <p:nvSpPr>
          <p:cNvPr id="23" name="Text 21"/>
          <p:cNvSpPr/>
          <p:nvPr/>
        </p:nvSpPr>
        <p:spPr>
          <a:xfrm>
            <a:off x="6675120" y="3429000"/>
            <a:ext cx="4846320" cy="274320"/>
          </a:xfrm>
          <a:prstGeom prst="rect">
            <a:avLst/>
          </a:prstGeom>
          <a:noFill/>
          <a:ln/>
        </p:spPr>
        <p:txBody>
          <a:bodyPr wrap="square" lIns="0" tIns="0" rIns="0" bIns="0" rtlCol="0" anchor="ctr"/>
          <a:lstStyle/>
          <a:p>
            <a:pPr indent="0" marL="0">
              <a:buNone/>
            </a:pPr>
            <a:r>
              <a:rPr lang="en-US" sz="1450" b="1" dirty="0">
                <a:solidFill>
                  <a:srgbClr val="1B6B52"/>
                </a:solidFill>
                <a:latin typeface="Calibri" pitchFamily="34" charset="0"/>
                <a:ea typeface="Calibri" pitchFamily="34" charset="-122"/>
                <a:cs typeface="Calibri" pitchFamily="34" charset="-120"/>
              </a:rPr>
              <a:t>Where it goes commercially</a:t>
            </a:r>
            <a:endParaRPr lang="en-US" sz="1450" dirty="0"/>
          </a:p>
        </p:txBody>
      </p:sp>
      <p:sp>
        <p:nvSpPr>
          <p:cNvPr id="24" name="Shape 22"/>
          <p:cNvSpPr/>
          <p:nvPr/>
        </p:nvSpPr>
        <p:spPr>
          <a:xfrm>
            <a:off x="6675120" y="3803904"/>
            <a:ext cx="155448" cy="155448"/>
          </a:xfrm>
          <a:prstGeom prst="ellipse">
            <a:avLst/>
          </a:prstGeom>
          <a:solidFill>
            <a:srgbClr val="1B6B52"/>
          </a:solidFill>
          <a:ln/>
        </p:spPr>
      </p:sp>
      <p:sp>
        <p:nvSpPr>
          <p:cNvPr id="25" name="Text 23"/>
          <p:cNvSpPr/>
          <p:nvPr/>
        </p:nvSpPr>
        <p:spPr>
          <a:xfrm>
            <a:off x="6967728" y="3749040"/>
            <a:ext cx="4572000" cy="256032"/>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Bookkeepers and small firms</a:t>
            </a:r>
            <a:endParaRPr lang="en-US" sz="1300" dirty="0"/>
          </a:p>
        </p:txBody>
      </p:sp>
      <p:sp>
        <p:nvSpPr>
          <p:cNvPr id="26" name="Text 24"/>
          <p:cNvSpPr/>
          <p:nvPr/>
        </p:nvSpPr>
        <p:spPr>
          <a:xfrm>
            <a:off x="6967728" y="4005072"/>
            <a:ext cx="4572000" cy="45720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The same reconciliation, run against client accounts, is billable work today.</a:t>
            </a:r>
            <a:endParaRPr lang="en-US" sz="1150" dirty="0"/>
          </a:p>
        </p:txBody>
      </p:sp>
      <p:sp>
        <p:nvSpPr>
          <p:cNvPr id="27" name="Shape 25"/>
          <p:cNvSpPr/>
          <p:nvPr/>
        </p:nvSpPr>
        <p:spPr>
          <a:xfrm>
            <a:off x="6675120" y="4517136"/>
            <a:ext cx="155448" cy="155448"/>
          </a:xfrm>
          <a:prstGeom prst="ellipse">
            <a:avLst/>
          </a:prstGeom>
          <a:solidFill>
            <a:srgbClr val="1B6B52"/>
          </a:solidFill>
          <a:ln/>
        </p:spPr>
      </p:sp>
      <p:sp>
        <p:nvSpPr>
          <p:cNvPr id="28" name="Text 26"/>
          <p:cNvSpPr/>
          <p:nvPr/>
        </p:nvSpPr>
        <p:spPr>
          <a:xfrm>
            <a:off x="6967728" y="4462272"/>
            <a:ext cx="4572000" cy="256032"/>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Privacy as the product</a:t>
            </a:r>
            <a:endParaRPr lang="en-US" sz="1300" dirty="0"/>
          </a:p>
        </p:txBody>
      </p:sp>
      <p:sp>
        <p:nvSpPr>
          <p:cNvPr id="29" name="Text 27"/>
          <p:cNvSpPr/>
          <p:nvPr/>
        </p:nvSpPr>
        <p:spPr>
          <a:xfrm>
            <a:off x="6967728" y="4718304"/>
            <a:ext cx="4572000" cy="45720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A finance tool that provably never sends data off the machine has a market that cloud tools cannot serve.</a:t>
            </a:r>
            <a:endParaRPr lang="en-US" sz="1150" dirty="0"/>
          </a:p>
        </p:txBody>
      </p:sp>
      <p:sp>
        <p:nvSpPr>
          <p:cNvPr id="30" name="Shape 28"/>
          <p:cNvSpPr/>
          <p:nvPr/>
        </p:nvSpPr>
        <p:spPr>
          <a:xfrm>
            <a:off x="6675120" y="5230368"/>
            <a:ext cx="155448" cy="155448"/>
          </a:xfrm>
          <a:prstGeom prst="ellipse">
            <a:avLst/>
          </a:prstGeom>
          <a:solidFill>
            <a:srgbClr val="1B6B52"/>
          </a:solidFill>
          <a:ln/>
        </p:spPr>
      </p:sp>
      <p:sp>
        <p:nvSpPr>
          <p:cNvPr id="31" name="Text 29"/>
          <p:cNvSpPr/>
          <p:nvPr/>
        </p:nvSpPr>
        <p:spPr>
          <a:xfrm>
            <a:off x="6967728" y="5175504"/>
            <a:ext cx="4572000" cy="256032"/>
          </a:xfrm>
          <a:prstGeom prst="rect">
            <a:avLst/>
          </a:prstGeom>
          <a:noFill/>
          <a:ln/>
        </p:spPr>
        <p:txBody>
          <a:bodyPr wrap="square" lIns="0" tIns="0" rIns="0" bIns="0" rtlCol="0" anchor="ctr"/>
          <a:lstStyle/>
          <a:p>
            <a:pPr indent="0" marL="0">
              <a:buNone/>
            </a:pPr>
            <a:r>
              <a:rPr lang="en-US" sz="1300" b="1" dirty="0">
                <a:solidFill>
                  <a:srgbClr val="141A24"/>
                </a:solidFill>
                <a:latin typeface="Calibri" pitchFamily="34" charset="0"/>
                <a:ea typeface="Calibri" pitchFamily="34" charset="-122"/>
                <a:cs typeface="Calibri" pitchFamily="34" charset="-120"/>
              </a:rPr>
              <a:t>Cost to run</a:t>
            </a:r>
            <a:endParaRPr lang="en-US" sz="1300" dirty="0"/>
          </a:p>
        </p:txBody>
      </p:sp>
      <p:sp>
        <p:nvSpPr>
          <p:cNvPr id="32" name="Text 30"/>
          <p:cNvSpPr/>
          <p:nvPr/>
        </p:nvSpPr>
        <p:spPr>
          <a:xfrm>
            <a:off x="6967728" y="5431536"/>
            <a:ext cx="4572000" cy="457200"/>
          </a:xfrm>
          <a:prstGeom prst="rect">
            <a:avLst/>
          </a:prstGeom>
          <a:noFill/>
          <a:ln/>
        </p:spPr>
        <p:txBody>
          <a:bodyPr wrap="square" lIns="0" tIns="0" rIns="0" bIns="0" rtlCol="0" anchor="ctr"/>
          <a:lstStyle/>
          <a:p>
            <a:pPr indent="0" marL="0">
              <a:lnSpc>
                <a:spcPts val="1450"/>
              </a:lnSpc>
              <a:buNone/>
            </a:pPr>
            <a:r>
              <a:rPr lang="en-US" sz="1150" dirty="0">
                <a:solidFill>
                  <a:srgbClr val="737F91"/>
                </a:solidFill>
                <a:latin typeface="Calibri" pitchFamily="34" charset="0"/>
                <a:ea typeface="Calibri" pitchFamily="34" charset="-122"/>
                <a:cs typeface="Calibri" pitchFamily="34" charset="-120"/>
              </a:rPr>
              <a:t>Zero while idle on scale-to-zero hosting; a hosted database is roughly nine dollars a month.</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658368" y="384048"/>
            <a:ext cx="7315200" cy="237744"/>
          </a:xfrm>
          <a:prstGeom prst="rect">
            <a:avLst/>
          </a:prstGeom>
          <a:noFill/>
          <a:ln/>
        </p:spPr>
        <p:txBody>
          <a:bodyPr wrap="square" lIns="0" tIns="0" rIns="0" bIns="0" rtlCol="0" anchor="ctr"/>
          <a:lstStyle/>
          <a:p>
            <a:pPr indent="0" marL="0">
              <a:buNone/>
            </a:pPr>
            <a:r>
              <a:rPr lang="en-US" sz="1100" b="1" spc="160" kern="0" dirty="0">
                <a:solidFill>
                  <a:srgbClr val="9AA6B8"/>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658368" y="621792"/>
            <a:ext cx="10874959"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Two applications, live, and what comes next</a:t>
            </a:r>
            <a:endParaRPr lang="en-US" sz="3200" dirty="0"/>
          </a:p>
        </p:txBody>
      </p:sp>
      <p:sp>
        <p:nvSpPr>
          <p:cNvPr id="4" name="Shape 2"/>
          <p:cNvSpPr/>
          <p:nvPr/>
        </p:nvSpPr>
        <p:spPr>
          <a:xfrm>
            <a:off x="658368" y="1508760"/>
            <a:ext cx="5349240" cy="2743200"/>
          </a:xfrm>
          <a:prstGeom prst="roundRect">
            <a:avLst>
              <a:gd name="adj" fmla="val 3333"/>
            </a:avLst>
          </a:prstGeom>
          <a:solidFill>
            <a:srgbClr val="1F2836"/>
          </a:solidFill>
          <a:ln w="12700">
            <a:solidFill>
              <a:srgbClr val="C8791B"/>
            </a:solidFill>
            <a:prstDash val="solid"/>
          </a:ln>
        </p:spPr>
      </p:sp>
      <p:sp>
        <p:nvSpPr>
          <p:cNvPr id="5" name="Text 3"/>
          <p:cNvSpPr/>
          <p:nvPr/>
        </p:nvSpPr>
        <p:spPr>
          <a:xfrm>
            <a:off x="1005840" y="1737360"/>
            <a:ext cx="4663440" cy="365760"/>
          </a:xfrm>
          <a:prstGeom prst="rect">
            <a:avLst/>
          </a:prstGeom>
          <a:noFill/>
          <a:ln/>
        </p:spPr>
        <p:txBody>
          <a:bodyPr wrap="square" lIns="0" tIns="0" rIns="0" bIns="0" rtlCol="0" anchor="ctr"/>
          <a:lstStyle/>
          <a:p>
            <a:pPr indent="0" marL="0">
              <a:buNone/>
            </a:pPr>
            <a:r>
              <a:rPr lang="en-US" sz="1900" b="1" dirty="0">
                <a:solidFill>
                  <a:srgbClr val="C8791B"/>
                </a:solidFill>
                <a:latin typeface="Cambria" pitchFamily="34" charset="0"/>
                <a:ea typeface="Cambria" pitchFamily="34" charset="-122"/>
                <a:cs typeface="Cambria" pitchFamily="34" charset="-120"/>
              </a:rPr>
              <a:t>GridPilot AI</a:t>
            </a:r>
            <a:endParaRPr lang="en-US" sz="1900" dirty="0"/>
          </a:p>
        </p:txBody>
      </p:sp>
      <p:sp>
        <p:nvSpPr>
          <p:cNvPr id="6" name="Text 4"/>
          <p:cNvSpPr/>
          <p:nvPr/>
        </p:nvSpPr>
        <p:spPr>
          <a:xfrm>
            <a:off x="1005840" y="2121408"/>
            <a:ext cx="4663440" cy="237744"/>
          </a:xfrm>
          <a:prstGeom prst="rect">
            <a:avLst/>
          </a:prstGeom>
          <a:noFill/>
          <a:ln/>
        </p:spPr>
        <p:txBody>
          <a:bodyPr wrap="square" lIns="0" tIns="0" rIns="0" bIns="0" rtlCol="0" anchor="ctr"/>
          <a:lstStyle/>
          <a:p>
            <a:pPr indent="0" marL="0">
              <a:buNone/>
            </a:pPr>
            <a:r>
              <a:rPr lang="en-US" sz="1050" b="1" spc="100" kern="0" dirty="0">
                <a:solidFill>
                  <a:srgbClr val="9AA6B8"/>
                </a:solidFill>
                <a:latin typeface="Calibri" pitchFamily="34" charset="0"/>
                <a:ea typeface="Calibri" pitchFamily="34" charset="-122"/>
                <a:cs typeface="Calibri" pitchFamily="34" charset="-120"/>
              </a:rPr>
              <a:t>Roadmap</a:t>
            </a:r>
            <a:endParaRPr lang="en-US" sz="1050" dirty="0"/>
          </a:p>
        </p:txBody>
      </p:sp>
      <p:sp>
        <p:nvSpPr>
          <p:cNvPr id="7" name="Shape 5"/>
          <p:cNvSpPr/>
          <p:nvPr/>
        </p:nvSpPr>
        <p:spPr>
          <a:xfrm>
            <a:off x="1005840" y="2450592"/>
            <a:ext cx="256032" cy="256032"/>
          </a:xfrm>
          <a:prstGeom prst="ellipse">
            <a:avLst/>
          </a:prstGeom>
          <a:solidFill>
            <a:srgbClr val="C8791B"/>
          </a:solidFill>
          <a:ln w="12700">
            <a:solidFill>
              <a:srgbClr val="C8791B"/>
            </a:solidFill>
            <a:prstDash val="solid"/>
          </a:ln>
        </p:spPr>
      </p:sp>
      <p:sp>
        <p:nvSpPr>
          <p:cNvPr id="8" name="Text 6"/>
          <p:cNvSpPr/>
          <p:nvPr/>
        </p:nvSpPr>
        <p:spPr>
          <a:xfrm>
            <a:off x="1005840" y="245059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389888" y="2414016"/>
            <a:ext cx="4297680" cy="502920"/>
          </a:xfrm>
          <a:prstGeom prst="rect">
            <a:avLst/>
          </a:prstGeom>
          <a:noFill/>
          <a:ln/>
        </p:spPr>
        <p:txBody>
          <a:bodyPr wrap="square" lIns="0" tIns="0" rIns="0" bIns="0" rtlCol="0" anchor="ctr"/>
          <a:lstStyle/>
          <a:p>
            <a:pPr indent="0" marL="0">
              <a:lnSpc>
                <a:spcPts val="1500"/>
              </a:lnSpc>
              <a:buNone/>
            </a:pPr>
            <a:r>
              <a:rPr lang="en-US" sz="1150" dirty="0">
                <a:solidFill>
                  <a:srgbClr val="C6CFDC"/>
                </a:solidFill>
                <a:latin typeface="Calibri" pitchFamily="34" charset="0"/>
                <a:ea typeface="Calibri" pitchFamily="34" charset="-122"/>
                <a:cs typeface="Calibri" pitchFamily="34" charset="-120"/>
              </a:rPr>
              <a:t>Real retrieval: managed vector store, embeddings, hybrid search</a:t>
            </a:r>
            <a:endParaRPr lang="en-US" sz="1150" dirty="0"/>
          </a:p>
        </p:txBody>
      </p:sp>
      <p:sp>
        <p:nvSpPr>
          <p:cNvPr id="10" name="Shape 8"/>
          <p:cNvSpPr/>
          <p:nvPr/>
        </p:nvSpPr>
        <p:spPr>
          <a:xfrm>
            <a:off x="1005840" y="3017520"/>
            <a:ext cx="256032" cy="256032"/>
          </a:xfrm>
          <a:prstGeom prst="ellipse">
            <a:avLst/>
          </a:prstGeom>
          <a:solidFill>
            <a:srgbClr val="C8791B"/>
          </a:solidFill>
          <a:ln w="12700">
            <a:solidFill>
              <a:srgbClr val="C8791B"/>
            </a:solidFill>
            <a:prstDash val="solid"/>
          </a:ln>
        </p:spPr>
      </p:sp>
      <p:sp>
        <p:nvSpPr>
          <p:cNvPr id="11" name="Text 9"/>
          <p:cNvSpPr/>
          <p:nvPr/>
        </p:nvSpPr>
        <p:spPr>
          <a:xfrm>
            <a:off x="1005840" y="30175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89888" y="2980944"/>
            <a:ext cx="4297680" cy="502920"/>
          </a:xfrm>
          <a:prstGeom prst="rect">
            <a:avLst/>
          </a:prstGeom>
          <a:noFill/>
          <a:ln/>
        </p:spPr>
        <p:txBody>
          <a:bodyPr wrap="square" lIns="0" tIns="0" rIns="0" bIns="0" rtlCol="0" anchor="ctr"/>
          <a:lstStyle/>
          <a:p>
            <a:pPr indent="0" marL="0">
              <a:lnSpc>
                <a:spcPts val="1500"/>
              </a:lnSpc>
              <a:buNone/>
            </a:pPr>
            <a:r>
              <a:rPr lang="en-US" sz="1150" dirty="0">
                <a:solidFill>
                  <a:srgbClr val="C6CFDC"/>
                </a:solidFill>
                <a:latin typeface="Calibri" pitchFamily="34" charset="0"/>
                <a:ea typeface="Calibri" pitchFamily="34" charset="-122"/>
                <a:cs typeface="Calibri" pitchFamily="34" charset="-120"/>
              </a:rPr>
              <a:t>A hosted model for synthesis, with a guardrail against uncited claims</a:t>
            </a:r>
            <a:endParaRPr lang="en-US" sz="1150" dirty="0"/>
          </a:p>
        </p:txBody>
      </p:sp>
      <p:sp>
        <p:nvSpPr>
          <p:cNvPr id="13" name="Shape 11"/>
          <p:cNvSpPr/>
          <p:nvPr/>
        </p:nvSpPr>
        <p:spPr>
          <a:xfrm>
            <a:off x="1005840" y="3584448"/>
            <a:ext cx="256032" cy="256032"/>
          </a:xfrm>
          <a:prstGeom prst="ellipse">
            <a:avLst/>
          </a:prstGeom>
          <a:solidFill>
            <a:srgbClr val="C8791B"/>
          </a:solidFill>
          <a:ln w="12700">
            <a:solidFill>
              <a:srgbClr val="C8791B"/>
            </a:solidFill>
            <a:prstDash val="solid"/>
          </a:ln>
        </p:spPr>
      </p:sp>
      <p:sp>
        <p:nvSpPr>
          <p:cNvPr id="14" name="Text 12"/>
          <p:cNvSpPr/>
          <p:nvPr/>
        </p:nvSpPr>
        <p:spPr>
          <a:xfrm>
            <a:off x="1005840" y="358444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389888" y="3547872"/>
            <a:ext cx="4297680" cy="502920"/>
          </a:xfrm>
          <a:prstGeom prst="rect">
            <a:avLst/>
          </a:prstGeom>
          <a:noFill/>
          <a:ln/>
        </p:spPr>
        <p:txBody>
          <a:bodyPr wrap="square" lIns="0" tIns="0" rIns="0" bIns="0" rtlCol="0" anchor="ctr"/>
          <a:lstStyle/>
          <a:p>
            <a:pPr indent="0" marL="0">
              <a:lnSpc>
                <a:spcPts val="1500"/>
              </a:lnSpc>
              <a:buNone/>
            </a:pPr>
            <a:r>
              <a:rPr lang="en-US" sz="1150" dirty="0">
                <a:solidFill>
                  <a:srgbClr val="C6CFDC"/>
                </a:solidFill>
                <a:latin typeface="Calibri" pitchFamily="34" charset="0"/>
                <a:ea typeface="Calibri" pitchFamily="34" charset="-122"/>
                <a:cs typeface="Calibri" pitchFamily="34" charset="-120"/>
              </a:rPr>
              <a:t>Okta SSO with role mapping, CIP-appropriate hosting and audit logging</a:t>
            </a:r>
            <a:endParaRPr lang="en-US" sz="1150" dirty="0"/>
          </a:p>
        </p:txBody>
      </p:sp>
      <p:sp>
        <p:nvSpPr>
          <p:cNvPr id="16" name="Shape 14"/>
          <p:cNvSpPr/>
          <p:nvPr/>
        </p:nvSpPr>
        <p:spPr>
          <a:xfrm>
            <a:off x="6327648" y="1508760"/>
            <a:ext cx="5349240" cy="2743200"/>
          </a:xfrm>
          <a:prstGeom prst="roundRect">
            <a:avLst>
              <a:gd name="adj" fmla="val 3333"/>
            </a:avLst>
          </a:prstGeom>
          <a:solidFill>
            <a:srgbClr val="1F2836"/>
          </a:solidFill>
          <a:ln w="12700">
            <a:solidFill>
              <a:srgbClr val="1B6B52"/>
            </a:solidFill>
            <a:prstDash val="solid"/>
          </a:ln>
        </p:spPr>
      </p:sp>
      <p:sp>
        <p:nvSpPr>
          <p:cNvPr id="17" name="Text 15"/>
          <p:cNvSpPr/>
          <p:nvPr/>
        </p:nvSpPr>
        <p:spPr>
          <a:xfrm>
            <a:off x="6675120" y="1737360"/>
            <a:ext cx="4663440" cy="365760"/>
          </a:xfrm>
          <a:prstGeom prst="rect">
            <a:avLst/>
          </a:prstGeom>
          <a:noFill/>
          <a:ln/>
        </p:spPr>
        <p:txBody>
          <a:bodyPr wrap="square" lIns="0" tIns="0" rIns="0" bIns="0" rtlCol="0" anchor="ctr"/>
          <a:lstStyle/>
          <a:p>
            <a:pPr indent="0" marL="0">
              <a:buNone/>
            </a:pPr>
            <a:r>
              <a:rPr lang="en-US" sz="1900" b="1" dirty="0">
                <a:solidFill>
                  <a:srgbClr val="1B6B52"/>
                </a:solidFill>
                <a:latin typeface="Cambria" pitchFamily="34" charset="0"/>
                <a:ea typeface="Cambria" pitchFamily="34" charset="-122"/>
                <a:cs typeface="Cambria" pitchFamily="34" charset="-120"/>
              </a:rPr>
              <a:t>Meridian Financial</a:t>
            </a:r>
            <a:endParaRPr lang="en-US" sz="1900" dirty="0"/>
          </a:p>
        </p:txBody>
      </p:sp>
      <p:sp>
        <p:nvSpPr>
          <p:cNvPr id="18" name="Text 16"/>
          <p:cNvSpPr/>
          <p:nvPr/>
        </p:nvSpPr>
        <p:spPr>
          <a:xfrm>
            <a:off x="6675120" y="2121408"/>
            <a:ext cx="4663440" cy="237744"/>
          </a:xfrm>
          <a:prstGeom prst="rect">
            <a:avLst/>
          </a:prstGeom>
          <a:noFill/>
          <a:ln/>
        </p:spPr>
        <p:txBody>
          <a:bodyPr wrap="square" lIns="0" tIns="0" rIns="0" bIns="0" rtlCol="0" anchor="ctr"/>
          <a:lstStyle/>
          <a:p>
            <a:pPr indent="0" marL="0">
              <a:buNone/>
            </a:pPr>
            <a:r>
              <a:rPr lang="en-US" sz="1050" b="1" spc="100" kern="0" dirty="0">
                <a:solidFill>
                  <a:srgbClr val="9AA6B8"/>
                </a:solidFill>
                <a:latin typeface="Calibri" pitchFamily="34" charset="0"/>
                <a:ea typeface="Calibri" pitchFamily="34" charset="-122"/>
                <a:cs typeface="Calibri" pitchFamily="34" charset="-120"/>
              </a:rPr>
              <a:t>Roadmap</a:t>
            </a:r>
            <a:endParaRPr lang="en-US" sz="1050" dirty="0"/>
          </a:p>
        </p:txBody>
      </p:sp>
      <p:sp>
        <p:nvSpPr>
          <p:cNvPr id="19" name="Shape 17"/>
          <p:cNvSpPr/>
          <p:nvPr/>
        </p:nvSpPr>
        <p:spPr>
          <a:xfrm>
            <a:off x="6675120" y="2450592"/>
            <a:ext cx="256032" cy="256032"/>
          </a:xfrm>
          <a:prstGeom prst="ellipse">
            <a:avLst/>
          </a:prstGeom>
          <a:solidFill>
            <a:srgbClr val="1B6B52"/>
          </a:solidFill>
          <a:ln w="12700">
            <a:solidFill>
              <a:srgbClr val="1B6B52"/>
            </a:solidFill>
            <a:prstDash val="solid"/>
          </a:ln>
        </p:spPr>
      </p:sp>
      <p:sp>
        <p:nvSpPr>
          <p:cNvPr id="20" name="Text 18"/>
          <p:cNvSpPr/>
          <p:nvPr/>
        </p:nvSpPr>
        <p:spPr>
          <a:xfrm>
            <a:off x="6675120" y="245059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p:nvPr/>
        </p:nvSpPr>
        <p:spPr>
          <a:xfrm>
            <a:off x="7059168" y="2414016"/>
            <a:ext cx="4297680" cy="502920"/>
          </a:xfrm>
          <a:prstGeom prst="rect">
            <a:avLst/>
          </a:prstGeom>
          <a:noFill/>
          <a:ln/>
        </p:spPr>
        <p:txBody>
          <a:bodyPr wrap="square" lIns="0" tIns="0" rIns="0" bIns="0" rtlCol="0" anchor="ctr"/>
          <a:lstStyle/>
          <a:p>
            <a:pPr indent="0" marL="0">
              <a:lnSpc>
                <a:spcPts val="1500"/>
              </a:lnSpc>
              <a:buNone/>
            </a:pPr>
            <a:r>
              <a:rPr lang="en-US" sz="1150" dirty="0">
                <a:solidFill>
                  <a:srgbClr val="C6CFDC"/>
                </a:solidFill>
                <a:latin typeface="Calibri" pitchFamily="34" charset="0"/>
                <a:ea typeface="Calibri" pitchFamily="34" charset="-122"/>
                <a:cs typeface="Calibri" pitchFamily="34" charset="-120"/>
              </a:rPr>
              <a:t>A hosted database, so the live URL keeps what people put into it</a:t>
            </a:r>
            <a:endParaRPr lang="en-US" sz="1150" dirty="0"/>
          </a:p>
        </p:txBody>
      </p:sp>
      <p:sp>
        <p:nvSpPr>
          <p:cNvPr id="22" name="Shape 20"/>
          <p:cNvSpPr/>
          <p:nvPr/>
        </p:nvSpPr>
        <p:spPr>
          <a:xfrm>
            <a:off x="6675120" y="3017520"/>
            <a:ext cx="256032" cy="256032"/>
          </a:xfrm>
          <a:prstGeom prst="ellipse">
            <a:avLst/>
          </a:prstGeom>
          <a:solidFill>
            <a:srgbClr val="1B6B52"/>
          </a:solidFill>
          <a:ln w="12700">
            <a:solidFill>
              <a:srgbClr val="1B6B52"/>
            </a:solidFill>
            <a:prstDash val="solid"/>
          </a:ln>
        </p:spPr>
      </p:sp>
      <p:sp>
        <p:nvSpPr>
          <p:cNvPr id="23" name="Text 21"/>
          <p:cNvSpPr/>
          <p:nvPr/>
        </p:nvSpPr>
        <p:spPr>
          <a:xfrm>
            <a:off x="6675120" y="30175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7059168" y="2980944"/>
            <a:ext cx="4297680" cy="502920"/>
          </a:xfrm>
          <a:prstGeom prst="rect">
            <a:avLst/>
          </a:prstGeom>
          <a:noFill/>
          <a:ln/>
        </p:spPr>
        <p:txBody>
          <a:bodyPr wrap="square" lIns="0" tIns="0" rIns="0" bIns="0" rtlCol="0" anchor="ctr"/>
          <a:lstStyle/>
          <a:p>
            <a:pPr indent="0" marL="0">
              <a:lnSpc>
                <a:spcPts val="1500"/>
              </a:lnSpc>
              <a:buNone/>
            </a:pPr>
            <a:r>
              <a:rPr lang="en-US" sz="1150" dirty="0">
                <a:solidFill>
                  <a:srgbClr val="C6CFDC"/>
                </a:solidFill>
                <a:latin typeface="Calibri" pitchFamily="34" charset="0"/>
                <a:ea typeface="Calibri" pitchFamily="34" charset="-122"/>
                <a:cs typeface="Calibri" pitchFamily="34" charset="-120"/>
              </a:rPr>
              <a:t>A real provider integration behind the interface the mock already implements</a:t>
            </a:r>
            <a:endParaRPr lang="en-US" sz="1150" dirty="0"/>
          </a:p>
        </p:txBody>
      </p:sp>
      <p:sp>
        <p:nvSpPr>
          <p:cNvPr id="25" name="Shape 23"/>
          <p:cNvSpPr/>
          <p:nvPr/>
        </p:nvSpPr>
        <p:spPr>
          <a:xfrm>
            <a:off x="6675120" y="3584448"/>
            <a:ext cx="256032" cy="256032"/>
          </a:xfrm>
          <a:prstGeom prst="ellipse">
            <a:avLst/>
          </a:prstGeom>
          <a:solidFill>
            <a:srgbClr val="1B6B52"/>
          </a:solidFill>
          <a:ln w="12700">
            <a:solidFill>
              <a:srgbClr val="1B6B52"/>
            </a:solidFill>
            <a:prstDash val="solid"/>
          </a:ln>
        </p:spPr>
      </p:sp>
      <p:sp>
        <p:nvSpPr>
          <p:cNvPr id="26" name="Text 24"/>
          <p:cNvSpPr/>
          <p:nvPr/>
        </p:nvSpPr>
        <p:spPr>
          <a:xfrm>
            <a:off x="6675120" y="358444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7059168" y="3547872"/>
            <a:ext cx="4297680" cy="502920"/>
          </a:xfrm>
          <a:prstGeom prst="rect">
            <a:avLst/>
          </a:prstGeom>
          <a:noFill/>
          <a:ln/>
        </p:spPr>
        <p:txBody>
          <a:bodyPr wrap="square" lIns="0" tIns="0" rIns="0" bIns="0" rtlCol="0" anchor="ctr"/>
          <a:lstStyle/>
          <a:p>
            <a:pPr indent="0" marL="0">
              <a:lnSpc>
                <a:spcPts val="1500"/>
              </a:lnSpc>
              <a:buNone/>
            </a:pPr>
            <a:r>
              <a:rPr lang="en-US" sz="1150" dirty="0">
                <a:solidFill>
                  <a:srgbClr val="C6CFDC"/>
                </a:solidFill>
                <a:latin typeface="Calibri" pitchFamily="34" charset="0"/>
                <a:ea typeface="Calibri" pitchFamily="34" charset="-122"/>
                <a:cs typeface="Calibri" pitchFamily="34" charset="-120"/>
              </a:rPr>
              <a:t>A rules screen, so a correction becomes a rule the user can see and edit</a:t>
            </a:r>
            <a:endParaRPr lang="en-US" sz="1150" dirty="0"/>
          </a:p>
        </p:txBody>
      </p:sp>
      <p:sp>
        <p:nvSpPr>
          <p:cNvPr id="28" name="Shape 26"/>
          <p:cNvSpPr/>
          <p:nvPr/>
        </p:nvSpPr>
        <p:spPr>
          <a:xfrm>
            <a:off x="658368" y="4526280"/>
            <a:ext cx="5349240" cy="914400"/>
          </a:xfrm>
          <a:prstGeom prst="roundRect">
            <a:avLst>
              <a:gd name="adj" fmla="val 9000"/>
            </a:avLst>
          </a:prstGeom>
          <a:solidFill>
            <a:srgbClr val="1A2230"/>
          </a:solidFill>
          <a:ln w="9525">
            <a:solidFill>
              <a:srgbClr val="2E3A4B"/>
            </a:solidFill>
            <a:prstDash val="solid"/>
          </a:ln>
        </p:spPr>
      </p:sp>
      <p:sp>
        <p:nvSpPr>
          <p:cNvPr id="29" name="Text 27"/>
          <p:cNvSpPr/>
          <p:nvPr/>
        </p:nvSpPr>
        <p:spPr>
          <a:xfrm>
            <a:off x="1005840" y="4736592"/>
            <a:ext cx="4663440" cy="320040"/>
          </a:xfrm>
          <a:prstGeom prst="rect">
            <a:avLst/>
          </a:prstGeom>
          <a:noFill/>
          <a:ln/>
        </p:spPr>
        <p:txBody>
          <a:bodyPr wrap="square" lIns="0" tIns="0" rIns="0" bIns="0" rtlCol="0" anchor="ctr"/>
          <a:lstStyle/>
          <a:p>
            <a:pPr indent="0" marL="0">
              <a:buNone/>
            </a:pPr>
            <a:r>
              <a:rPr lang="en-US" sz="1500" b="1" dirty="0">
                <a:solidFill>
                  <a:srgbClr val="C8791B"/>
                </a:solidFill>
                <a:latin typeface="Calibri" pitchFamily="34" charset="0"/>
                <a:ea typeface="Calibri" pitchFamily="34" charset="-122"/>
                <a:cs typeface="Calibri" pitchFamily="34" charset="-120"/>
              </a:rPr>
              <a:t>gridpilot-ai-fb150.web.app</a:t>
            </a:r>
            <a:endParaRPr lang="en-US" sz="1500" dirty="0"/>
          </a:p>
        </p:txBody>
      </p:sp>
      <p:sp>
        <p:nvSpPr>
          <p:cNvPr id="30" name="Text 28"/>
          <p:cNvSpPr/>
          <p:nvPr/>
        </p:nvSpPr>
        <p:spPr>
          <a:xfrm>
            <a:off x="1005840" y="5056632"/>
            <a:ext cx="4663440" cy="274320"/>
          </a:xfrm>
          <a:prstGeom prst="rect">
            <a:avLst/>
          </a:prstGeom>
          <a:noFill/>
          <a:ln/>
        </p:spPr>
        <p:txBody>
          <a:bodyPr wrap="square" lIns="0" tIns="0" rIns="0" bIns="0" rtlCol="0" anchor="ctr"/>
          <a:lstStyle/>
          <a:p>
            <a:pPr indent="0" marL="0">
              <a:buNone/>
            </a:pPr>
            <a:r>
              <a:rPr lang="en-US" sz="1100" dirty="0">
                <a:solidFill>
                  <a:srgbClr val="9AA6B8"/>
                </a:solidFill>
                <a:latin typeface="Calibri" pitchFamily="34" charset="0"/>
                <a:ea typeface="Calibri" pitchFamily="34" charset="-122"/>
                <a:cs typeface="Calibri" pitchFamily="34" charset="-120"/>
              </a:rPr>
              <a:t>Pick a role in the sidebar and ask it something</a:t>
            </a:r>
            <a:endParaRPr lang="en-US" sz="1100" dirty="0"/>
          </a:p>
        </p:txBody>
      </p:sp>
      <p:sp>
        <p:nvSpPr>
          <p:cNvPr id="31" name="Shape 29"/>
          <p:cNvSpPr/>
          <p:nvPr/>
        </p:nvSpPr>
        <p:spPr>
          <a:xfrm>
            <a:off x="6327648" y="4526280"/>
            <a:ext cx="5349240" cy="914400"/>
          </a:xfrm>
          <a:prstGeom prst="roundRect">
            <a:avLst>
              <a:gd name="adj" fmla="val 9000"/>
            </a:avLst>
          </a:prstGeom>
          <a:solidFill>
            <a:srgbClr val="1A2230"/>
          </a:solidFill>
          <a:ln w="9525">
            <a:solidFill>
              <a:srgbClr val="2E3A4B"/>
            </a:solidFill>
            <a:prstDash val="solid"/>
          </a:ln>
        </p:spPr>
      </p:sp>
      <p:sp>
        <p:nvSpPr>
          <p:cNvPr id="32" name="Text 30"/>
          <p:cNvSpPr/>
          <p:nvPr/>
        </p:nvSpPr>
        <p:spPr>
          <a:xfrm>
            <a:off x="6675120" y="4736592"/>
            <a:ext cx="4663440" cy="320040"/>
          </a:xfrm>
          <a:prstGeom prst="rect">
            <a:avLst/>
          </a:prstGeom>
          <a:noFill/>
          <a:ln/>
        </p:spPr>
        <p:txBody>
          <a:bodyPr wrap="square" lIns="0" tIns="0" rIns="0" bIns="0" rtlCol="0" anchor="ctr"/>
          <a:lstStyle/>
          <a:p>
            <a:pPr indent="0" marL="0">
              <a:buNone/>
            </a:pPr>
            <a:r>
              <a:rPr lang="en-US" sz="1350" b="1" dirty="0">
                <a:solidFill>
                  <a:srgbClr val="5FBF9B"/>
                </a:solidFill>
                <a:latin typeface="Calibri" pitchFamily="34" charset="0"/>
                <a:ea typeface="Calibri" pitchFamily="34" charset="-122"/>
                <a:cs typeface="Calibri" pitchFamily="34" charset="-120"/>
              </a:rPr>
              <a:t>meridian-792468836580.us-central1.run.app</a:t>
            </a:r>
            <a:endParaRPr lang="en-US" sz="1350" dirty="0"/>
          </a:p>
        </p:txBody>
      </p:sp>
      <p:sp>
        <p:nvSpPr>
          <p:cNvPr id="33" name="Text 31"/>
          <p:cNvSpPr/>
          <p:nvPr/>
        </p:nvSpPr>
        <p:spPr>
          <a:xfrm>
            <a:off x="6675120" y="5056632"/>
            <a:ext cx="4663440" cy="274320"/>
          </a:xfrm>
          <a:prstGeom prst="rect">
            <a:avLst/>
          </a:prstGeom>
          <a:noFill/>
          <a:ln/>
        </p:spPr>
        <p:txBody>
          <a:bodyPr wrap="square" lIns="0" tIns="0" rIns="0" bIns="0" rtlCol="0" anchor="ctr"/>
          <a:lstStyle/>
          <a:p>
            <a:pPr indent="0" marL="0">
              <a:buNone/>
            </a:pPr>
            <a:r>
              <a:rPr lang="en-US" sz="1100" dirty="0">
                <a:solidFill>
                  <a:srgbClr val="9AA6B8"/>
                </a:solidFill>
                <a:latin typeface="Calibri" pitchFamily="34" charset="0"/>
                <a:ea typeface="Calibri" pitchFamily="34" charset="-122"/>
                <a:cs typeface="Calibri" pitchFamily="34" charset="-120"/>
              </a:rPr>
              <a:t>Sign in with one click and open Reconciliation</a:t>
            </a:r>
            <a:endParaRPr lang="en-US" sz="1100" dirty="0"/>
          </a:p>
        </p:txBody>
      </p:sp>
      <p:sp>
        <p:nvSpPr>
          <p:cNvPr id="34" name="Text 32"/>
          <p:cNvSpPr/>
          <p:nvPr/>
        </p:nvSpPr>
        <p:spPr>
          <a:xfrm>
            <a:off x="658368" y="5806440"/>
            <a:ext cx="10874959" cy="365760"/>
          </a:xfrm>
          <a:prstGeom prst="rect">
            <a:avLst/>
          </a:prstGeom>
          <a:noFill/>
          <a:ln/>
        </p:spPr>
        <p:txBody>
          <a:bodyPr wrap="square" lIns="0" tIns="0" rIns="0" bIns="0" rtlCol="0" anchor="ctr"/>
          <a:lstStyle/>
          <a:p>
            <a:pPr algn="ctr" indent="0" marL="0">
              <a:buNone/>
            </a:pPr>
            <a:r>
              <a:rPr lang="en-US" sz="1300" i="1" dirty="0">
                <a:solidFill>
                  <a:srgbClr val="9AA6B8"/>
                </a:solidFill>
                <a:latin typeface="Calibri" pitchFamily="34" charset="0"/>
                <a:ea typeface="Calibri" pitchFamily="34" charset="-122"/>
                <a:cs typeface="Calibri" pitchFamily="34" charset="-120"/>
              </a:rPr>
              <a:t>Two problems framed, two applications built, tested, deployed, shown to users, and changed because of what they said.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GridPilot AI and Meridian Financial</dc:title>
  <dc:subject>PptxGenJS Presentation</dc:subject>
  <dc:creator>AIML-515 Capstone</dc:creator>
  <cp:lastModifiedBy>AIML-515 Capstone</cp:lastModifiedBy>
  <cp:revision>1</cp:revision>
  <dcterms:created xsi:type="dcterms:W3CDTF">2026-08-17T03:10:11Z</dcterms:created>
  <dcterms:modified xsi:type="dcterms:W3CDTF">2026-08-17T03:10:11Z</dcterms:modified>
</cp:coreProperties>
</file>